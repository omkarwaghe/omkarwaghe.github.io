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92"/>
  </p:notesMasterIdLst>
  <p:sldIdLst>
    <p:sldId id="256" r:id="rId5"/>
    <p:sldId id="686" r:id="rId6"/>
    <p:sldId id="694" r:id="rId7"/>
    <p:sldId id="593" r:id="rId8"/>
    <p:sldId id="696" r:id="rId9"/>
    <p:sldId id="697" r:id="rId10"/>
    <p:sldId id="695" r:id="rId11"/>
    <p:sldId id="594" r:id="rId12"/>
    <p:sldId id="595" r:id="rId13"/>
    <p:sldId id="596" r:id="rId14"/>
    <p:sldId id="597" r:id="rId15"/>
    <p:sldId id="598" r:id="rId16"/>
    <p:sldId id="599" r:id="rId17"/>
    <p:sldId id="687" r:id="rId18"/>
    <p:sldId id="601" r:id="rId19"/>
    <p:sldId id="603" r:id="rId20"/>
    <p:sldId id="604" r:id="rId21"/>
    <p:sldId id="605" r:id="rId22"/>
    <p:sldId id="606" r:id="rId23"/>
    <p:sldId id="607" r:id="rId24"/>
    <p:sldId id="699" r:id="rId25"/>
    <p:sldId id="608" r:id="rId26"/>
    <p:sldId id="609" r:id="rId27"/>
    <p:sldId id="708" r:id="rId28"/>
    <p:sldId id="610" r:id="rId29"/>
    <p:sldId id="611" r:id="rId30"/>
    <p:sldId id="612" r:id="rId31"/>
    <p:sldId id="613" r:id="rId32"/>
    <p:sldId id="614" r:id="rId33"/>
    <p:sldId id="615" r:id="rId34"/>
    <p:sldId id="617" r:id="rId35"/>
    <p:sldId id="618" r:id="rId36"/>
    <p:sldId id="619" r:id="rId37"/>
    <p:sldId id="620" r:id="rId38"/>
    <p:sldId id="688" r:id="rId39"/>
    <p:sldId id="622" r:id="rId40"/>
    <p:sldId id="623" r:id="rId41"/>
    <p:sldId id="624" r:id="rId42"/>
    <p:sldId id="625" r:id="rId43"/>
    <p:sldId id="626" r:id="rId44"/>
    <p:sldId id="627" r:id="rId45"/>
    <p:sldId id="628" r:id="rId46"/>
    <p:sldId id="689" r:id="rId47"/>
    <p:sldId id="630" r:id="rId48"/>
    <p:sldId id="631" r:id="rId49"/>
    <p:sldId id="632" r:id="rId50"/>
    <p:sldId id="633" r:id="rId51"/>
    <p:sldId id="634" r:id="rId52"/>
    <p:sldId id="635" r:id="rId53"/>
    <p:sldId id="636" r:id="rId54"/>
    <p:sldId id="700" r:id="rId55"/>
    <p:sldId id="704" r:id="rId56"/>
    <p:sldId id="637" r:id="rId57"/>
    <p:sldId id="638" r:id="rId58"/>
    <p:sldId id="639" r:id="rId59"/>
    <p:sldId id="641" r:id="rId60"/>
    <p:sldId id="642" r:id="rId61"/>
    <p:sldId id="643" r:id="rId62"/>
    <p:sldId id="690" r:id="rId63"/>
    <p:sldId id="646" r:id="rId64"/>
    <p:sldId id="647" r:id="rId65"/>
    <p:sldId id="648" r:id="rId66"/>
    <p:sldId id="654" r:id="rId67"/>
    <p:sldId id="655" r:id="rId68"/>
    <p:sldId id="656" r:id="rId69"/>
    <p:sldId id="701" r:id="rId70"/>
    <p:sldId id="702" r:id="rId71"/>
    <p:sldId id="703" r:id="rId72"/>
    <p:sldId id="662" r:id="rId73"/>
    <p:sldId id="663" r:id="rId74"/>
    <p:sldId id="664" r:id="rId75"/>
    <p:sldId id="665" r:id="rId76"/>
    <p:sldId id="691" r:id="rId77"/>
    <p:sldId id="667" r:id="rId78"/>
    <p:sldId id="668" r:id="rId79"/>
    <p:sldId id="669" r:id="rId80"/>
    <p:sldId id="670" r:id="rId81"/>
    <p:sldId id="692" r:id="rId82"/>
    <p:sldId id="672" r:id="rId83"/>
    <p:sldId id="673" r:id="rId84"/>
    <p:sldId id="674" r:id="rId85"/>
    <p:sldId id="675" r:id="rId86"/>
    <p:sldId id="676" r:id="rId87"/>
    <p:sldId id="677" r:id="rId88"/>
    <p:sldId id="698" r:id="rId89"/>
    <p:sldId id="705" r:id="rId90"/>
    <p:sldId id="707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nugopal reddy" initials="vr" lastIdx="1" clrIdx="0">
    <p:extLst>
      <p:ext uri="{19B8F6BF-5375-455C-9EA6-DF929625EA0E}">
        <p15:presenceInfo xmlns:p15="http://schemas.microsoft.com/office/powerpoint/2012/main" userId="7956d5a59a9c1ca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commentAuthors" Target="commentAuthors.xml"/><Relationship Id="rId9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tha kasi Viswanadh" userId="65574f05-85aa-48e7-acdf-150602ae9972" providerId="ADAL" clId="{178648FC-CF5A-498A-B9B7-D6BFE051EBE4}"/>
    <pc:docChg chg="delSld modSld">
      <pc:chgData name="Kotha kasi Viswanadh" userId="65574f05-85aa-48e7-acdf-150602ae9972" providerId="ADAL" clId="{178648FC-CF5A-498A-B9B7-D6BFE051EBE4}" dt="2023-05-04T15:13:21.255" v="184" actId="1035"/>
      <pc:docMkLst>
        <pc:docMk/>
      </pc:docMkLst>
      <pc:sldChg chg="modSp mod">
        <pc:chgData name="Kotha kasi Viswanadh" userId="65574f05-85aa-48e7-acdf-150602ae9972" providerId="ADAL" clId="{178648FC-CF5A-498A-B9B7-D6BFE051EBE4}" dt="2023-04-29T06:29:22.479" v="181" actId="20577"/>
        <pc:sldMkLst>
          <pc:docMk/>
          <pc:sldMk cId="2799860090" sldId="256"/>
        </pc:sldMkLst>
        <pc:spChg chg="mod">
          <ac:chgData name="Kotha kasi Viswanadh" userId="65574f05-85aa-48e7-acdf-150602ae9972" providerId="ADAL" clId="{178648FC-CF5A-498A-B9B7-D6BFE051EBE4}" dt="2023-04-29T06:29:22.479" v="181" actId="20577"/>
          <ac:spMkLst>
            <pc:docMk/>
            <pc:sldMk cId="2799860090" sldId="256"/>
            <ac:spMk id="3" creationId="{30792F1B-CF0F-4904-9E04-7512AF07426E}"/>
          </ac:spMkLst>
        </pc:spChg>
      </pc:sldChg>
      <pc:sldChg chg="modSp mod">
        <pc:chgData name="Kotha kasi Viswanadh" userId="65574f05-85aa-48e7-acdf-150602ae9972" providerId="ADAL" clId="{178648FC-CF5A-498A-B9B7-D6BFE051EBE4}" dt="2023-05-04T15:13:21.255" v="184" actId="1035"/>
        <pc:sldMkLst>
          <pc:docMk/>
          <pc:sldMk cId="1536053498" sldId="677"/>
        </pc:sldMkLst>
        <pc:picChg chg="mod">
          <ac:chgData name="Kotha kasi Viswanadh" userId="65574f05-85aa-48e7-acdf-150602ae9972" providerId="ADAL" clId="{178648FC-CF5A-498A-B9B7-D6BFE051EBE4}" dt="2023-05-04T15:13:21.255" v="184" actId="1035"/>
          <ac:picMkLst>
            <pc:docMk/>
            <pc:sldMk cId="1536053498" sldId="677"/>
            <ac:picMk id="26626" creationId="{00000000-0000-0000-0000-000000000000}"/>
          </ac:picMkLst>
        </pc:picChg>
      </pc:sldChg>
      <pc:sldChg chg="del">
        <pc:chgData name="Kotha kasi Viswanadh" userId="65574f05-85aa-48e7-acdf-150602ae9972" providerId="ADAL" clId="{178648FC-CF5A-498A-B9B7-D6BFE051EBE4}" dt="2023-04-26T12:32:05.544" v="156" actId="2696"/>
        <pc:sldMkLst>
          <pc:docMk/>
          <pc:sldMk cId="941038915" sldId="678"/>
        </pc:sldMkLst>
      </pc:sldChg>
      <pc:sldChg chg="del">
        <pc:chgData name="Kotha kasi Viswanadh" userId="65574f05-85aa-48e7-acdf-150602ae9972" providerId="ADAL" clId="{178648FC-CF5A-498A-B9B7-D6BFE051EBE4}" dt="2023-04-26T12:32:09.146" v="157" actId="2696"/>
        <pc:sldMkLst>
          <pc:docMk/>
          <pc:sldMk cId="409414160" sldId="679"/>
        </pc:sldMkLst>
      </pc:sldChg>
      <pc:sldChg chg="modSp mod">
        <pc:chgData name="Kotha kasi Viswanadh" userId="65574f05-85aa-48e7-acdf-150602ae9972" providerId="ADAL" clId="{178648FC-CF5A-498A-B9B7-D6BFE051EBE4}" dt="2023-04-26T12:18:05.383" v="155" actId="20577"/>
        <pc:sldMkLst>
          <pc:docMk/>
          <pc:sldMk cId="3626972018" sldId="696"/>
        </pc:sldMkLst>
        <pc:spChg chg="mod">
          <ac:chgData name="Kotha kasi Viswanadh" userId="65574f05-85aa-48e7-acdf-150602ae9972" providerId="ADAL" clId="{178648FC-CF5A-498A-B9B7-D6BFE051EBE4}" dt="2023-04-26T12:18:05.383" v="155" actId="20577"/>
          <ac:spMkLst>
            <pc:docMk/>
            <pc:sldMk cId="3626972018" sldId="696"/>
            <ac:spMk id="3" creationId="{00000000-0000-0000-0000-000000000000}"/>
          </ac:spMkLst>
        </pc:spChg>
      </pc:sldChg>
    </pc:docChg>
  </pc:docChgLst>
  <pc:docChgLst>
    <pc:chgData name="Karan Sarode" userId="S::karans11@birlasoft.com::c9a89996-8813-4d1d-9098-5dac893410f6" providerId="AD" clId="Web-{1CEDE8C9-9127-D19B-443A-87A62C76BB2D}"/>
    <pc:docChg chg="mod modSld">
      <pc:chgData name="Karan Sarode" userId="S::karans11@birlasoft.com::c9a89996-8813-4d1d-9098-5dac893410f6" providerId="AD" clId="Web-{1CEDE8C9-9127-D19B-443A-87A62C76BB2D}" dt="2022-11-23T11:43:08.270" v="2" actId="1076"/>
      <pc:docMkLst>
        <pc:docMk/>
      </pc:docMkLst>
      <pc:sldChg chg="modSp">
        <pc:chgData name="Karan Sarode" userId="S::karans11@birlasoft.com::c9a89996-8813-4d1d-9098-5dac893410f6" providerId="AD" clId="Web-{1CEDE8C9-9127-D19B-443A-87A62C76BB2D}" dt="2022-11-23T11:43:08.270" v="2" actId="1076"/>
        <pc:sldMkLst>
          <pc:docMk/>
          <pc:sldMk cId="1930560029" sldId="695"/>
        </pc:sldMkLst>
        <pc:picChg chg="mod">
          <ac:chgData name="Karan Sarode" userId="S::karans11@birlasoft.com::c9a89996-8813-4d1d-9098-5dac893410f6" providerId="AD" clId="Web-{1CEDE8C9-9127-D19B-443A-87A62C76BB2D}" dt="2022-11-23T11:43:08.270" v="2" actId="1076"/>
          <ac:picMkLst>
            <pc:docMk/>
            <pc:sldMk cId="1930560029" sldId="695"/>
            <ac:picMk id="1026" creationId="{00000000-0000-0000-0000-0000000000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23FBB4-F1C7-4225-BCA3-DE4AEE4E732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E2ABC7-6A43-4623-9539-BE3E0477B600}">
      <dgm:prSet/>
      <dgm:spPr/>
      <dgm:t>
        <a:bodyPr/>
        <a:lstStyle/>
        <a:p>
          <a:r>
            <a:rPr lang="en-US"/>
            <a:t>Introduction </a:t>
          </a:r>
        </a:p>
      </dgm:t>
    </dgm:pt>
    <dgm:pt modelId="{C5E87E84-5ED9-46BB-84E4-D18C084D70A0}" type="parTrans" cxnId="{D001AB81-2DA0-4A20-BA10-CD50C6AF1491}">
      <dgm:prSet/>
      <dgm:spPr/>
      <dgm:t>
        <a:bodyPr/>
        <a:lstStyle/>
        <a:p>
          <a:endParaRPr lang="en-US"/>
        </a:p>
      </dgm:t>
    </dgm:pt>
    <dgm:pt modelId="{4386BA22-8B3B-4006-B0A0-E83088D9C517}" type="sibTrans" cxnId="{D001AB81-2DA0-4A20-BA10-CD50C6AF1491}">
      <dgm:prSet/>
      <dgm:spPr/>
      <dgm:t>
        <a:bodyPr/>
        <a:lstStyle/>
        <a:p>
          <a:endParaRPr lang="en-US"/>
        </a:p>
      </dgm:t>
    </dgm:pt>
    <dgm:pt modelId="{22AC0738-35CF-4A85-BD6C-9F45013EA09B}">
      <dgm:prSet/>
      <dgm:spPr/>
      <dgm:t>
        <a:bodyPr/>
        <a:lstStyle/>
        <a:p>
          <a:r>
            <a:rPr lang="en-US"/>
            <a:t>Process Flow </a:t>
          </a:r>
        </a:p>
      </dgm:t>
    </dgm:pt>
    <dgm:pt modelId="{EF66ADCC-D7AD-4718-B877-40EFC505E89D}" type="parTrans" cxnId="{4328B850-A97A-42C2-B75D-B4FF94D62F5D}">
      <dgm:prSet/>
      <dgm:spPr/>
      <dgm:t>
        <a:bodyPr/>
        <a:lstStyle/>
        <a:p>
          <a:endParaRPr lang="en-US"/>
        </a:p>
      </dgm:t>
    </dgm:pt>
    <dgm:pt modelId="{21F7784D-D0F5-44FE-84A5-51959D5309C5}" type="sibTrans" cxnId="{4328B850-A97A-42C2-B75D-B4FF94D62F5D}">
      <dgm:prSet/>
      <dgm:spPr/>
      <dgm:t>
        <a:bodyPr/>
        <a:lstStyle/>
        <a:p>
          <a:endParaRPr lang="en-US"/>
        </a:p>
      </dgm:t>
    </dgm:pt>
    <dgm:pt modelId="{F25CA8E1-AB05-48D5-A46D-CABBBB17DBDD}">
      <dgm:prSet/>
      <dgm:spPr/>
      <dgm:t>
        <a:bodyPr/>
        <a:lstStyle/>
        <a:p>
          <a:r>
            <a:rPr lang="en-US"/>
            <a:t>Data Values</a:t>
          </a:r>
        </a:p>
      </dgm:t>
    </dgm:pt>
    <dgm:pt modelId="{DF4F3673-8E2C-4FBA-BF4B-BBC7C5F039D3}" type="parTrans" cxnId="{B2247EE6-742C-4FF7-918D-1246B540DEA2}">
      <dgm:prSet/>
      <dgm:spPr/>
      <dgm:t>
        <a:bodyPr/>
        <a:lstStyle/>
        <a:p>
          <a:endParaRPr lang="en-US"/>
        </a:p>
      </dgm:t>
    </dgm:pt>
    <dgm:pt modelId="{A4C622C5-DBDC-4B07-A581-1F299998B895}" type="sibTrans" cxnId="{B2247EE6-742C-4FF7-918D-1246B540DEA2}">
      <dgm:prSet/>
      <dgm:spPr/>
      <dgm:t>
        <a:bodyPr/>
        <a:lstStyle/>
        <a:p>
          <a:endParaRPr lang="en-US"/>
        </a:p>
      </dgm:t>
    </dgm:pt>
    <dgm:pt modelId="{B1E243ED-F08C-45AD-8B49-7B89DAA90E9A}">
      <dgm:prSet/>
      <dgm:spPr/>
      <dgm:t>
        <a:bodyPr/>
        <a:lstStyle/>
        <a:p>
          <a:r>
            <a:rPr lang="en-US"/>
            <a:t>Keys</a:t>
          </a:r>
        </a:p>
      </dgm:t>
    </dgm:pt>
    <dgm:pt modelId="{6A1859CE-164C-446F-901A-555361CED69C}" type="parTrans" cxnId="{166AED1B-D957-4DBA-80C1-EE37D6F29962}">
      <dgm:prSet/>
      <dgm:spPr/>
      <dgm:t>
        <a:bodyPr/>
        <a:lstStyle/>
        <a:p>
          <a:endParaRPr lang="en-US"/>
        </a:p>
      </dgm:t>
    </dgm:pt>
    <dgm:pt modelId="{45274491-CF09-4F31-BF23-FAE2DCB36086}" type="sibTrans" cxnId="{166AED1B-D957-4DBA-80C1-EE37D6F29962}">
      <dgm:prSet/>
      <dgm:spPr/>
      <dgm:t>
        <a:bodyPr/>
        <a:lstStyle/>
        <a:p>
          <a:endParaRPr lang="en-US"/>
        </a:p>
      </dgm:t>
    </dgm:pt>
    <dgm:pt modelId="{97F13CCA-551C-4FEE-B03C-63A2233AD403}">
      <dgm:prSet/>
      <dgm:spPr/>
      <dgm:t>
        <a:bodyPr/>
        <a:lstStyle/>
        <a:p>
          <a:r>
            <a:rPr lang="en-US"/>
            <a:t>Advanced Data Loading</a:t>
          </a:r>
        </a:p>
      </dgm:t>
    </dgm:pt>
    <dgm:pt modelId="{D5B114B9-E56C-4B89-BE35-32DAD4CEF6B3}" type="parTrans" cxnId="{C3C6BA3C-3494-4B82-8D9C-7F5DF9CF293D}">
      <dgm:prSet/>
      <dgm:spPr/>
      <dgm:t>
        <a:bodyPr/>
        <a:lstStyle/>
        <a:p>
          <a:endParaRPr lang="en-US"/>
        </a:p>
      </dgm:t>
    </dgm:pt>
    <dgm:pt modelId="{240E48C9-FA55-43F8-B1E1-D89555B2DD65}" type="sibTrans" cxnId="{C3C6BA3C-3494-4B82-8D9C-7F5DF9CF293D}">
      <dgm:prSet/>
      <dgm:spPr/>
      <dgm:t>
        <a:bodyPr/>
        <a:lstStyle/>
        <a:p>
          <a:endParaRPr lang="en-US"/>
        </a:p>
      </dgm:t>
    </dgm:pt>
    <dgm:pt modelId="{DD5E6D49-20B2-47C2-988C-ED27D6A2F40A}">
      <dgm:prSet/>
      <dgm:spPr/>
      <dgm:t>
        <a:bodyPr/>
        <a:lstStyle/>
        <a:p>
          <a:r>
            <a:rPr lang="en-US"/>
            <a:t>Date Effective Business Objects</a:t>
          </a:r>
        </a:p>
      </dgm:t>
    </dgm:pt>
    <dgm:pt modelId="{8C4F519E-40B8-4CEF-ACAB-AF25FF7586DD}" type="parTrans" cxnId="{609A9690-B0E6-4728-A3F0-6ABAFE8CB645}">
      <dgm:prSet/>
      <dgm:spPr/>
      <dgm:t>
        <a:bodyPr/>
        <a:lstStyle/>
        <a:p>
          <a:endParaRPr lang="en-US"/>
        </a:p>
      </dgm:t>
    </dgm:pt>
    <dgm:pt modelId="{F7AFA942-9700-4F94-9ACA-138ACECE7D9A}" type="sibTrans" cxnId="{609A9690-B0E6-4728-A3F0-6ABAFE8CB645}">
      <dgm:prSet/>
      <dgm:spPr/>
      <dgm:t>
        <a:bodyPr/>
        <a:lstStyle/>
        <a:p>
          <a:endParaRPr lang="en-US"/>
        </a:p>
      </dgm:t>
    </dgm:pt>
    <dgm:pt modelId="{5834C152-9392-4F26-92A9-7B47DADA0FAF}">
      <dgm:prSet/>
      <dgm:spPr/>
      <dgm:t>
        <a:bodyPr/>
        <a:lstStyle/>
        <a:p>
          <a:r>
            <a:rPr lang="en-US" dirty="0"/>
            <a:t>Error Management</a:t>
          </a:r>
        </a:p>
      </dgm:t>
    </dgm:pt>
    <dgm:pt modelId="{5AB20A67-6C34-4BBF-A4E6-065DE164AAE8}" type="parTrans" cxnId="{C6C75C12-C932-4D63-A2D8-E9B524763565}">
      <dgm:prSet/>
      <dgm:spPr/>
      <dgm:t>
        <a:bodyPr/>
        <a:lstStyle/>
        <a:p>
          <a:endParaRPr lang="en-US"/>
        </a:p>
      </dgm:t>
    </dgm:pt>
    <dgm:pt modelId="{AAE21318-37AA-481E-B492-90023E0A25CC}" type="sibTrans" cxnId="{C6C75C12-C932-4D63-A2D8-E9B524763565}">
      <dgm:prSet/>
      <dgm:spPr/>
      <dgm:t>
        <a:bodyPr/>
        <a:lstStyle/>
        <a:p>
          <a:endParaRPr lang="en-US"/>
        </a:p>
      </dgm:t>
    </dgm:pt>
    <dgm:pt modelId="{526BC441-CEAA-498B-9E46-22E8DDB84F3F}">
      <dgm:prSet/>
      <dgm:spPr/>
      <dgm:t>
        <a:bodyPr/>
        <a:lstStyle/>
        <a:p>
          <a:r>
            <a:rPr lang="en-US" dirty="0"/>
            <a:t>Assignment Exercise</a:t>
          </a:r>
        </a:p>
      </dgm:t>
    </dgm:pt>
    <dgm:pt modelId="{B7E7BB50-F254-4DEF-AB96-F3D6C846839E}" type="parTrans" cxnId="{D5C98E20-FEE5-4EFC-900C-D8ED1D4EB6D0}">
      <dgm:prSet/>
      <dgm:spPr/>
      <dgm:t>
        <a:bodyPr/>
        <a:lstStyle/>
        <a:p>
          <a:endParaRPr lang="en-IN"/>
        </a:p>
      </dgm:t>
    </dgm:pt>
    <dgm:pt modelId="{D633A6F0-CDB7-4F33-A494-C8F11A5AB7BE}" type="sibTrans" cxnId="{D5C98E20-FEE5-4EFC-900C-D8ED1D4EB6D0}">
      <dgm:prSet/>
      <dgm:spPr/>
      <dgm:t>
        <a:bodyPr/>
        <a:lstStyle/>
        <a:p>
          <a:endParaRPr lang="en-IN"/>
        </a:p>
      </dgm:t>
    </dgm:pt>
    <dgm:pt modelId="{793B7694-7117-4728-B381-30E5855E0DCA}" type="pres">
      <dgm:prSet presAssocID="{0E23FBB4-F1C7-4225-BCA3-DE4AEE4E732E}" presName="linear" presStyleCnt="0">
        <dgm:presLayoutVars>
          <dgm:animLvl val="lvl"/>
          <dgm:resizeHandles val="exact"/>
        </dgm:presLayoutVars>
      </dgm:prSet>
      <dgm:spPr/>
    </dgm:pt>
    <dgm:pt modelId="{F5646D6F-6DBF-4C02-A106-547373D7E58E}" type="pres">
      <dgm:prSet presAssocID="{EDE2ABC7-6A43-4623-9539-BE3E0477B600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76BE39B-04DC-4359-9A65-89AF4951C793}" type="pres">
      <dgm:prSet presAssocID="{4386BA22-8B3B-4006-B0A0-E83088D9C517}" presName="spacer" presStyleCnt="0"/>
      <dgm:spPr/>
    </dgm:pt>
    <dgm:pt modelId="{1E75344A-A9C0-4A61-AC40-A8A32DC136C5}" type="pres">
      <dgm:prSet presAssocID="{22AC0738-35CF-4A85-BD6C-9F45013EA09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AB3F07D-EC7B-47C4-B0A6-AC33F647A722}" type="pres">
      <dgm:prSet presAssocID="{21F7784D-D0F5-44FE-84A5-51959D5309C5}" presName="spacer" presStyleCnt="0"/>
      <dgm:spPr/>
    </dgm:pt>
    <dgm:pt modelId="{21615722-E920-4F12-B4E3-8F96F3C8B0D2}" type="pres">
      <dgm:prSet presAssocID="{F25CA8E1-AB05-48D5-A46D-CABBBB17DBDD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2729EEC-F7BE-46F7-A94D-4506001130EE}" type="pres">
      <dgm:prSet presAssocID="{A4C622C5-DBDC-4B07-A581-1F299998B895}" presName="spacer" presStyleCnt="0"/>
      <dgm:spPr/>
    </dgm:pt>
    <dgm:pt modelId="{64645B33-39B5-42D4-9F88-A8738E950624}" type="pres">
      <dgm:prSet presAssocID="{B1E243ED-F08C-45AD-8B49-7B89DAA90E9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B03A22B-C335-4B7E-9B30-DF0BFB835D53}" type="pres">
      <dgm:prSet presAssocID="{45274491-CF09-4F31-BF23-FAE2DCB36086}" presName="spacer" presStyleCnt="0"/>
      <dgm:spPr/>
    </dgm:pt>
    <dgm:pt modelId="{E040C303-8BAC-4C09-896C-2748021A43C5}" type="pres">
      <dgm:prSet presAssocID="{97F13CCA-551C-4FEE-B03C-63A2233AD40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4F080BC5-52FE-4499-8061-D0B65398951D}" type="pres">
      <dgm:prSet presAssocID="{240E48C9-FA55-43F8-B1E1-D89555B2DD65}" presName="spacer" presStyleCnt="0"/>
      <dgm:spPr/>
    </dgm:pt>
    <dgm:pt modelId="{772B6EC5-3CE6-44F3-BA34-DE42322C440C}" type="pres">
      <dgm:prSet presAssocID="{DD5E6D49-20B2-47C2-988C-ED27D6A2F40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9A7C58F-F728-4B43-9982-A75DC97458D8}" type="pres">
      <dgm:prSet presAssocID="{F7AFA942-9700-4F94-9ACA-138ACECE7D9A}" presName="spacer" presStyleCnt="0"/>
      <dgm:spPr/>
    </dgm:pt>
    <dgm:pt modelId="{982FF2EF-ABE1-42A3-AE4D-157621A59FD0}" type="pres">
      <dgm:prSet presAssocID="{5834C152-9392-4F26-92A9-7B47DADA0FA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A2ED796E-94CA-4DBC-A7F5-26B15DFD3595}" type="pres">
      <dgm:prSet presAssocID="{AAE21318-37AA-481E-B492-90023E0A25CC}" presName="spacer" presStyleCnt="0"/>
      <dgm:spPr/>
    </dgm:pt>
    <dgm:pt modelId="{49FBCC98-CCCB-454A-B9C2-9A11C22811EC}" type="pres">
      <dgm:prSet presAssocID="{526BC441-CEAA-498B-9E46-22E8DDB84F3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1286DA0B-77BA-4DDD-99BD-17A19A62EF19}" type="presOf" srcId="{97F13CCA-551C-4FEE-B03C-63A2233AD403}" destId="{E040C303-8BAC-4C09-896C-2748021A43C5}" srcOrd="0" destOrd="0" presId="urn:microsoft.com/office/officeart/2005/8/layout/vList2"/>
    <dgm:cxn modelId="{C6C75C12-C932-4D63-A2D8-E9B524763565}" srcId="{0E23FBB4-F1C7-4225-BCA3-DE4AEE4E732E}" destId="{5834C152-9392-4F26-92A9-7B47DADA0FAF}" srcOrd="6" destOrd="0" parTransId="{5AB20A67-6C34-4BBF-A4E6-065DE164AAE8}" sibTransId="{AAE21318-37AA-481E-B492-90023E0A25CC}"/>
    <dgm:cxn modelId="{166AED1B-D957-4DBA-80C1-EE37D6F29962}" srcId="{0E23FBB4-F1C7-4225-BCA3-DE4AEE4E732E}" destId="{B1E243ED-F08C-45AD-8B49-7B89DAA90E9A}" srcOrd="3" destOrd="0" parTransId="{6A1859CE-164C-446F-901A-555361CED69C}" sibTransId="{45274491-CF09-4F31-BF23-FAE2DCB36086}"/>
    <dgm:cxn modelId="{D5C98E20-FEE5-4EFC-900C-D8ED1D4EB6D0}" srcId="{0E23FBB4-F1C7-4225-BCA3-DE4AEE4E732E}" destId="{526BC441-CEAA-498B-9E46-22E8DDB84F3F}" srcOrd="7" destOrd="0" parTransId="{B7E7BB50-F254-4DEF-AB96-F3D6C846839E}" sibTransId="{D633A6F0-CDB7-4F33-A494-C8F11A5AB7BE}"/>
    <dgm:cxn modelId="{994AE639-0450-479B-8C7F-6A5EC1CE2583}" type="presOf" srcId="{F25CA8E1-AB05-48D5-A46D-CABBBB17DBDD}" destId="{21615722-E920-4F12-B4E3-8F96F3C8B0D2}" srcOrd="0" destOrd="0" presId="urn:microsoft.com/office/officeart/2005/8/layout/vList2"/>
    <dgm:cxn modelId="{C3C6BA3C-3494-4B82-8D9C-7F5DF9CF293D}" srcId="{0E23FBB4-F1C7-4225-BCA3-DE4AEE4E732E}" destId="{97F13CCA-551C-4FEE-B03C-63A2233AD403}" srcOrd="4" destOrd="0" parTransId="{D5B114B9-E56C-4B89-BE35-32DAD4CEF6B3}" sibTransId="{240E48C9-FA55-43F8-B1E1-D89555B2DD65}"/>
    <dgm:cxn modelId="{09444F62-1E4E-4740-9DCE-9F5BEC1BD2D0}" type="presOf" srcId="{DD5E6D49-20B2-47C2-988C-ED27D6A2F40A}" destId="{772B6EC5-3CE6-44F3-BA34-DE42322C440C}" srcOrd="0" destOrd="0" presId="urn:microsoft.com/office/officeart/2005/8/layout/vList2"/>
    <dgm:cxn modelId="{B0C4524D-FDA4-464D-A8B3-E477EF4756B5}" type="presOf" srcId="{5834C152-9392-4F26-92A9-7B47DADA0FAF}" destId="{982FF2EF-ABE1-42A3-AE4D-157621A59FD0}" srcOrd="0" destOrd="0" presId="urn:microsoft.com/office/officeart/2005/8/layout/vList2"/>
    <dgm:cxn modelId="{AE234050-5560-41B6-A77F-F3B50453C26E}" type="presOf" srcId="{22AC0738-35CF-4A85-BD6C-9F45013EA09B}" destId="{1E75344A-A9C0-4A61-AC40-A8A32DC136C5}" srcOrd="0" destOrd="0" presId="urn:microsoft.com/office/officeart/2005/8/layout/vList2"/>
    <dgm:cxn modelId="{4328B850-A97A-42C2-B75D-B4FF94D62F5D}" srcId="{0E23FBB4-F1C7-4225-BCA3-DE4AEE4E732E}" destId="{22AC0738-35CF-4A85-BD6C-9F45013EA09B}" srcOrd="1" destOrd="0" parTransId="{EF66ADCC-D7AD-4718-B877-40EFC505E89D}" sibTransId="{21F7784D-D0F5-44FE-84A5-51959D5309C5}"/>
    <dgm:cxn modelId="{0A79CC7F-3F03-4F12-BAFC-78DFD3FECF8C}" type="presOf" srcId="{526BC441-CEAA-498B-9E46-22E8DDB84F3F}" destId="{49FBCC98-CCCB-454A-B9C2-9A11C22811EC}" srcOrd="0" destOrd="0" presId="urn:microsoft.com/office/officeart/2005/8/layout/vList2"/>
    <dgm:cxn modelId="{D001AB81-2DA0-4A20-BA10-CD50C6AF1491}" srcId="{0E23FBB4-F1C7-4225-BCA3-DE4AEE4E732E}" destId="{EDE2ABC7-6A43-4623-9539-BE3E0477B600}" srcOrd="0" destOrd="0" parTransId="{C5E87E84-5ED9-46BB-84E4-D18C084D70A0}" sibTransId="{4386BA22-8B3B-4006-B0A0-E83088D9C517}"/>
    <dgm:cxn modelId="{07DBE78E-7A4D-4B09-8660-771959FB9C87}" type="presOf" srcId="{0E23FBB4-F1C7-4225-BCA3-DE4AEE4E732E}" destId="{793B7694-7117-4728-B381-30E5855E0DCA}" srcOrd="0" destOrd="0" presId="urn:microsoft.com/office/officeart/2005/8/layout/vList2"/>
    <dgm:cxn modelId="{609A9690-B0E6-4728-A3F0-6ABAFE8CB645}" srcId="{0E23FBB4-F1C7-4225-BCA3-DE4AEE4E732E}" destId="{DD5E6D49-20B2-47C2-988C-ED27D6A2F40A}" srcOrd="5" destOrd="0" parTransId="{8C4F519E-40B8-4CEF-ACAB-AF25FF7586DD}" sibTransId="{F7AFA942-9700-4F94-9ACA-138ACECE7D9A}"/>
    <dgm:cxn modelId="{7A96B7BF-C528-460A-8814-C4FEBD6A091C}" type="presOf" srcId="{B1E243ED-F08C-45AD-8B49-7B89DAA90E9A}" destId="{64645B33-39B5-42D4-9F88-A8738E950624}" srcOrd="0" destOrd="0" presId="urn:microsoft.com/office/officeart/2005/8/layout/vList2"/>
    <dgm:cxn modelId="{B391CAD5-7F0C-43F7-9E93-66A7E3D9CE7D}" type="presOf" srcId="{EDE2ABC7-6A43-4623-9539-BE3E0477B600}" destId="{F5646D6F-6DBF-4C02-A106-547373D7E58E}" srcOrd="0" destOrd="0" presId="urn:microsoft.com/office/officeart/2005/8/layout/vList2"/>
    <dgm:cxn modelId="{B2247EE6-742C-4FF7-918D-1246B540DEA2}" srcId="{0E23FBB4-F1C7-4225-BCA3-DE4AEE4E732E}" destId="{F25CA8E1-AB05-48D5-A46D-CABBBB17DBDD}" srcOrd="2" destOrd="0" parTransId="{DF4F3673-8E2C-4FBA-BF4B-BBC7C5F039D3}" sibTransId="{A4C622C5-DBDC-4B07-A581-1F299998B895}"/>
    <dgm:cxn modelId="{299D1FF0-00F2-4754-BF0B-F540CBCB1ADC}" type="presParOf" srcId="{793B7694-7117-4728-B381-30E5855E0DCA}" destId="{F5646D6F-6DBF-4C02-A106-547373D7E58E}" srcOrd="0" destOrd="0" presId="urn:microsoft.com/office/officeart/2005/8/layout/vList2"/>
    <dgm:cxn modelId="{81C7016B-9354-43AC-868D-F27E0DA4CBDD}" type="presParOf" srcId="{793B7694-7117-4728-B381-30E5855E0DCA}" destId="{C76BE39B-04DC-4359-9A65-89AF4951C793}" srcOrd="1" destOrd="0" presId="urn:microsoft.com/office/officeart/2005/8/layout/vList2"/>
    <dgm:cxn modelId="{E574BDB0-E0A8-4A04-80C9-B1CE75F413FF}" type="presParOf" srcId="{793B7694-7117-4728-B381-30E5855E0DCA}" destId="{1E75344A-A9C0-4A61-AC40-A8A32DC136C5}" srcOrd="2" destOrd="0" presId="urn:microsoft.com/office/officeart/2005/8/layout/vList2"/>
    <dgm:cxn modelId="{34E6EEEC-489D-4757-BCBE-55D91B334B71}" type="presParOf" srcId="{793B7694-7117-4728-B381-30E5855E0DCA}" destId="{EAB3F07D-EC7B-47C4-B0A6-AC33F647A722}" srcOrd="3" destOrd="0" presId="urn:microsoft.com/office/officeart/2005/8/layout/vList2"/>
    <dgm:cxn modelId="{877F4691-9989-420B-987D-03B0B5A945AA}" type="presParOf" srcId="{793B7694-7117-4728-B381-30E5855E0DCA}" destId="{21615722-E920-4F12-B4E3-8F96F3C8B0D2}" srcOrd="4" destOrd="0" presId="urn:microsoft.com/office/officeart/2005/8/layout/vList2"/>
    <dgm:cxn modelId="{F42D2950-28C6-474D-856B-1A082F9A57B0}" type="presParOf" srcId="{793B7694-7117-4728-B381-30E5855E0DCA}" destId="{82729EEC-F7BE-46F7-A94D-4506001130EE}" srcOrd="5" destOrd="0" presId="urn:microsoft.com/office/officeart/2005/8/layout/vList2"/>
    <dgm:cxn modelId="{44A8EDD4-DD26-4D4B-82E6-3B03759286ED}" type="presParOf" srcId="{793B7694-7117-4728-B381-30E5855E0DCA}" destId="{64645B33-39B5-42D4-9F88-A8738E950624}" srcOrd="6" destOrd="0" presId="urn:microsoft.com/office/officeart/2005/8/layout/vList2"/>
    <dgm:cxn modelId="{0DDB6D3C-9903-4B28-9D2C-DEF784A62222}" type="presParOf" srcId="{793B7694-7117-4728-B381-30E5855E0DCA}" destId="{4B03A22B-C335-4B7E-9B30-DF0BFB835D53}" srcOrd="7" destOrd="0" presId="urn:microsoft.com/office/officeart/2005/8/layout/vList2"/>
    <dgm:cxn modelId="{89CEC83F-E8DC-41DF-8369-12135F58D6AD}" type="presParOf" srcId="{793B7694-7117-4728-B381-30E5855E0DCA}" destId="{E040C303-8BAC-4C09-896C-2748021A43C5}" srcOrd="8" destOrd="0" presId="urn:microsoft.com/office/officeart/2005/8/layout/vList2"/>
    <dgm:cxn modelId="{FA575227-64A3-4002-B630-F77FAA560233}" type="presParOf" srcId="{793B7694-7117-4728-B381-30E5855E0DCA}" destId="{4F080BC5-52FE-4499-8061-D0B65398951D}" srcOrd="9" destOrd="0" presId="urn:microsoft.com/office/officeart/2005/8/layout/vList2"/>
    <dgm:cxn modelId="{30ED94F2-8236-4526-90DB-2F99D7B2CDBD}" type="presParOf" srcId="{793B7694-7117-4728-B381-30E5855E0DCA}" destId="{772B6EC5-3CE6-44F3-BA34-DE42322C440C}" srcOrd="10" destOrd="0" presId="urn:microsoft.com/office/officeart/2005/8/layout/vList2"/>
    <dgm:cxn modelId="{E053E9FB-8B76-49AC-8524-FF0E71C798D6}" type="presParOf" srcId="{793B7694-7117-4728-B381-30E5855E0DCA}" destId="{09A7C58F-F728-4B43-9982-A75DC97458D8}" srcOrd="11" destOrd="0" presId="urn:microsoft.com/office/officeart/2005/8/layout/vList2"/>
    <dgm:cxn modelId="{8CF43930-27BF-4956-9177-1440877D85AC}" type="presParOf" srcId="{793B7694-7117-4728-B381-30E5855E0DCA}" destId="{982FF2EF-ABE1-42A3-AE4D-157621A59FD0}" srcOrd="12" destOrd="0" presId="urn:microsoft.com/office/officeart/2005/8/layout/vList2"/>
    <dgm:cxn modelId="{1B72DECC-5EB4-4DEF-A0EE-75C8875CC0D1}" type="presParOf" srcId="{793B7694-7117-4728-B381-30E5855E0DCA}" destId="{A2ED796E-94CA-4DBC-A7F5-26B15DFD3595}" srcOrd="13" destOrd="0" presId="urn:microsoft.com/office/officeart/2005/8/layout/vList2"/>
    <dgm:cxn modelId="{711E2498-5DB0-4194-9BAC-DE198CDD56F2}" type="presParOf" srcId="{793B7694-7117-4728-B381-30E5855E0DCA}" destId="{49FBCC98-CCCB-454A-B9C2-9A11C22811EC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46D6F-6DBF-4C02-A106-547373D7E58E}">
      <dsp:nvSpPr>
        <dsp:cNvPr id="0" name=""/>
        <dsp:cNvSpPr/>
      </dsp:nvSpPr>
      <dsp:spPr>
        <a:xfrm>
          <a:off x="0" y="758297"/>
          <a:ext cx="3135313" cy="4077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Introduction </a:t>
          </a:r>
        </a:p>
      </dsp:txBody>
      <dsp:txXfrm>
        <a:off x="19904" y="778201"/>
        <a:ext cx="3095505" cy="367937"/>
      </dsp:txXfrm>
    </dsp:sp>
    <dsp:sp modelId="{1E75344A-A9C0-4A61-AC40-A8A32DC136C5}">
      <dsp:nvSpPr>
        <dsp:cNvPr id="0" name=""/>
        <dsp:cNvSpPr/>
      </dsp:nvSpPr>
      <dsp:spPr>
        <a:xfrm>
          <a:off x="0" y="1215002"/>
          <a:ext cx="3135313" cy="407745"/>
        </a:xfrm>
        <a:prstGeom prst="roundRect">
          <a:avLst/>
        </a:prstGeom>
        <a:solidFill>
          <a:schemeClr val="accent5">
            <a:hueOff val="-275931"/>
            <a:satOff val="0"/>
            <a:lumOff val="-7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Process Flow </a:t>
          </a:r>
        </a:p>
      </dsp:txBody>
      <dsp:txXfrm>
        <a:off x="19904" y="1234906"/>
        <a:ext cx="3095505" cy="367937"/>
      </dsp:txXfrm>
    </dsp:sp>
    <dsp:sp modelId="{21615722-E920-4F12-B4E3-8F96F3C8B0D2}">
      <dsp:nvSpPr>
        <dsp:cNvPr id="0" name=""/>
        <dsp:cNvSpPr/>
      </dsp:nvSpPr>
      <dsp:spPr>
        <a:xfrm>
          <a:off x="0" y="1671707"/>
          <a:ext cx="3135313" cy="407745"/>
        </a:xfrm>
        <a:prstGeom prst="roundRect">
          <a:avLst/>
        </a:prstGeom>
        <a:solidFill>
          <a:schemeClr val="accent5">
            <a:hueOff val="-551863"/>
            <a:satOff val="0"/>
            <a:lumOff val="-14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Values</a:t>
          </a:r>
        </a:p>
      </dsp:txBody>
      <dsp:txXfrm>
        <a:off x="19904" y="1691611"/>
        <a:ext cx="3095505" cy="367937"/>
      </dsp:txXfrm>
    </dsp:sp>
    <dsp:sp modelId="{64645B33-39B5-42D4-9F88-A8738E950624}">
      <dsp:nvSpPr>
        <dsp:cNvPr id="0" name=""/>
        <dsp:cNvSpPr/>
      </dsp:nvSpPr>
      <dsp:spPr>
        <a:xfrm>
          <a:off x="0" y="2128412"/>
          <a:ext cx="3135313" cy="407745"/>
        </a:xfrm>
        <a:prstGeom prst="roundRect">
          <a:avLst/>
        </a:prstGeom>
        <a:solidFill>
          <a:schemeClr val="accent5">
            <a:hueOff val="-827794"/>
            <a:satOff val="0"/>
            <a:lumOff val="-21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Keys</a:t>
          </a:r>
        </a:p>
      </dsp:txBody>
      <dsp:txXfrm>
        <a:off x="19904" y="2148316"/>
        <a:ext cx="3095505" cy="367937"/>
      </dsp:txXfrm>
    </dsp:sp>
    <dsp:sp modelId="{E040C303-8BAC-4C09-896C-2748021A43C5}">
      <dsp:nvSpPr>
        <dsp:cNvPr id="0" name=""/>
        <dsp:cNvSpPr/>
      </dsp:nvSpPr>
      <dsp:spPr>
        <a:xfrm>
          <a:off x="0" y="2585117"/>
          <a:ext cx="3135313" cy="407745"/>
        </a:xfrm>
        <a:prstGeom prst="roundRect">
          <a:avLst/>
        </a:prstGeom>
        <a:solidFill>
          <a:schemeClr val="accent5">
            <a:hueOff val="-1103726"/>
            <a:satOff val="0"/>
            <a:lumOff val="-29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Advanced Data Loading</a:t>
          </a:r>
        </a:p>
      </dsp:txBody>
      <dsp:txXfrm>
        <a:off x="19904" y="2605021"/>
        <a:ext cx="3095505" cy="367937"/>
      </dsp:txXfrm>
    </dsp:sp>
    <dsp:sp modelId="{772B6EC5-3CE6-44F3-BA34-DE42322C440C}">
      <dsp:nvSpPr>
        <dsp:cNvPr id="0" name=""/>
        <dsp:cNvSpPr/>
      </dsp:nvSpPr>
      <dsp:spPr>
        <a:xfrm>
          <a:off x="0" y="3041822"/>
          <a:ext cx="3135313" cy="407745"/>
        </a:xfrm>
        <a:prstGeom prst="roundRect">
          <a:avLst/>
        </a:prstGeom>
        <a:solidFill>
          <a:schemeClr val="accent5">
            <a:hueOff val="-1379657"/>
            <a:satOff val="0"/>
            <a:lumOff val="-36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Date Effective Business Objects</a:t>
          </a:r>
        </a:p>
      </dsp:txBody>
      <dsp:txXfrm>
        <a:off x="19904" y="3061726"/>
        <a:ext cx="3095505" cy="367937"/>
      </dsp:txXfrm>
    </dsp:sp>
    <dsp:sp modelId="{982FF2EF-ABE1-42A3-AE4D-157621A59FD0}">
      <dsp:nvSpPr>
        <dsp:cNvPr id="0" name=""/>
        <dsp:cNvSpPr/>
      </dsp:nvSpPr>
      <dsp:spPr>
        <a:xfrm>
          <a:off x="0" y="3498527"/>
          <a:ext cx="3135313" cy="407745"/>
        </a:xfrm>
        <a:prstGeom prst="roundRect">
          <a:avLst/>
        </a:prstGeom>
        <a:solidFill>
          <a:schemeClr val="accent5">
            <a:hueOff val="-1655589"/>
            <a:satOff val="0"/>
            <a:lumOff val="-43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Error Management</a:t>
          </a:r>
        </a:p>
      </dsp:txBody>
      <dsp:txXfrm>
        <a:off x="19904" y="3518431"/>
        <a:ext cx="3095505" cy="367937"/>
      </dsp:txXfrm>
    </dsp:sp>
    <dsp:sp modelId="{49FBCC98-CCCB-454A-B9C2-9A11C22811EC}">
      <dsp:nvSpPr>
        <dsp:cNvPr id="0" name=""/>
        <dsp:cNvSpPr/>
      </dsp:nvSpPr>
      <dsp:spPr>
        <a:xfrm>
          <a:off x="0" y="3955232"/>
          <a:ext cx="3135313" cy="407745"/>
        </a:xfrm>
        <a:prstGeom prst="roundRect">
          <a:avLst/>
        </a:prstGeom>
        <a:solidFill>
          <a:schemeClr val="accent5">
            <a:hueOff val="-1931520"/>
            <a:satOff val="0"/>
            <a:lumOff val="-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Assignment Exercise</a:t>
          </a:r>
        </a:p>
      </dsp:txBody>
      <dsp:txXfrm>
        <a:off x="19904" y="3975136"/>
        <a:ext cx="3095505" cy="36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06D94E-9CEE-45F7-9E28-B4A28A3F1524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AB4EC-BFCA-476E-9360-5C01913DA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072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2D9AE-7182-4680-8F79-479C4181FF0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693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2D9AE-7182-4680-8F79-479C4181FF0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261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HCM Data Loader: Business Object Documentation (Doc ID 2020600.1)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2D9AE-7182-4680-8F79-479C4181FF0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34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C0CA69-C903-4627-882E-4DB61DFDDDA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11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89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89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54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5581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78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23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15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51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A69-C903-4627-882E-4DB61DFDDD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963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w Template_Content 1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" y="2"/>
            <a:ext cx="768351" cy="742951"/>
          </a:xfrm>
          <a:prstGeom prst="rect">
            <a:avLst/>
          </a:prstGeom>
          <a:gradFill flip="none" rotWithShape="1">
            <a:gsLst>
              <a:gs pos="20000">
                <a:srgbClr val="AA0000"/>
              </a:gs>
              <a:gs pos="90000">
                <a:srgbClr val="FF1414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3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463" y="327385"/>
            <a:ext cx="10972781" cy="5418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1072463" y="2029469"/>
            <a:ext cx="10972801" cy="4083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72463" y="864288"/>
            <a:ext cx="10972801" cy="406400"/>
          </a:xfrm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2666">
                <a:solidFill>
                  <a:schemeClr val="accent1"/>
                </a:solidFill>
              </a:defRPr>
            </a:lvl1pPr>
            <a:lvl2pPr marL="609448" indent="0">
              <a:buFontTx/>
              <a:buNone/>
              <a:defRPr/>
            </a:lvl2pPr>
            <a:lvl3pPr marL="1218895" indent="0">
              <a:buFontTx/>
              <a:buNone/>
              <a:defRPr/>
            </a:lvl3pPr>
            <a:lvl4pPr marL="1828343" indent="0">
              <a:buFontTx/>
              <a:buNone/>
              <a:defRPr/>
            </a:lvl4pPr>
            <a:lvl5pPr marL="243779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2651537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0EF40BA1-8E4D-4AEB-BDC7-F127D87B23E2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FC0CA69-C903-4627-882E-4DB61DFDDD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520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E5AA3-7168-4834-9CFA-56DEC0D202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HCM Data Loader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92F1B-CF0F-4904-9E04-7512AF0742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/>
              <a:t>By </a:t>
            </a:r>
            <a:r>
              <a:rPr lang="en-IN"/>
              <a:t>Kasi Viswanadh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F8DB8-818B-4549-A8A6-BC9F6F3AF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6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D1ED3E-1FA2-4794-9E9D-B5D1CD8B2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606" y="876299"/>
            <a:ext cx="6826371" cy="5121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/>
              <a:t>Agenda</a:t>
            </a:r>
          </a:p>
        </p:txBody>
      </p:sp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D2C1A4F1-8EE0-4A69-B0A7-3DD73BEA6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E1EB710-D2EC-4EEE-9DB2-583C02D38E0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613153454"/>
              </p:ext>
            </p:extLst>
          </p:nvPr>
        </p:nvGraphicFramePr>
        <p:xfrm>
          <a:off x="8185150" y="876300"/>
          <a:ext cx="3135313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8005825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6DBAD6-8CB8-42FF-B0D9-6CE619D42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992F3A-302F-47CA-BADD-CDE438085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6864FA-1731-4EE6-AC97-3A689D688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278EA84-AA47-4E64-9AEA-745F57EAD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A3D311-5198-4AE1-A195-642105676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625775"/>
            <a:ext cx="6377629" cy="5258429"/>
          </a:xfrm>
          <a:noFill/>
          <a:ln w="12700" cmpd="sng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5000"/>
              </a:lnSpc>
            </a:pPr>
            <a:r>
              <a:rPr lang="en-US" sz="6700" b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054535-C006-4CBD-B555-2D26AE62C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28800"/>
            <a:ext cx="0" cy="3200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4BBECAC-8365-4842-AE35-6025FC1C8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83740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57604" y="309839"/>
            <a:ext cx="10969924" cy="541860"/>
          </a:xfrm>
        </p:spPr>
        <p:txBody>
          <a:bodyPr/>
          <a:lstStyle/>
          <a:p>
            <a:r>
              <a:rPr lang="en-US" sz="3199">
                <a:latin typeface="Arial" charset="0"/>
                <a:ea typeface="+mn-ea"/>
                <a:cs typeface="Arial" charset="0"/>
              </a:rPr>
              <a:t>Data Loader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165370" y="1674421"/>
            <a:ext cx="5320146" cy="4655126"/>
          </a:xfrm>
        </p:spPr>
        <p:txBody>
          <a:bodyPr/>
          <a:lstStyle/>
          <a:p>
            <a:r>
              <a:rPr lang="en-US" sz="1866"/>
              <a:t>HCM Data Loader is a powerful tool for bulk-loading data from any source to Oracle Fusion HCM. (Flat File based bulk loading of data into Oracle HCM Cloud )</a:t>
            </a:r>
          </a:p>
          <a:p>
            <a:pPr>
              <a:spcAft>
                <a:spcPts val="400"/>
              </a:spcAft>
            </a:pPr>
            <a:r>
              <a:rPr lang="en-US" sz="1866"/>
              <a:t>Supports important business objects belonging to Oracle Fusion HCM products</a:t>
            </a:r>
          </a:p>
          <a:p>
            <a:pPr>
              <a:spcAft>
                <a:spcPts val="400"/>
              </a:spcAft>
            </a:pPr>
            <a:r>
              <a:rPr lang="en-US" sz="1866"/>
              <a:t> including Oracle Fusion Global Human Resources, Compensation, Absence Management, Performance Management, Profile Management, Global Payroll, Talent and Workforce Management.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59486" y="-148591"/>
            <a:ext cx="9187615" cy="871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399"/>
          </a:p>
          <a:p>
            <a:endParaRPr lang="en-US" sz="2666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89277" y="1211283"/>
            <a:ext cx="4773881" cy="378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2D5EF2-8E16-4DD0-ACE4-D7417B3C1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64343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57604" y="309839"/>
            <a:ext cx="10969924" cy="541860"/>
          </a:xfrm>
        </p:spPr>
        <p:txBody>
          <a:bodyPr/>
          <a:lstStyle/>
          <a:p>
            <a:r>
              <a:rPr lang="en-US" sz="3199">
                <a:latin typeface="Arial" charset="0"/>
                <a:ea typeface="+mn-ea"/>
                <a:cs typeface="Arial" charset="0"/>
              </a:rPr>
              <a:t>Features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295999" y="1365662"/>
            <a:ext cx="9357756" cy="4773880"/>
          </a:xfrm>
        </p:spPr>
        <p:txBody>
          <a:bodyPr/>
          <a:lstStyle/>
          <a:p>
            <a:r>
              <a:rPr lang="en-US" sz="1866" dirty="0"/>
              <a:t>Suited for large volumes and Supports complex data objects with  full date  effective history </a:t>
            </a:r>
          </a:p>
          <a:p>
            <a:pPr marL="342900" indent="-342900"/>
            <a:r>
              <a:rPr lang="en-IN" sz="1866" dirty="0"/>
              <a:t>Can be used for loading historical data, hierarchical tree  structure, DFF’s and EFF’s, documents, attachments, pictures as well.</a:t>
            </a:r>
          </a:p>
          <a:p>
            <a:pPr marL="342900" indent="-342900"/>
            <a:r>
              <a:rPr lang="en-IN" sz="1866" dirty="0"/>
              <a:t>Comprehensive User interface –user can initiate data load (</a:t>
            </a:r>
            <a:r>
              <a:rPr lang="en-US" sz="1866" dirty="0"/>
              <a:t>Validates and loads the data) </a:t>
            </a:r>
            <a:r>
              <a:rPr lang="en-IN" sz="1866" dirty="0"/>
              <a:t>, monitor the process, load stages ,review the errors at both import and load(</a:t>
            </a:r>
            <a:r>
              <a:rPr lang="en-US" sz="1866" dirty="0"/>
              <a:t>Support for Error Correction)</a:t>
            </a:r>
            <a:r>
              <a:rPr lang="en-IN" sz="1866" dirty="0"/>
              <a:t>. </a:t>
            </a:r>
          </a:p>
          <a:p>
            <a:pPr>
              <a:spcAft>
                <a:spcPts val="400"/>
              </a:spcAft>
            </a:pPr>
            <a:r>
              <a:rPr lang="en-IN" sz="1866" dirty="0"/>
              <a:t> Feasibility to automate the data load, can be initiated through a web service call .</a:t>
            </a:r>
          </a:p>
          <a:p>
            <a:pPr>
              <a:spcAft>
                <a:spcPts val="400"/>
              </a:spcAft>
            </a:pPr>
            <a:r>
              <a:rPr lang="en-US" sz="1866" dirty="0"/>
              <a:t> Loads all data files from the Oracle Web Center Content server, which provides a single point of entry to Oracle Fusion HCM.</a:t>
            </a:r>
          </a:p>
          <a:p>
            <a:pPr>
              <a:spcAft>
                <a:spcPts val="400"/>
              </a:spcAft>
            </a:pPr>
            <a:r>
              <a:rPr lang="en-US" sz="1866" dirty="0"/>
              <a:t>HCM Data loader Supports Multithreaded Processing, which enables you to upload complete data extracts without severe performance impacts.</a:t>
            </a:r>
          </a:p>
          <a:p>
            <a:pPr>
              <a:spcAft>
                <a:spcPts val="400"/>
              </a:spcAft>
            </a:pPr>
            <a:endParaRPr lang="en-US" sz="1866" dirty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59486" y="-148591"/>
            <a:ext cx="9187615" cy="871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399"/>
          </a:p>
          <a:p>
            <a:endParaRPr lang="en-US" sz="2666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9054D9-75A6-4564-B763-EA21AB724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7201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1123" y="655548"/>
            <a:ext cx="9338262" cy="541860"/>
          </a:xfrm>
        </p:spPr>
        <p:txBody>
          <a:bodyPr>
            <a:normAutofit fontScale="90000"/>
          </a:bodyPr>
          <a:lstStyle/>
          <a:p>
            <a:r>
              <a:rPr lang="en-US" dirty="0"/>
              <a:t>Job Roles that give access to HDL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8097" y="1752600"/>
            <a:ext cx="10744200" cy="457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268788" y="1295400"/>
            <a:ext cx="3124200" cy="762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Human Capital Management Application Administrator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3988" y="1295400"/>
            <a:ext cx="3124200" cy="762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Human Capital Management Integration Specialist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88" y="1295400"/>
            <a:ext cx="1524000" cy="762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Job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88" y="3048000"/>
            <a:ext cx="1524000" cy="19812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Duty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40388" y="3048000"/>
            <a:ext cx="3886200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HCM Data Load Duty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40388" y="3505200"/>
            <a:ext cx="3886200" cy="6858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HCM Data Load Error Management Duty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0388" y="4267200"/>
            <a:ext cx="3886200" cy="838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File Import and Export Management Duty</a:t>
            </a:r>
          </a:p>
        </p:txBody>
      </p:sp>
      <p:cxnSp>
        <p:nvCxnSpPr>
          <p:cNvPr id="12" name="Straight Arrow Connector 11"/>
          <p:cNvCxnSpPr>
            <a:stCxn id="8" idx="0"/>
            <a:endCxn id="7" idx="2"/>
          </p:cNvCxnSpPr>
          <p:nvPr/>
        </p:nvCxnSpPr>
        <p:spPr>
          <a:xfrm flipV="1">
            <a:off x="1525588" y="2057400"/>
            <a:ext cx="0" cy="990600"/>
          </a:xfrm>
          <a:prstGeom prst="straightConnector1">
            <a:avLst/>
          </a:prstGeom>
          <a:ln w="28575">
            <a:solidFill>
              <a:schemeClr val="accent5"/>
            </a:solidFill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792788" y="2590800"/>
            <a:ext cx="3657600" cy="0"/>
          </a:xfrm>
          <a:prstGeom prst="line">
            <a:avLst/>
          </a:prstGeom>
          <a:ln w="28575">
            <a:solidFill>
              <a:schemeClr val="accent5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792788" y="2057400"/>
            <a:ext cx="0" cy="533400"/>
          </a:xfrm>
          <a:prstGeom prst="straightConnector1">
            <a:avLst/>
          </a:prstGeom>
          <a:ln w="28575">
            <a:solidFill>
              <a:schemeClr val="accent5"/>
            </a:solidFill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9450388" y="2057400"/>
            <a:ext cx="0" cy="533400"/>
          </a:xfrm>
          <a:prstGeom prst="straightConnector1">
            <a:avLst/>
          </a:prstGeom>
          <a:ln w="28575">
            <a:solidFill>
              <a:schemeClr val="accent5"/>
            </a:solidFill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7621588" y="2590800"/>
            <a:ext cx="0" cy="457200"/>
          </a:xfrm>
          <a:prstGeom prst="straightConnector1">
            <a:avLst/>
          </a:prstGeom>
          <a:ln w="28575">
            <a:solidFill>
              <a:schemeClr val="accent5"/>
            </a:solidFill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FCEA5E0-DBB7-474A-A523-CF04C1783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97449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28856" y="718400"/>
            <a:ext cx="10969924" cy="541860"/>
          </a:xfrm>
        </p:spPr>
        <p:txBody>
          <a:bodyPr/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HCM Data Loader - Data Flow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525" y="1632053"/>
            <a:ext cx="900112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234536-E457-483C-AE28-E932B64B1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60029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003" y="706526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Comprehensive Bulk Loading Capabilities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US" sz="1866" dirty="0"/>
          </a:p>
          <a:p>
            <a:pPr>
              <a:buFont typeface="Arial" pitchFamily="34" charset="0"/>
              <a:buChar char="•"/>
            </a:pPr>
            <a:r>
              <a:rPr lang="en-US" sz="1866" dirty="0"/>
              <a:t>Business Object support across the product family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Bulk loading of: </a:t>
            </a:r>
          </a:p>
          <a:p>
            <a:pPr lvl="1">
              <a:buFont typeface="Wingdings" pitchFamily="2" charset="2"/>
              <a:buChar char="§"/>
            </a:pPr>
            <a:r>
              <a:rPr lang="en-US" sz="1600" dirty="0"/>
              <a:t>Flex field Data </a:t>
            </a:r>
          </a:p>
          <a:p>
            <a:pPr lvl="1">
              <a:buFont typeface="Wingdings" pitchFamily="2" charset="2"/>
              <a:buChar char="§"/>
            </a:pPr>
            <a:r>
              <a:rPr lang="en-US" sz="1600" dirty="0"/>
              <a:t>Person Images </a:t>
            </a:r>
          </a:p>
          <a:p>
            <a:pPr lvl="1">
              <a:buFont typeface="Wingdings" pitchFamily="2" charset="2"/>
              <a:buChar char="§"/>
            </a:pPr>
            <a:r>
              <a:rPr lang="en-US" sz="1600" dirty="0"/>
              <a:t>Documents of Record Attachments </a:t>
            </a:r>
          </a:p>
          <a:p>
            <a:pPr lvl="1">
              <a:buFont typeface="Wingdings" pitchFamily="2" charset="2"/>
              <a:buChar char="§"/>
            </a:pPr>
            <a:r>
              <a:rPr lang="en-US" sz="1600" dirty="0"/>
              <a:t>Translation Data </a:t>
            </a:r>
          </a:p>
          <a:p>
            <a:pPr lvl="1">
              <a:buFont typeface="Wingdings" pitchFamily="2" charset="2"/>
              <a:buChar char="§"/>
            </a:pPr>
            <a:r>
              <a:rPr lang="en-US" sz="1600" dirty="0"/>
              <a:t>Department and Organization hierarchies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E365A-DEC0-46AC-BEDB-C918BA3F4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1921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Comprehensive Bulk Loading Capabilities</a:t>
            </a:r>
          </a:p>
        </p:txBody>
      </p:sp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2382" y="1105506"/>
            <a:ext cx="9097181" cy="4767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15CAE3-2DE0-4667-85E0-484F90AB0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145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HCM Data Loader Supported Business Objects</a:t>
            </a:r>
          </a:p>
        </p:txBody>
      </p:sp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9174" y="934101"/>
            <a:ext cx="11693654" cy="498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6814C9-4456-46DD-8E42-6F540B415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2013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Reviewing Supported Business Objects</a:t>
            </a: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714" y="1009651"/>
            <a:ext cx="8250086" cy="510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98C8F8-84C0-41EB-88F8-B6D9C955B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31530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Business Object Spreadsheets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8152866" y="1384834"/>
            <a:ext cx="3890849" cy="4727411"/>
          </a:xfrm>
        </p:spPr>
        <p:txBody>
          <a:bodyPr/>
          <a:lstStyle/>
          <a:p>
            <a:pPr>
              <a:buNone/>
            </a:pPr>
            <a:r>
              <a:rPr lang="en-US" sz="1866" dirty="0"/>
              <a:t>   Documents the attributes available for each component of the object hierarchy  </a:t>
            </a:r>
          </a:p>
          <a:p>
            <a:pPr>
              <a:buNone/>
            </a:pPr>
            <a:r>
              <a:rPr lang="en-US" sz="1866" dirty="0"/>
              <a:t>Includes </a:t>
            </a:r>
          </a:p>
          <a:p>
            <a:pPr lvl="1"/>
            <a:r>
              <a:rPr lang="en-US" sz="1600" dirty="0"/>
              <a:t>Key Type </a:t>
            </a:r>
          </a:p>
          <a:p>
            <a:pPr lvl="1"/>
            <a:r>
              <a:rPr lang="en-US" sz="1600" dirty="0"/>
              <a:t>Alternate User Key </a:t>
            </a:r>
          </a:p>
          <a:p>
            <a:pPr lvl="1"/>
            <a:r>
              <a:rPr lang="en-US" sz="1600" dirty="0"/>
              <a:t>Data Type </a:t>
            </a:r>
          </a:p>
          <a:p>
            <a:pPr lvl="1"/>
            <a:r>
              <a:rPr lang="en-US" sz="1600" dirty="0"/>
              <a:t>Length </a:t>
            </a:r>
          </a:p>
          <a:p>
            <a:pPr lvl="1"/>
            <a:r>
              <a:rPr lang="en-US" sz="1600" dirty="0"/>
              <a:t>Primary Key </a:t>
            </a:r>
          </a:p>
          <a:p>
            <a:pPr lvl="1"/>
            <a:r>
              <a:rPr lang="en-US" sz="1600" dirty="0"/>
              <a:t>Lookup Name </a:t>
            </a:r>
          </a:p>
          <a:p>
            <a:pPr lvl="1"/>
            <a:r>
              <a:rPr lang="en-US" sz="1600" dirty="0"/>
              <a:t>Description 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867" y="1175657"/>
            <a:ext cx="7030192" cy="4857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398B1D-A294-4869-923B-919190444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34438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White Papers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8152866" y="1384834"/>
            <a:ext cx="3890849" cy="4727411"/>
          </a:xfrm>
        </p:spPr>
        <p:txBody>
          <a:bodyPr/>
          <a:lstStyle/>
          <a:p>
            <a:pPr>
              <a:buNone/>
            </a:pPr>
            <a:r>
              <a:rPr lang="en-US" sz="1866" dirty="0"/>
              <a:t>Provide business object specific</a:t>
            </a:r>
          </a:p>
          <a:p>
            <a:pPr>
              <a:buNone/>
            </a:pPr>
            <a:r>
              <a:rPr lang="en-US" sz="1866" dirty="0"/>
              <a:t>guidance for bulk loading: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Considerations and Prerequisites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Loading guidelines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Common errors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Deletion Support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Loading translation data </a:t>
            </a:r>
          </a:p>
          <a:p>
            <a:endParaRPr lang="en-US" dirty="0"/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186" y="1114440"/>
            <a:ext cx="7694194" cy="4663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EBCFDA-E264-42C0-92F1-EB2C18FCE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8407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490" y="4168240"/>
            <a:ext cx="5431281" cy="1211283"/>
          </a:xfrm>
        </p:spPr>
        <p:txBody>
          <a:bodyPr/>
          <a:lstStyle/>
          <a:p>
            <a:r>
              <a:rPr lang="en-US" dirty="0"/>
              <a:t>Process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E60F6-872C-4072-9DC3-004FB2408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34343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>
                <a:ea typeface="+mn-ea"/>
                <a:cs typeface="Arial" panose="020B0604020202020204" pitchFamily="34" charset="0"/>
              </a:rPr>
              <a:t>Data Loader Process Flow</a:t>
            </a:r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659" y="1003933"/>
            <a:ext cx="11566687" cy="485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DB216A-6F93-4378-B8B1-265425EAC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42599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003" y="624597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>
                <a:ea typeface="+mn-ea"/>
                <a:cs typeface="Arial" charset="0"/>
              </a:rPr>
              <a:t>File Format</a:t>
            </a:r>
            <a:br>
              <a:rPr lang="en-US" dirty="0"/>
            </a:br>
            <a:endParaRPr lang="en-US" sz="3199" dirty="0"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pPr>
              <a:buFont typeface="Arial" pitchFamily="34" charset="0"/>
              <a:buChar char="•"/>
            </a:pPr>
            <a:r>
              <a:rPr lang="en-US" sz="1866" dirty="0"/>
              <a:t>Parent Child Component (1</a:t>
            </a:r>
            <a:r>
              <a:rPr lang="en-US" sz="1866" baseline="30000" dirty="0"/>
              <a:t>st</a:t>
            </a:r>
            <a:r>
              <a:rPr lang="en-US" sz="1866" dirty="0"/>
              <a:t> level, 2</a:t>
            </a:r>
            <a:r>
              <a:rPr lang="en-US" sz="1866" baseline="30000" dirty="0"/>
              <a:t>nd</a:t>
            </a:r>
            <a:r>
              <a:rPr lang="en-US" sz="1866" dirty="0"/>
              <a:t> level,3</a:t>
            </a:r>
            <a:r>
              <a:rPr lang="en-US" sz="1866" baseline="30000" dirty="0"/>
              <a:t>rd</a:t>
            </a:r>
            <a:r>
              <a:rPr lang="en-US" sz="1866" dirty="0"/>
              <a:t> level and so on)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Pipe Delimiter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File Shape &amp; File Structure  (.</a:t>
            </a:r>
            <a:r>
              <a:rPr lang="en-US" sz="1866" dirty="0" err="1"/>
              <a:t>dat</a:t>
            </a:r>
            <a:r>
              <a:rPr lang="en-US" sz="1866" dirty="0"/>
              <a:t> + zip)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Data Line Structure</a:t>
            </a:r>
          </a:p>
          <a:p>
            <a:pPr>
              <a:buFont typeface="Arial" pitchFamily="34" charset="0"/>
              <a:buChar char="•"/>
            </a:pPr>
            <a:endParaRPr lang="en-US" sz="1866" dirty="0"/>
          </a:p>
          <a:p>
            <a:pPr marL="0" indent="0">
              <a:buNone/>
            </a:pPr>
            <a:endParaRPr lang="en-US" sz="1866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FD658-2955-4148-BF48-98F3F9695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19159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>
                <a:ea typeface="+mn-ea"/>
                <a:cs typeface="Arial" panose="020B0604020202020204" pitchFamily="34" charset="0"/>
              </a:rPr>
              <a:t>Understanding the Business Object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48379" y="1610843"/>
            <a:ext cx="5123803" cy="4082411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1866" dirty="0"/>
              <a:t>Hierarchical shape of business object components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Supports </a:t>
            </a:r>
          </a:p>
          <a:p>
            <a:pPr lvl="1"/>
            <a:r>
              <a:rPr lang="en-US" sz="1600" dirty="0"/>
              <a:t>Multiple child occurrences </a:t>
            </a:r>
          </a:p>
          <a:p>
            <a:pPr lvl="1"/>
            <a:r>
              <a:rPr lang="en-US" sz="1600" dirty="0"/>
              <a:t>Ability to load child components independently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399" b="1" dirty="0"/>
              <a:t>Business Object Hierarchies</a:t>
            </a:r>
            <a:endParaRPr lang="en-US" sz="2399" dirty="0"/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78853" y="2012286"/>
            <a:ext cx="5662725" cy="405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08640C-7DE0-413F-A39B-B8D8B1F6B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73835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Understanding the Business Object Shape: Job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399" b="1" dirty="0"/>
              <a:t>Job Business Object Hierarchy</a:t>
            </a:r>
          </a:p>
        </p:txBody>
      </p:sp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760" y="1403880"/>
            <a:ext cx="11198483" cy="4608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3E34B-8A8E-49ED-A680-F9F472048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22307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Understanding the Business Object Shape: Job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399" b="1" dirty="0"/>
              <a:t>Business Object Hierarchy</a:t>
            </a:r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740" y="1422924"/>
            <a:ext cx="10652525" cy="4012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484246-082F-4F65-9F9D-9B899415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67177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Business Object File Shape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80" y="1501288"/>
            <a:ext cx="4888524" cy="4184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399" b="1" dirty="0"/>
              <a:t>Business Object Specific Files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557" y="1090247"/>
            <a:ext cx="6514856" cy="499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AEA5AD-890A-4F5E-ADC6-D5442D3E3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07735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Business Object File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61074" y="1623539"/>
            <a:ext cx="4628632" cy="4082411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US" sz="1866" dirty="0"/>
          </a:p>
          <a:p>
            <a:pPr>
              <a:buFont typeface="Arial" pitchFamily="34" charset="0"/>
              <a:buChar char="•"/>
            </a:pPr>
            <a:r>
              <a:rPr lang="en-US" sz="1866" dirty="0"/>
              <a:t>One file per business object hierarchy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Pipe ‘|’ delimited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Only provide the components and attributes you use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Provide data in any order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Enforced naming convention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399" b="1" dirty="0"/>
              <a:t>Business Object Specific Files</a:t>
            </a:r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94375" y="1217041"/>
            <a:ext cx="5415139" cy="494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B1B594-A513-4F24-AF02-2B9E880F0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49154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>
                <a:latin typeface="Arial" charset="0"/>
                <a:ea typeface="+mn-ea"/>
                <a:cs typeface="Arial" charset="0"/>
              </a:rPr>
              <a:t>Supported File Line Instructions</a:t>
            </a:r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3391" y="1217828"/>
            <a:ext cx="10972782" cy="4339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BB56AA-9E13-43C9-9B70-3092E116C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6004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Definition and Data Line Structure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5582" y="1639740"/>
            <a:ext cx="10957246" cy="3555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A76A6F-EB00-4286-8B7C-BD087D55E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07808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File Discriminators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4990" y="1295400"/>
            <a:ext cx="2232837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1188" y="1295400"/>
            <a:ext cx="4572000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Worker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90" y="1752600"/>
            <a:ext cx="2232837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Person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188" y="1752600"/>
            <a:ext cx="4572000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PersonAddress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90" y="2209800"/>
            <a:ext cx="2232837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Person Citizenship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1188" y="2209800"/>
            <a:ext cx="4572000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PersonCitizenship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8988" y="2743200"/>
            <a:ext cx="7172096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81A15C-2343-4891-BFD4-0C6BC12F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37120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Data Lines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0242" y="1213428"/>
            <a:ext cx="11071516" cy="4431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E6E92-84F5-486B-B516-E48BE0FD4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45912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File Discriminators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Component Reference</a:t>
            </a:r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3839" y="1461014"/>
            <a:ext cx="10995336" cy="4240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5BE5A0-1457-4BBE-A705-D365A3026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02529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Define Attributes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829" y="1321349"/>
            <a:ext cx="10957246" cy="4139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2CB1B4-E9B7-445F-B2A1-CDDE36A48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38508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Attribute Order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4963" y="1276912"/>
            <a:ext cx="10893762" cy="417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DF118D-ABDB-4870-AB9D-443454F79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78162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File Line Instructions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9402" y="1353093"/>
            <a:ext cx="10449378" cy="3542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47EEC5-D230-4122-A996-AFC587EAC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86005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SET and COMMENT Line Structure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9402" y="1245169"/>
            <a:ext cx="9636790" cy="436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044CA2-C268-4A83-87F9-0FA9CA8C5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38331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Business Object ‘dat’ File Format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7907539" y="1340229"/>
            <a:ext cx="3890849" cy="4727411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1866" dirty="0"/>
              <a:t>Named for the hierarchy it contains data for, for example Job.dat, Location.dat, Worker.dat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Pipe-delimited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Each line starts with an instruction </a:t>
            </a:r>
          </a:p>
          <a:p>
            <a:pPr>
              <a:buFont typeface="Arial" pitchFamily="34" charset="0"/>
              <a:buChar char="•"/>
            </a:pPr>
            <a:r>
              <a:rPr lang="en-US" sz="1866" dirty="0"/>
              <a:t>Definition and data lines contain a component discriminator </a:t>
            </a:r>
          </a:p>
          <a:p>
            <a:r>
              <a:rPr lang="en-US" sz="1866" dirty="0"/>
              <a:t>Flexible to use &amp; understand</a:t>
            </a:r>
          </a:p>
          <a:p>
            <a:endParaRPr lang="en-US" dirty="0"/>
          </a:p>
        </p:txBody>
      </p:sp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749" y="1448316"/>
            <a:ext cx="6627674" cy="4215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44184E-7F24-44EB-9BA7-888D878FA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22786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Dat File Instructions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7644000" y="1047871"/>
            <a:ext cx="4132086" cy="493055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600" b="1" dirty="0"/>
              <a:t>SET </a:t>
            </a:r>
          </a:p>
          <a:p>
            <a:pPr>
              <a:buNone/>
            </a:pPr>
            <a:r>
              <a:rPr lang="en-US" sz="1600" dirty="0"/>
              <a:t>    Override default behavior. </a:t>
            </a:r>
          </a:p>
          <a:p>
            <a:pPr>
              <a:buNone/>
            </a:pPr>
            <a:r>
              <a:rPr lang="en-US" sz="1600" b="1" dirty="0"/>
              <a:t>COMMENT </a:t>
            </a:r>
          </a:p>
          <a:p>
            <a:pPr>
              <a:buNone/>
            </a:pPr>
            <a:r>
              <a:rPr lang="en-US" sz="1600" dirty="0"/>
              <a:t>    Ignored, for user readability. </a:t>
            </a:r>
          </a:p>
          <a:p>
            <a:pPr>
              <a:buNone/>
            </a:pPr>
            <a:r>
              <a:rPr lang="en-US" sz="1600" b="1" dirty="0"/>
              <a:t>METADATA </a:t>
            </a:r>
          </a:p>
          <a:p>
            <a:pPr>
              <a:buNone/>
            </a:pPr>
            <a:r>
              <a:rPr lang="en-US" sz="1600" dirty="0"/>
              <a:t>    Defines components and attributes included in the file. Remove attribute names if not supplying values. </a:t>
            </a:r>
          </a:p>
          <a:p>
            <a:pPr>
              <a:buNone/>
            </a:pPr>
            <a:r>
              <a:rPr lang="en-US" sz="1600" b="1" dirty="0"/>
              <a:t>MERGE </a:t>
            </a:r>
          </a:p>
          <a:p>
            <a:pPr>
              <a:buNone/>
            </a:pPr>
            <a:r>
              <a:rPr lang="en-US" sz="1600" dirty="0"/>
              <a:t>    Unique identifier for the record being maintained along with values to be added to Oracle Fusion. </a:t>
            </a:r>
          </a:p>
          <a:p>
            <a:pPr>
              <a:buNone/>
            </a:pPr>
            <a:r>
              <a:rPr lang="en-US" sz="1600" b="1" dirty="0"/>
              <a:t>DELETE</a:t>
            </a:r>
            <a:r>
              <a:rPr lang="en-US" sz="1600" dirty="0"/>
              <a:t> </a:t>
            </a:r>
          </a:p>
          <a:p>
            <a:pPr>
              <a:buNone/>
            </a:pPr>
            <a:r>
              <a:rPr lang="en-US" sz="1600" dirty="0"/>
              <a:t>    Unique identifier for the record to be deleted. </a:t>
            </a: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7493" y="1207079"/>
            <a:ext cx="6462617" cy="4393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C3433-41AD-422E-A47B-60475DD36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561661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Supported Business Object File Names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650" y="991235"/>
            <a:ext cx="10728705" cy="4875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CADA0C-08D4-4000-ABF3-1FE210C15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08297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Zip File Structure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7771965" y="1181686"/>
            <a:ext cx="4271751" cy="4930558"/>
          </a:xfrm>
        </p:spPr>
        <p:txBody>
          <a:bodyPr/>
          <a:lstStyle/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User defined name </a:t>
            </a:r>
          </a:p>
          <a:p>
            <a:r>
              <a:rPr lang="en-US" sz="1600" dirty="0"/>
              <a:t>One or more business object ‘dat’ files </a:t>
            </a:r>
          </a:p>
          <a:p>
            <a:r>
              <a:rPr lang="en-US" sz="1600" dirty="0"/>
              <a:t>Attachments/images delivered in a sub-folder </a:t>
            </a:r>
          </a:p>
          <a:p>
            <a:r>
              <a:rPr lang="en-US" sz="1600" dirty="0"/>
              <a:t>Business object ‘dat’ files are imported into stage in parallel. </a:t>
            </a:r>
          </a:p>
          <a:p>
            <a:r>
              <a:rPr lang="en-US" sz="1600" dirty="0"/>
              <a:t>Business object data is loaded in order of dependency</a:t>
            </a:r>
          </a:p>
          <a:p>
            <a:pPr>
              <a:buNone/>
            </a:pPr>
            <a:endParaRPr lang="en-US" sz="1600" dirty="0"/>
          </a:p>
        </p:txBody>
      </p:sp>
      <p:pic>
        <p:nvPicPr>
          <p:cNvPr id="134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4358" y="1638767"/>
            <a:ext cx="4380359" cy="279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209" y="1651464"/>
            <a:ext cx="2882149" cy="685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13807F-D1BD-4887-B18D-052E70DDB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24075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490" y="4966292"/>
            <a:ext cx="3375401" cy="54186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Values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41999B-BAB7-403B-9882-AF6D41138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85338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003" y="624597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Data Values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r>
              <a:rPr lang="en-US" sz="1866" dirty="0"/>
              <a:t>Number, Date and Time Formats </a:t>
            </a:r>
          </a:p>
          <a:p>
            <a:r>
              <a:rPr lang="en-US" sz="1866" dirty="0"/>
              <a:t>Reserved Characters </a:t>
            </a:r>
          </a:p>
          <a:p>
            <a:r>
              <a:rPr lang="en-US" sz="1866" dirty="0"/>
              <a:t>Retaining Existing Values </a:t>
            </a:r>
          </a:p>
          <a:p>
            <a:r>
              <a:rPr lang="en-US" sz="1866" dirty="0"/>
              <a:t>Lookup Attributes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8C87E-ACA5-4483-8AE6-812A90E4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88707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Number, Date and Time Formats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9119" y="1086462"/>
            <a:ext cx="9268586" cy="4253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C11EEE-7FF7-4E79-A225-E547D3CF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18274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Reserved Characters – File Delimiter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Using the File Delimiter within an Attribute Value </a:t>
            </a:r>
          </a:p>
        </p:txBody>
      </p: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0189" y="1689554"/>
            <a:ext cx="10119264" cy="3199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302" y="1998313"/>
            <a:ext cx="3124200" cy="111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900D52-9640-41A2-B683-2DCFCACC4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27651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Reserved Characters – New Line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Specifying a New Line within an Attribute Value</a:t>
            </a:r>
          </a:p>
        </p:txBody>
      </p:sp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9854" y="1632420"/>
            <a:ext cx="9992297" cy="313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B99D52-82D4-4DD5-831A-AE5B92348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31222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Retaining Existing Values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Unspecified Attributes </a:t>
            </a:r>
          </a:p>
        </p:txBody>
      </p:sp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7492" y="1499104"/>
            <a:ext cx="10297018" cy="3859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6222F1-9871-4952-B810-DE8B8B46B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30255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Setting Not Null Values to Null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#NULL Tag</a:t>
            </a:r>
          </a:p>
        </p:txBody>
      </p:sp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3054" y="1480059"/>
            <a:ext cx="10944549" cy="417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42FA4F-EB58-47BE-B441-D541CA6DE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86688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99" dirty="0"/>
              <a:t>Lookup Validated Attributes </a:t>
            </a: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1144" y="1302305"/>
            <a:ext cx="10208141" cy="369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830012-2CD1-40F3-957F-D793D8055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14729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490" y="4966292"/>
            <a:ext cx="3375401" cy="541860"/>
          </a:xfrm>
        </p:spPr>
        <p:txBody>
          <a:bodyPr>
            <a:normAutofit fontScale="90000"/>
          </a:bodyPr>
          <a:lstStyle/>
          <a:p>
            <a:r>
              <a:rPr lang="en-US" dirty="0"/>
              <a:t>Keys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D8872-F887-4CC0-9DB2-3F0B4D8B2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77966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54858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Keys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r>
              <a:rPr lang="en-US" sz="1866" dirty="0"/>
              <a:t>Keys are used to uniquely identify </a:t>
            </a:r>
          </a:p>
          <a:p>
            <a:pPr lvl="1"/>
            <a:r>
              <a:rPr lang="en-US" sz="1600" dirty="0"/>
              <a:t>The local business object component </a:t>
            </a:r>
          </a:p>
          <a:p>
            <a:pPr lvl="1"/>
            <a:r>
              <a:rPr lang="en-US" sz="1600" dirty="0"/>
              <a:t>The parent of a business object component </a:t>
            </a:r>
          </a:p>
          <a:p>
            <a:pPr lvl="1"/>
            <a:r>
              <a:rPr lang="en-US" sz="1600" dirty="0"/>
              <a:t>Any other object referenced by a business object component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What are they?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115B8-2F78-464E-B8F5-DE2DBC6AD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3691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94026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HCM Data Loader Supported Keys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r>
              <a:rPr lang="en-US" sz="1866" dirty="0"/>
              <a:t>Source Keys</a:t>
            </a:r>
          </a:p>
          <a:p>
            <a:r>
              <a:rPr lang="en-US" sz="1866" dirty="0"/>
              <a:t>User Keys</a:t>
            </a:r>
          </a:p>
          <a:p>
            <a:r>
              <a:rPr lang="en-US" sz="1866" dirty="0"/>
              <a:t>Oracle Fusion Surrogate ID</a:t>
            </a:r>
          </a:p>
          <a:p>
            <a:r>
              <a:rPr lang="en-US" sz="1866" dirty="0"/>
              <a:t>Oracle Fusion GUID (Globally Unique Identifier)</a:t>
            </a:r>
          </a:p>
          <a:p>
            <a:endParaRPr lang="en-US" sz="1866" dirty="0"/>
          </a:p>
          <a:p>
            <a:endParaRPr lang="en-US" sz="1866" dirty="0"/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1299854"/>
            <a:ext cx="10969943" cy="406294"/>
          </a:xfrm>
        </p:spPr>
        <p:txBody>
          <a:bodyPr/>
          <a:lstStyle/>
          <a:p>
            <a:r>
              <a:rPr lang="en-US" sz="2399" b="1" dirty="0"/>
              <a:t>Four Key Types Supported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6B0A7-87CD-4939-B3C9-E7963BED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00458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809" y="685720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Oracle Fusion GUID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r>
              <a:rPr lang="en-US" sz="1866" dirty="0"/>
              <a:t>Generated in Oracle Fusion when a record is created </a:t>
            </a:r>
          </a:p>
          <a:p>
            <a:r>
              <a:rPr lang="en-US" sz="1866" dirty="0"/>
              <a:t>Hexadecimal value </a:t>
            </a:r>
          </a:p>
          <a:p>
            <a:r>
              <a:rPr lang="en-US" sz="1866" dirty="0"/>
              <a:t>Unique across all objects </a:t>
            </a:r>
          </a:p>
          <a:p>
            <a:r>
              <a:rPr lang="en-US" sz="1866" dirty="0"/>
              <a:t>Held in Integration Key Map </a:t>
            </a:r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91" y="1288703"/>
            <a:ext cx="10969943" cy="406294"/>
          </a:xfrm>
        </p:spPr>
        <p:txBody>
          <a:bodyPr/>
          <a:lstStyle/>
          <a:p>
            <a:r>
              <a:rPr lang="en-US" sz="2399" b="1" dirty="0"/>
              <a:t>Integration Key Generated by Fusion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805A7-AFD7-4B14-93D6-7490CB1D7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4826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54858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Oracle Fusion Surrogate ID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r>
              <a:rPr lang="en-US" sz="1866" dirty="0"/>
              <a:t>Generated in Oracle Fusion when the record is created </a:t>
            </a:r>
          </a:p>
          <a:p>
            <a:r>
              <a:rPr lang="en-US" sz="1866" dirty="0"/>
              <a:t>Numeric value </a:t>
            </a:r>
          </a:p>
          <a:p>
            <a:r>
              <a:rPr lang="en-US" sz="1866" dirty="0"/>
              <a:t>Unique only for the object type </a:t>
            </a:r>
          </a:p>
          <a:p>
            <a:r>
              <a:rPr lang="en-US" sz="1866" dirty="0"/>
              <a:t>Held against the object definition </a:t>
            </a:r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Fusion generated unique 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78B94-08EF-47FD-8D2D-E01A9FD54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9317"/>
      </p:ext>
    </p:extLst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2624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Source Keys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r>
              <a:rPr lang="en-US" sz="1866" dirty="0"/>
              <a:t>Two values combined: </a:t>
            </a:r>
          </a:p>
          <a:p>
            <a:pPr lvl="1"/>
            <a:r>
              <a:rPr lang="en-US" sz="1600" dirty="0"/>
              <a:t>SourceSystemOwner </a:t>
            </a:r>
          </a:p>
          <a:p>
            <a:pPr lvl="1"/>
            <a:r>
              <a:rPr lang="en-US" sz="1600" dirty="0"/>
              <a:t>SourceSystemID </a:t>
            </a:r>
          </a:p>
          <a:p>
            <a:r>
              <a:rPr lang="en-US" sz="1866" dirty="0"/>
              <a:t>Held in Integration Key Map </a:t>
            </a:r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Source System Key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5FFB5-7314-408E-B14B-8FE3C378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92187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90" y="52624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User Keys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r>
              <a:rPr lang="en-US" sz="1866" dirty="0"/>
              <a:t>Natural values </a:t>
            </a:r>
          </a:p>
          <a:p>
            <a:r>
              <a:rPr lang="en-US" sz="1866" dirty="0"/>
              <a:t>One or many attributes </a:t>
            </a:r>
          </a:p>
          <a:p>
            <a:r>
              <a:rPr lang="en-US" sz="1866" dirty="0"/>
              <a:t>Sometimes alternatives </a:t>
            </a:r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User Readable and Generated Keys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87C82-F03C-428D-B2EF-3D97FB349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72182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003" y="624597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Key Resolution Sequence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pPr marL="537499" indent="-457086">
              <a:buFont typeface="+mj-lt"/>
              <a:buAutoNum type="arabicPeriod"/>
            </a:pPr>
            <a:r>
              <a:rPr lang="en-US" sz="1866" dirty="0"/>
              <a:t>Source Keys</a:t>
            </a:r>
          </a:p>
          <a:p>
            <a:pPr marL="537499" indent="-457086">
              <a:buFont typeface="+mj-lt"/>
              <a:buAutoNum type="arabicPeriod"/>
            </a:pPr>
            <a:r>
              <a:rPr lang="en-US" sz="1866" dirty="0"/>
              <a:t>User Key</a:t>
            </a:r>
          </a:p>
          <a:p>
            <a:pPr marL="537499" indent="-457086">
              <a:buFont typeface="+mj-lt"/>
              <a:buAutoNum type="arabicPeriod"/>
            </a:pPr>
            <a:r>
              <a:rPr lang="en-US" sz="1866" dirty="0"/>
              <a:t>Oracle Fusion Surrogate ID</a:t>
            </a:r>
          </a:p>
          <a:p>
            <a:pPr marL="537499" indent="-457086">
              <a:buFont typeface="+mj-lt"/>
              <a:buAutoNum type="arabicPeriod"/>
            </a:pPr>
            <a:r>
              <a:rPr lang="en-US" sz="1866" dirty="0"/>
              <a:t>Oracle Fusion GUID</a:t>
            </a:r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0D1CC-4EE7-48A6-A8D0-AD586310B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44414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003" y="624597"/>
            <a:ext cx="10969924" cy="54186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91835" y="433755"/>
            <a:ext cx="10901093" cy="4815114"/>
          </a:xfrm>
        </p:spPr>
        <p:txBody>
          <a:bodyPr/>
          <a:lstStyle/>
          <a:p>
            <a:pPr>
              <a:buNone/>
            </a:pPr>
            <a:r>
              <a:rPr lang="en-US" dirty="0"/>
              <a:t>Classification of Keys based on storage location</a:t>
            </a:r>
          </a:p>
        </p:txBody>
      </p:sp>
      <p:sp>
        <p:nvSpPr>
          <p:cNvPr id="4" name="Slide Number Placeholder 2"/>
          <p:cNvSpPr txBox="1">
            <a:spLocks/>
          </p:cNvSpPr>
          <p:nvPr/>
        </p:nvSpPr>
        <p:spPr>
          <a:xfrm>
            <a:off x="11280537" y="6556248"/>
            <a:ext cx="381760" cy="1828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411788" y="2133600"/>
            <a:ext cx="2362200" cy="533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Oracle Fusion GUID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7588" y="2133600"/>
            <a:ext cx="2514600" cy="12192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Integration Key Map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3788" y="3733800"/>
            <a:ext cx="2514600" cy="12192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Belonging Object – Application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1788" y="2819400"/>
            <a:ext cx="2362200" cy="533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Source System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11788" y="3733800"/>
            <a:ext cx="2362200" cy="533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Oracle Fusion Surrogate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1788" y="4419600"/>
            <a:ext cx="2362200" cy="533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User Key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F8FF4E-FAE1-4F0B-8B82-B4D03C96C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14052"/>
      </p:ext>
    </p:extLst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02" y="91197"/>
            <a:ext cx="10969924" cy="54186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801034" y="-99645"/>
            <a:ext cx="10901093" cy="4815114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Key Generation on Data 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0416" y="4824046"/>
            <a:ext cx="1219200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GUID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416" y="3985846"/>
            <a:ext cx="4267200" cy="533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Creates 1 record in Integration Key Map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50816" y="2309446"/>
            <a:ext cx="2362200" cy="533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Load Worker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0416" y="5281246"/>
            <a:ext cx="1219200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SSID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41816" y="2309446"/>
            <a:ext cx="4267200" cy="533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Creates 1 record in Application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0016" y="2385646"/>
            <a:ext cx="1447800" cy="381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Person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0016" y="2919046"/>
            <a:ext cx="1447800" cy="533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Person Number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493816" y="2842846"/>
            <a:ext cx="0" cy="1143000"/>
          </a:xfrm>
          <a:prstGeom prst="straightConnector1">
            <a:avLst/>
          </a:prstGeom>
          <a:ln w="28575">
            <a:solidFill>
              <a:schemeClr val="accent5"/>
            </a:solidFill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5" idx="3"/>
            <a:endCxn id="17" idx="1"/>
          </p:cNvCxnSpPr>
          <p:nvPr/>
        </p:nvCxnSpPr>
        <p:spPr>
          <a:xfrm>
            <a:off x="3713016" y="2576146"/>
            <a:ext cx="1828800" cy="0"/>
          </a:xfrm>
          <a:prstGeom prst="straightConnector1">
            <a:avLst/>
          </a:prstGeom>
          <a:ln w="28575">
            <a:solidFill>
              <a:schemeClr val="accent5"/>
            </a:solidFill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0904B6B-82B9-40A9-8D1B-143D987F9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591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94026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Using Keys when CREATING objects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Source System Key and User Keys </a:t>
            </a:r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717" y="1645117"/>
            <a:ext cx="10792189" cy="3567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54FF4C-5939-456F-B51B-F535EF583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371498"/>
      </p:ext>
    </p:extLst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90" y="497439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Using Keys when UPDATING objects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Source System Key and User Keys </a:t>
            </a:r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627" y="1638768"/>
            <a:ext cx="10716009" cy="3580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7BFC29-7968-4BC0-A74E-D5BA52D97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20310"/>
      </p:ext>
    </p:extLst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491090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Using Keys when UPDATING objects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Fusion GUID and Fusion Surrogate Key </a:t>
            </a:r>
          </a:p>
        </p:txBody>
      </p:sp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0190" y="1645117"/>
            <a:ext cx="9763757" cy="3567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7A967D-D2CB-4709-9C57-565FF25F7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04194"/>
      </p:ext>
    </p:extLst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459" y="58386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Specifying Foreign Keys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4459" y="1251520"/>
            <a:ext cx="10855672" cy="3796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5709A0-E60C-40A3-9002-16ABA22CF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31179"/>
      </p:ext>
    </p:extLst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90" y="52624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Specifying Foreign Key Hints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Integration Keys supplied using hints </a:t>
            </a:r>
          </a:p>
        </p:txBody>
      </p:sp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0977" y="1537193"/>
            <a:ext cx="10754099" cy="3783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600070-6D74-4D82-9248-A994D228E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48121"/>
      </p:ext>
    </p:extLst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94026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Supplying Key Attributes Example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Using All Key Types</a:t>
            </a:r>
          </a:p>
        </p:txBody>
      </p:sp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9402" y="1689554"/>
            <a:ext cx="10881066" cy="1929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06F5BC-D036-4A1C-9102-C5287426E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36943"/>
      </p:ext>
    </p:extLst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488" y="4966291"/>
            <a:ext cx="5206815" cy="732143"/>
          </a:xfrm>
        </p:spPr>
        <p:txBody>
          <a:bodyPr>
            <a:normAutofit fontScale="90000"/>
          </a:bodyPr>
          <a:lstStyle/>
          <a:p>
            <a:r>
              <a:rPr lang="en-US" dirty="0"/>
              <a:t>Advance Data Loading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EF72BE-C431-41C4-8E18-DFC129B1E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32864"/>
      </p:ext>
    </p:extLst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003" y="624597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Advanced Data Loading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4082411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r>
              <a:rPr lang="en-US" sz="1866" dirty="0"/>
              <a:t>Flex fields </a:t>
            </a:r>
          </a:p>
          <a:p>
            <a:r>
              <a:rPr lang="en-US" sz="1866" dirty="0"/>
              <a:t>Attachments </a:t>
            </a:r>
          </a:p>
          <a:p>
            <a:r>
              <a:rPr lang="en-US" sz="1866" dirty="0"/>
              <a:t>Person Images </a:t>
            </a:r>
          </a:p>
          <a:p>
            <a:endParaRPr lang="en-US" sz="1866" dirty="0"/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60EB0-DE28-4EDE-BC48-8CC05F341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35668"/>
      </p:ext>
    </p:extLst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2624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Flex field Types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8"/>
            <a:ext cx="10969943" cy="5081943"/>
          </a:xfrm>
        </p:spPr>
        <p:txBody>
          <a:bodyPr/>
          <a:lstStyle/>
          <a:p>
            <a:pPr>
              <a:buNone/>
            </a:pPr>
            <a:r>
              <a:rPr lang="en-US" sz="1866" dirty="0"/>
              <a:t>HCM Data Loader supports the bulk loading of flex field attributes: </a:t>
            </a:r>
            <a:endParaRPr lang="en-US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DFFs and EFFs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265" y="1600200"/>
            <a:ext cx="2902688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Descriptive Flex Field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4265" y="1600200"/>
            <a:ext cx="594360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Extend the data model with additional attributes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Provides a set amount of segments for an 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265" y="3276600"/>
            <a:ext cx="2902688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Extensible Flex 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4265" y="3276600"/>
            <a:ext cx="594360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Similar to DFF but the number of segments are not fixed.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265" y="4876800"/>
            <a:ext cx="2902688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Key Flex Field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4265" y="4876800"/>
            <a:ext cx="594360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Not included in the scope of HDL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E03C01-CE70-4738-B3E9-4DD373DDC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52860"/>
      </p:ext>
    </p:extLst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44601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Descriptive Flexfield Code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84" y="1834662"/>
            <a:ext cx="885825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68971" y="1119032"/>
            <a:ext cx="10969924" cy="5418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charset="0"/>
                <a:ea typeface="+mn-ea"/>
                <a:cs typeface="Arial" charset="0"/>
              </a:rPr>
              <a:t>Single FF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51033" y="3339612"/>
            <a:ext cx="10969924" cy="5418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charset="0"/>
                <a:ea typeface="+mn-ea"/>
                <a:cs typeface="Arial" charset="0"/>
              </a:rPr>
              <a:t>Multiple FF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32" y="4130919"/>
            <a:ext cx="87630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05F91F-D59A-4AF6-A36B-C47CEC66C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2354"/>
      </p:ext>
    </p:extLst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639619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Extensible Flexfield Context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750" y="1302305"/>
            <a:ext cx="10614435" cy="3593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26D9FC-ECF9-4F2E-9516-CEEB2B640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28790"/>
      </p:ext>
    </p:extLst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487950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Lookup Validated Flexfield Attributes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9"/>
            <a:ext cx="10969943" cy="2313329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pPr>
              <a:buNone/>
            </a:pPr>
            <a:r>
              <a:rPr lang="en-US" sz="1866" dirty="0"/>
              <a:t>Two separate attribute names required in METADATA </a:t>
            </a:r>
          </a:p>
          <a:p>
            <a:pPr lvl="1"/>
            <a:r>
              <a:rPr lang="en-US" sz="1600" dirty="0"/>
              <a:t>Template file attribute name: Lookup Code only </a:t>
            </a:r>
          </a:p>
          <a:p>
            <a:pPr lvl="1"/>
            <a:r>
              <a:rPr lang="en-US" sz="1600" dirty="0"/>
              <a:t>Add _Display to the name: Meaning only </a:t>
            </a:r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Attributes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7324" y="3460744"/>
            <a:ext cx="10131961" cy="2221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0C58C1-639A-469D-BED8-928FCBBB3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94745"/>
      </p:ext>
    </p:extLst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1025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Supplying Flexfield Data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8470283" y="1166458"/>
            <a:ext cx="3522645" cy="4763791"/>
          </a:xfrm>
        </p:spPr>
        <p:txBody>
          <a:bodyPr/>
          <a:lstStyle/>
          <a:p>
            <a:endParaRPr lang="en-US" sz="1866" dirty="0"/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Summary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1031" y="1148862"/>
            <a:ext cx="10901911" cy="5017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CE2432-EABF-41BA-8783-0E1DB3F1D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40293"/>
      </p:ext>
    </p:extLst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1025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Supplying Flexfield Data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8470283" y="1166458"/>
            <a:ext cx="3522645" cy="4763791"/>
          </a:xfrm>
        </p:spPr>
        <p:txBody>
          <a:bodyPr/>
          <a:lstStyle/>
          <a:p>
            <a:endParaRPr lang="en-US" sz="1866" dirty="0"/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Setups in UI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2590" y="1676402"/>
            <a:ext cx="11582399" cy="312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A6DB65-96FE-49B1-9531-A4F1D9390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73530"/>
      </p:ext>
    </p:extLst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1025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Supplying Flexfield Data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8470283" y="1166458"/>
            <a:ext cx="3522645" cy="4763791"/>
          </a:xfrm>
        </p:spPr>
        <p:txBody>
          <a:bodyPr/>
          <a:lstStyle/>
          <a:p>
            <a:endParaRPr lang="en-US" sz="1866" dirty="0"/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Flex field Attributes in UI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9788" y="1524002"/>
            <a:ext cx="10209212" cy="3923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65C111-65F7-4F61-AA04-B27BAFFE6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51561"/>
      </p:ext>
    </p:extLst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1025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Supplying Flexfield Data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8470283" y="1166458"/>
            <a:ext cx="3522645" cy="4763791"/>
          </a:xfrm>
        </p:spPr>
        <p:txBody>
          <a:bodyPr/>
          <a:lstStyle/>
          <a:p>
            <a:endParaRPr lang="en-US" sz="1866" dirty="0"/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Flex field Segments in UI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2188" y="1611923"/>
            <a:ext cx="10287263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D93FD0-41C8-4FE0-AE9F-7CADD8432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93829"/>
      </p:ext>
    </p:extLst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46485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Attachment &amp; Large Objects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234" y="1088345"/>
            <a:ext cx="10804884" cy="4873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C0C0B8-E32C-4FDD-A55E-27770B421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32637"/>
      </p:ext>
    </p:extLst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003" y="539259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Attachment &amp; Large Objects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166459"/>
            <a:ext cx="10969943" cy="2313329"/>
          </a:xfrm>
        </p:spPr>
        <p:txBody>
          <a:bodyPr/>
          <a:lstStyle/>
          <a:p>
            <a:endParaRPr lang="en-US" sz="1866" dirty="0"/>
          </a:p>
          <a:p>
            <a:pPr>
              <a:buNone/>
            </a:pPr>
            <a:r>
              <a:rPr lang="en-US" sz="1866" dirty="0"/>
              <a:t>Data-type-specific folder within the zip file: </a:t>
            </a:r>
          </a:p>
          <a:p>
            <a:pPr lvl="1"/>
            <a:r>
              <a:rPr lang="en-US" sz="1600" dirty="0"/>
              <a:t>BlobFiles </a:t>
            </a:r>
          </a:p>
          <a:p>
            <a:pPr lvl="1"/>
            <a:r>
              <a:rPr lang="en-US" sz="1600" dirty="0"/>
              <a:t>ClobFiles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3168" y="3359170"/>
            <a:ext cx="10131961" cy="151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A49A3D-91BC-4F13-A826-E4CE801B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83862"/>
      </p:ext>
    </p:extLst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22" y="595014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Attachment &amp; Large Objects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4345" y="1422924"/>
            <a:ext cx="10703312" cy="4012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AE6DE2-0A2B-4741-9415-1E7473E8D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56583"/>
      </p:ext>
    </p:extLst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469" y="628654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Person Images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13417" y="889662"/>
            <a:ext cx="4545416" cy="3605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3389" y="4787547"/>
            <a:ext cx="10411288" cy="1015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1804A4-6EF0-4627-9268-7DADBD1EE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61384"/>
      </p:ext>
    </p:extLst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FB6D-B83F-4E76-9542-037C159E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746" y="5133561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dirty="0"/>
              <a:t>Date Effective Business Objects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F01D0-D755-40FB-ABB2-B663E9B6E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12416"/>
      </p:ext>
    </p:extLst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90" y="526243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Date Effective Attributes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Attributes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3840" y="1416576"/>
            <a:ext cx="10792189" cy="399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5D88AC-E34A-4B18-ADDE-6C91F1FA6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52356"/>
      </p:ext>
    </p:extLst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15495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Rules for Supplying Date-Effective and MCPD History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1022985" y="1394998"/>
            <a:ext cx="10969943" cy="3748056"/>
          </a:xfrm>
        </p:spPr>
        <p:txBody>
          <a:bodyPr>
            <a:normAutofit/>
          </a:bodyPr>
          <a:lstStyle/>
          <a:p>
            <a:endParaRPr lang="en-US" sz="1866" dirty="0"/>
          </a:p>
          <a:p>
            <a:r>
              <a:rPr lang="en-US" sz="1866" dirty="0"/>
              <a:t>No gaps in the date effective history. </a:t>
            </a:r>
          </a:p>
          <a:p>
            <a:r>
              <a:rPr lang="en-US" sz="1866" dirty="0"/>
              <a:t>The unique key is identical over all date effective records. </a:t>
            </a:r>
          </a:p>
          <a:p>
            <a:r>
              <a:rPr lang="en-US" sz="1866" dirty="0"/>
              <a:t>The EffectiveSequence starts at 1 for all new effective start dates and is sequential for matching effective start dates. </a:t>
            </a:r>
          </a:p>
          <a:p>
            <a:r>
              <a:rPr lang="en-US" sz="1866" dirty="0"/>
              <a:t>The EffectiveLatestChange is always N when the record is not the latest change for an effective start date and Y when it is. </a:t>
            </a:r>
          </a:p>
          <a:p>
            <a:r>
              <a:rPr lang="en-US" sz="1866" dirty="0"/>
              <a:t>The EffectiveEndDate matches the EffectiveStartDate when the MCPD record is not the latest change for an effective start date. </a:t>
            </a:r>
          </a:p>
          <a:p>
            <a:pPr lvl="1"/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New Objects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9BD0FB-C38E-4CEE-9590-FFE3A33E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9855"/>
      </p:ext>
    </p:extLst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21404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Date Effective Attributes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Attributes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692" y="2127591"/>
            <a:ext cx="11820621" cy="2171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BC2EE5-3334-4BA1-8793-87A032E2D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61895"/>
      </p:ext>
    </p:extLst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410" y="595014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Rules for Supplying Date-Effective and MCPD History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1313" y="1302307"/>
            <a:ext cx="9916117" cy="3288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79CB63-4AE3-483E-ADD3-FC8005D27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20879"/>
      </p:ext>
    </p:extLst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EFE1-E359-4722-BA79-D5ABE5FE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61" y="5311980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dirty="0"/>
              <a:t>Error Management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39257-2824-4C19-ABC6-356DFF74C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01887"/>
      </p:ext>
    </p:extLst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94026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HCM Data Loader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Data Set Errors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0020" y="1378485"/>
            <a:ext cx="10665222" cy="4101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982620-439D-4250-B72C-326A84FE3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75711"/>
      </p:ext>
    </p:extLst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532555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HCM Data Loader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Data Set Errors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627" y="1340395"/>
            <a:ext cx="10455727" cy="4507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C158C3-C111-4E65-81A6-0999A9E34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98789"/>
      </p:ext>
    </p:extLst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71" y="456067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HCM Data Loader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Data Set Errors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1723" y="1130898"/>
            <a:ext cx="8437622" cy="476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0525" y="1334046"/>
            <a:ext cx="2374282" cy="264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96351B-2332-47CA-A85B-1C646410E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70576"/>
      </p:ext>
    </p:extLst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501" y="556279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HCM Data Loader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3772" y="864956"/>
            <a:ext cx="10969943" cy="406294"/>
          </a:xfrm>
        </p:spPr>
        <p:txBody>
          <a:bodyPr/>
          <a:lstStyle/>
          <a:p>
            <a:r>
              <a:rPr lang="en-US" sz="2399" b="1" dirty="0"/>
              <a:t>Debugging &amp; Diagnostics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120" y="1270660"/>
            <a:ext cx="9785268" cy="4794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0C48BE-3F5B-4CAC-92A9-1E024FE63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46723"/>
      </p:ext>
    </p:extLst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003" y="614432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Record Counts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8470283" y="1166458"/>
            <a:ext cx="3522645" cy="4763791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pPr>
              <a:buNone/>
            </a:pPr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1815" y="1144417"/>
            <a:ext cx="10793219" cy="48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CDE3AA-B658-44E6-8D63-CCA7084DC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201551"/>
      </p:ext>
    </p:extLst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003" y="620781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sz="3199" dirty="0"/>
              <a:t>Reviewing Messages </a:t>
            </a:r>
            <a:br>
              <a:rPr lang="en-US" dirty="0"/>
            </a:br>
            <a:endParaRPr lang="en-US" sz="3199" dirty="0"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2"/>
          </p:nvPr>
        </p:nvSpPr>
        <p:spPr>
          <a:xfrm>
            <a:off x="8470283" y="1166458"/>
            <a:ext cx="3522645" cy="4763791"/>
          </a:xfrm>
        </p:spPr>
        <p:txBody>
          <a:bodyPr/>
          <a:lstStyle/>
          <a:p>
            <a:endParaRPr lang="en-US" sz="1866" dirty="0"/>
          </a:p>
          <a:p>
            <a:endParaRPr lang="en-US" sz="1866" dirty="0"/>
          </a:p>
          <a:p>
            <a:r>
              <a:rPr lang="en-US" sz="1866" dirty="0"/>
              <a:t>Review summary of messages raised </a:t>
            </a:r>
          </a:p>
          <a:p>
            <a:r>
              <a:rPr lang="en-US" sz="1866" dirty="0"/>
              <a:t>Number of occurrences of each message provided </a:t>
            </a:r>
          </a:p>
          <a:p>
            <a:r>
              <a:rPr lang="en-US" sz="1866" dirty="0"/>
              <a:t>Message summary can be extracted to spreadsheet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5681" y="1118397"/>
            <a:ext cx="7913815" cy="4898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584901-D05F-4D4E-9BC7-DB2390CDC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053498"/>
      </p:ext>
    </p:extLst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EFE1-E359-4722-BA79-D5ABE5FE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61" y="5311980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dirty="0"/>
              <a:t>Q&amp;A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3E4BBD-DFF3-43C9-9221-FC80A938C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64847"/>
      </p:ext>
    </p:extLst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EFE1-E359-4722-BA79-D5ABE5FE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61" y="5311980"/>
            <a:ext cx="10969924" cy="541860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77DEE4-8BDB-4049-B89B-4B7D0CB33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20455"/>
      </p:ext>
    </p:extLst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165" y="890955"/>
            <a:ext cx="9660877" cy="4732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768417-4B5B-4247-920E-E66AF47CA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552" y="306848"/>
            <a:ext cx="16287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8200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Basis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6B6E64B1CBE4AB9F8A850B1198A1B" ma:contentTypeVersion="9" ma:contentTypeDescription="Create a new document." ma:contentTypeScope="" ma:versionID="9641eac376ccf8f5d359f251eea36c9d">
  <xsd:schema xmlns:xsd="http://www.w3.org/2001/XMLSchema" xmlns:xs="http://www.w3.org/2001/XMLSchema" xmlns:p="http://schemas.microsoft.com/office/2006/metadata/properties" xmlns:ns2="00c57201-2a37-43cf-8393-34bffeca4fdf" xmlns:ns3="7b944fbe-7edc-4a10-9808-a42621ea6df8" targetNamespace="http://schemas.microsoft.com/office/2006/metadata/properties" ma:root="true" ma:fieldsID="3d56e6eaf00a3ca16710a90ca6c0d9e4" ns2:_="" ns3:_="">
    <xsd:import namespace="00c57201-2a37-43cf-8393-34bffeca4fdf"/>
    <xsd:import namespace="7b944fbe-7edc-4a10-9808-a42621ea6d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c57201-2a37-43cf-8393-34bffeca4f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44fbe-7edc-4a10-9808-a42621ea6df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0BA369-6D2B-4509-8353-BC1A8BC35B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88C48E-C9C3-4D08-A95F-B0987311B9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c57201-2a37-43cf-8393-34bffeca4fdf"/>
    <ds:schemaRef ds:uri="7b944fbe-7edc-4a10-9808-a42621ea6d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3F9F4E-59B5-4AF8-9011-A384348B501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104</TotalTime>
  <Words>1424</Words>
  <Application>Microsoft Office PowerPoint</Application>
  <PresentationFormat>Widescreen</PresentationFormat>
  <Paragraphs>322</Paragraphs>
  <Slides>87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2" baseType="lpstr">
      <vt:lpstr>Arial</vt:lpstr>
      <vt:lpstr>Calibri</vt:lpstr>
      <vt:lpstr>Corbel</vt:lpstr>
      <vt:lpstr>Wingdings</vt:lpstr>
      <vt:lpstr>Basis</vt:lpstr>
      <vt:lpstr>HCM Data Loader</vt:lpstr>
      <vt:lpstr>Agenda</vt:lpstr>
      <vt:lpstr>Introduction</vt:lpstr>
      <vt:lpstr>Data Loader </vt:lpstr>
      <vt:lpstr>Features</vt:lpstr>
      <vt:lpstr>Job Roles that give access to HDL</vt:lpstr>
      <vt:lpstr>HCM Data Loader - Data Flow</vt:lpstr>
      <vt:lpstr>Comprehensive Bulk Loading Capabilities  </vt:lpstr>
      <vt:lpstr>Comprehensive Bulk Loading Capabilities</vt:lpstr>
      <vt:lpstr>HCM Data Loader Supported Business Objects</vt:lpstr>
      <vt:lpstr>Reviewing Supported Business Objects</vt:lpstr>
      <vt:lpstr>Business Object Spreadsheets</vt:lpstr>
      <vt:lpstr>White Papers</vt:lpstr>
      <vt:lpstr>Process Flow</vt:lpstr>
      <vt:lpstr>Data Loader Process Flow</vt:lpstr>
      <vt:lpstr>File Format </vt:lpstr>
      <vt:lpstr>Understanding the Business Object Shape</vt:lpstr>
      <vt:lpstr>Understanding the Business Object Shape: Job</vt:lpstr>
      <vt:lpstr>Understanding the Business Object Shape: Job</vt:lpstr>
      <vt:lpstr>Business Object File Shape</vt:lpstr>
      <vt:lpstr>Business Object File Shape</vt:lpstr>
      <vt:lpstr>Supported File Line Instructions</vt:lpstr>
      <vt:lpstr>Definition and Data Line Structure </vt:lpstr>
      <vt:lpstr>File Discriminators</vt:lpstr>
      <vt:lpstr>Data Lines </vt:lpstr>
      <vt:lpstr>File Discriminators</vt:lpstr>
      <vt:lpstr>Define Attributes</vt:lpstr>
      <vt:lpstr>Attribute Order </vt:lpstr>
      <vt:lpstr>File Line Instructions </vt:lpstr>
      <vt:lpstr>SET and COMMENT Line Structure </vt:lpstr>
      <vt:lpstr>Business Object ‘dat’ File Format </vt:lpstr>
      <vt:lpstr>Dat File Instructions </vt:lpstr>
      <vt:lpstr>Supported Business Object File Names </vt:lpstr>
      <vt:lpstr>Zip File Structure </vt:lpstr>
      <vt:lpstr>Data Values</vt:lpstr>
      <vt:lpstr>Data Values  </vt:lpstr>
      <vt:lpstr>Number, Date and Time Formats</vt:lpstr>
      <vt:lpstr>Reserved Characters – File Delimiter </vt:lpstr>
      <vt:lpstr>Reserved Characters – New Line</vt:lpstr>
      <vt:lpstr>Retaining Existing Values </vt:lpstr>
      <vt:lpstr>Setting Not Null Values to Null</vt:lpstr>
      <vt:lpstr>Lookup Validated Attributes </vt:lpstr>
      <vt:lpstr>Keys</vt:lpstr>
      <vt:lpstr>Keys  </vt:lpstr>
      <vt:lpstr>HCM Data Loader Supported Keys  </vt:lpstr>
      <vt:lpstr>Oracle Fusion GUID  </vt:lpstr>
      <vt:lpstr>Oracle Fusion Surrogate ID  </vt:lpstr>
      <vt:lpstr>Source Keys  </vt:lpstr>
      <vt:lpstr>User Keys  </vt:lpstr>
      <vt:lpstr>Key Resolution Sequence  </vt:lpstr>
      <vt:lpstr> </vt:lpstr>
      <vt:lpstr> </vt:lpstr>
      <vt:lpstr>Using Keys when CREATING objects  </vt:lpstr>
      <vt:lpstr>Using Keys when UPDATING objects  </vt:lpstr>
      <vt:lpstr>Using Keys when UPDATING objects  </vt:lpstr>
      <vt:lpstr>Specifying Foreign Keys  </vt:lpstr>
      <vt:lpstr>Specifying Foreign Key Hints  </vt:lpstr>
      <vt:lpstr>Supplying Key Attributes Example  </vt:lpstr>
      <vt:lpstr>Advance Data Loading</vt:lpstr>
      <vt:lpstr>Advanced Data Loading  </vt:lpstr>
      <vt:lpstr>Flex field Types  </vt:lpstr>
      <vt:lpstr>Descriptive Flexfield Code  </vt:lpstr>
      <vt:lpstr>Extensible Flexfield Context  </vt:lpstr>
      <vt:lpstr>Lookup Validated Flexfield Attributes  </vt:lpstr>
      <vt:lpstr>Supplying Flexfield Data  </vt:lpstr>
      <vt:lpstr>Supplying Flexfield Data  </vt:lpstr>
      <vt:lpstr>Supplying Flexfield Data  </vt:lpstr>
      <vt:lpstr>Supplying Flexfield Data  </vt:lpstr>
      <vt:lpstr>Attachment &amp; Large Objects  </vt:lpstr>
      <vt:lpstr>Attachment &amp; Large Objects  </vt:lpstr>
      <vt:lpstr>Attachment &amp; Large Objects  </vt:lpstr>
      <vt:lpstr>Person Images  </vt:lpstr>
      <vt:lpstr>Date Effective Business Objects</vt:lpstr>
      <vt:lpstr>Date Effective Attributes  </vt:lpstr>
      <vt:lpstr>Rules for Supplying Date-Effective and MCPD History  </vt:lpstr>
      <vt:lpstr>Date Effective Attributes  </vt:lpstr>
      <vt:lpstr>Rules for Supplying Date-Effective and MCPD History  </vt:lpstr>
      <vt:lpstr>Error Management</vt:lpstr>
      <vt:lpstr>HCM Data Loader  </vt:lpstr>
      <vt:lpstr>HCM Data Loader  </vt:lpstr>
      <vt:lpstr>HCM Data Loader  </vt:lpstr>
      <vt:lpstr>HCM Data Loader  </vt:lpstr>
      <vt:lpstr>Record Counts  </vt:lpstr>
      <vt:lpstr>Reviewing Messages  </vt:lpstr>
      <vt:lpstr>Q&amp;A</vt:lpstr>
      <vt:lpstr>Thank You!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venugopal reddy</dc:creator>
  <cp:lastModifiedBy>Kotha kasi Viswanadh</cp:lastModifiedBy>
  <cp:revision>104</cp:revision>
  <dcterms:created xsi:type="dcterms:W3CDTF">2021-04-19T10:35:13Z</dcterms:created>
  <dcterms:modified xsi:type="dcterms:W3CDTF">2023-05-04T15:13:30Z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0x0101001B26B6E64B1CBE4AB9F8A850B1198A1B</vt:lpwstr>
  </property>
  <property fmtid="{D5CDD505-2E9C-101B-9397-08002B2CF9AE}" pid="3" name="MSIP_Label_6ff5c69e-9d09-4250-825e-b99a9d4db320_Enabled">
    <vt:lpwstr>true</vt:lpwstr>
  </property>
  <property fmtid="{D5CDD505-2E9C-101B-9397-08002B2CF9AE}" pid="4" name="MSIP_Label_6ff5c69e-9d09-4250-825e-b99a9d4db320_SetDate">
    <vt:lpwstr>2022-11-23T11:42:26Z</vt:lpwstr>
  </property>
  <property fmtid="{D5CDD505-2E9C-101B-9397-08002B2CF9AE}" pid="5" name="MSIP_Label_6ff5c69e-9d09-4250-825e-b99a9d4db320_Method">
    <vt:lpwstr>Standard</vt:lpwstr>
  </property>
  <property fmtid="{D5CDD505-2E9C-101B-9397-08002B2CF9AE}" pid="6" name="MSIP_Label_6ff5c69e-9d09-4250-825e-b99a9d4db320_Name">
    <vt:lpwstr>General</vt:lpwstr>
  </property>
  <property fmtid="{D5CDD505-2E9C-101B-9397-08002B2CF9AE}" pid="7" name="MSIP_Label_6ff5c69e-9d09-4250-825e-b99a9d4db320_SiteId">
    <vt:lpwstr>d79da2e9-d03a-4707-9da7-67a34ac6465c</vt:lpwstr>
  </property>
  <property fmtid="{D5CDD505-2E9C-101B-9397-08002B2CF9AE}" pid="8" name="MSIP_Label_6ff5c69e-9d09-4250-825e-b99a9d4db320_ActionId">
    <vt:lpwstr>bf5a2e0f-7187-48ca-bfb1-a60e56ed15bc</vt:lpwstr>
  </property>
  <property fmtid="{D5CDD505-2E9C-101B-9397-08002B2CF9AE}" pid="9" name="MSIP_Label_6ff5c69e-9d09-4250-825e-b99a9d4db320_ContentBits">
    <vt:lpwstr>0</vt:lpwstr>
  </property>
</Properties>
</file>