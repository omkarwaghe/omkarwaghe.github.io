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63"/>
  </p:notesMasterIdLst>
  <p:handoutMasterIdLst>
    <p:handoutMasterId r:id="rId64"/>
  </p:handoutMasterIdLst>
  <p:sldIdLst>
    <p:sldId id="542" r:id="rId5"/>
    <p:sldId id="543" r:id="rId6"/>
    <p:sldId id="544" r:id="rId7"/>
    <p:sldId id="596" r:id="rId8"/>
    <p:sldId id="546" r:id="rId9"/>
    <p:sldId id="547" r:id="rId10"/>
    <p:sldId id="597" r:id="rId11"/>
    <p:sldId id="598" r:id="rId12"/>
    <p:sldId id="599" r:id="rId13"/>
    <p:sldId id="548" r:id="rId14"/>
    <p:sldId id="600" r:id="rId15"/>
    <p:sldId id="553" r:id="rId16"/>
    <p:sldId id="554" r:id="rId17"/>
    <p:sldId id="555" r:id="rId18"/>
    <p:sldId id="601" r:id="rId19"/>
    <p:sldId id="556" r:id="rId20"/>
    <p:sldId id="602" r:id="rId21"/>
    <p:sldId id="603" r:id="rId22"/>
    <p:sldId id="614" r:id="rId23"/>
    <p:sldId id="557" r:id="rId24"/>
    <p:sldId id="558" r:id="rId25"/>
    <p:sldId id="604" r:id="rId26"/>
    <p:sldId id="605" r:id="rId27"/>
    <p:sldId id="606" r:id="rId28"/>
    <p:sldId id="607" r:id="rId29"/>
    <p:sldId id="560" r:id="rId30"/>
    <p:sldId id="623" r:id="rId31"/>
    <p:sldId id="624" r:id="rId32"/>
    <p:sldId id="625" r:id="rId33"/>
    <p:sldId id="626" r:id="rId34"/>
    <p:sldId id="627" r:id="rId35"/>
    <p:sldId id="628" r:id="rId36"/>
    <p:sldId id="561" r:id="rId37"/>
    <p:sldId id="562" r:id="rId38"/>
    <p:sldId id="563" r:id="rId39"/>
    <p:sldId id="564" r:id="rId40"/>
    <p:sldId id="565" r:id="rId41"/>
    <p:sldId id="566" r:id="rId42"/>
    <p:sldId id="567" r:id="rId43"/>
    <p:sldId id="568" r:id="rId44"/>
    <p:sldId id="578" r:id="rId45"/>
    <p:sldId id="579" r:id="rId46"/>
    <p:sldId id="618" r:id="rId47"/>
    <p:sldId id="617" r:id="rId48"/>
    <p:sldId id="619" r:id="rId49"/>
    <p:sldId id="620" r:id="rId50"/>
    <p:sldId id="621" r:id="rId51"/>
    <p:sldId id="622" r:id="rId52"/>
    <p:sldId id="581" r:id="rId53"/>
    <p:sldId id="582" r:id="rId54"/>
    <p:sldId id="583" r:id="rId55"/>
    <p:sldId id="584" r:id="rId56"/>
    <p:sldId id="585" r:id="rId57"/>
    <p:sldId id="593" r:id="rId58"/>
    <p:sldId id="615" r:id="rId59"/>
    <p:sldId id="616" r:id="rId60"/>
    <p:sldId id="594" r:id="rId61"/>
    <p:sldId id="595" r:id="rId62"/>
  </p:sldIdLst>
  <p:sldSz cx="12188825" cy="6858000"/>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guide id="8" pos="453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95B"/>
    <a:srgbClr val="4937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B6C64-F63D-466A-8425-4DA35A9F7034}" v="1" dt="2023-05-04T16:02:08.090"/>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15" autoAdjust="0"/>
    <p:restoredTop sz="93899" autoAdjust="0"/>
  </p:normalViewPr>
  <p:slideViewPr>
    <p:cSldViewPr snapToGrid="0">
      <p:cViewPr varScale="1">
        <p:scale>
          <a:sx n="65" d="100"/>
          <a:sy n="65" d="100"/>
        </p:scale>
        <p:origin x="984" y="60"/>
      </p:cViewPr>
      <p:guideLst>
        <p:guide orient="horz" pos="2160"/>
        <p:guide orient="horz" pos="3744"/>
        <p:guide orient="horz" pos="960"/>
        <p:guide orient="horz" pos="1248"/>
        <p:guide pos="3839"/>
        <p:guide pos="7343"/>
        <p:guide pos="335"/>
        <p:guide pos="4534"/>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tha kasi Viswanadh" userId="65574f05-85aa-48e7-acdf-150602ae9972" providerId="ADAL" clId="{12DB6C64-F63D-466A-8425-4DA35A9F7034}"/>
    <pc:docChg chg="delSld modSld">
      <pc:chgData name="Kotha kasi Viswanadh" userId="65574f05-85aa-48e7-acdf-150602ae9972" providerId="ADAL" clId="{12DB6C64-F63D-466A-8425-4DA35A9F7034}" dt="2023-05-04T16:02:08.090" v="10"/>
      <pc:docMkLst>
        <pc:docMk/>
      </pc:docMkLst>
      <pc:sldChg chg="modSp mod">
        <pc:chgData name="Kotha kasi Viswanadh" userId="65574f05-85aa-48e7-acdf-150602ae9972" providerId="ADAL" clId="{12DB6C64-F63D-466A-8425-4DA35A9F7034}" dt="2023-04-29T06:42:14.664" v="5" actId="20577"/>
        <pc:sldMkLst>
          <pc:docMk/>
          <pc:sldMk cId="3853802008" sldId="543"/>
        </pc:sldMkLst>
        <pc:spChg chg="mod">
          <ac:chgData name="Kotha kasi Viswanadh" userId="65574f05-85aa-48e7-acdf-150602ae9972" providerId="ADAL" clId="{12DB6C64-F63D-466A-8425-4DA35A9F7034}" dt="2023-04-29T06:42:14.664" v="5" actId="20577"/>
          <ac:spMkLst>
            <pc:docMk/>
            <pc:sldMk cId="3853802008" sldId="543"/>
            <ac:spMk id="3" creationId="{00000000-0000-0000-0000-000000000000}"/>
          </ac:spMkLst>
        </pc:spChg>
      </pc:sldChg>
      <pc:sldChg chg="del">
        <pc:chgData name="Kotha kasi Viswanadh" userId="65574f05-85aa-48e7-acdf-150602ae9972" providerId="ADAL" clId="{12DB6C64-F63D-466A-8425-4DA35A9F7034}" dt="2023-04-29T06:43:06.223" v="6" actId="2696"/>
        <pc:sldMkLst>
          <pc:docMk/>
          <pc:sldMk cId="1487100712" sldId="549"/>
        </pc:sldMkLst>
      </pc:sldChg>
      <pc:sldChg chg="del">
        <pc:chgData name="Kotha kasi Viswanadh" userId="65574f05-85aa-48e7-acdf-150602ae9972" providerId="ADAL" clId="{12DB6C64-F63D-466A-8425-4DA35A9F7034}" dt="2023-04-29T06:43:13.506" v="7" actId="2696"/>
        <pc:sldMkLst>
          <pc:docMk/>
          <pc:sldMk cId="871840400" sldId="550"/>
        </pc:sldMkLst>
      </pc:sldChg>
      <pc:sldChg chg="del">
        <pc:chgData name="Kotha kasi Viswanadh" userId="65574f05-85aa-48e7-acdf-150602ae9972" providerId="ADAL" clId="{12DB6C64-F63D-466A-8425-4DA35A9F7034}" dt="2023-04-29T06:43:30.878" v="8" actId="2696"/>
        <pc:sldMkLst>
          <pc:docMk/>
          <pc:sldMk cId="3730383806" sldId="551"/>
        </pc:sldMkLst>
      </pc:sldChg>
      <pc:sldChg chg="del">
        <pc:chgData name="Kotha kasi Viswanadh" userId="65574f05-85aa-48e7-acdf-150602ae9972" providerId="ADAL" clId="{12DB6C64-F63D-466A-8425-4DA35A9F7034}" dt="2023-04-29T06:43:34.590" v="9" actId="2696"/>
        <pc:sldMkLst>
          <pc:docMk/>
          <pc:sldMk cId="1560952065" sldId="552"/>
        </pc:sldMkLst>
      </pc:sldChg>
      <pc:sldChg chg="modSp">
        <pc:chgData name="Kotha kasi Viswanadh" userId="65574f05-85aa-48e7-acdf-150602ae9972" providerId="ADAL" clId="{12DB6C64-F63D-466A-8425-4DA35A9F7034}" dt="2023-05-04T16:02:08.090" v="10"/>
        <pc:sldMkLst>
          <pc:docMk/>
          <pc:sldMk cId="1527583555" sldId="615"/>
        </pc:sldMkLst>
        <pc:graphicFrameChg chg="mod">
          <ac:chgData name="Kotha kasi Viswanadh" userId="65574f05-85aa-48e7-acdf-150602ae9972" providerId="ADAL" clId="{12DB6C64-F63D-466A-8425-4DA35A9F7034}" dt="2023-05-04T16:02:08.090" v="10"/>
          <ac:graphicFrameMkLst>
            <pc:docMk/>
            <pc:sldMk cId="1527583555" sldId="615"/>
            <ac:graphicFrameMk id="52227"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t>5/4/2023</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t>‹#›</a:t>
            </a:fld>
            <a:endParaRPr dirty="0"/>
          </a:p>
        </p:txBody>
      </p:sp>
    </p:spTree>
    <p:extLst>
      <p:ext uri="{BB962C8B-B14F-4D97-AF65-F5344CB8AC3E}">
        <p14:creationId xmlns:p14="http://schemas.microsoft.com/office/powerpoint/2010/main" val="19668118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t>‹#›</a:t>
            </a:fld>
            <a:endParaRPr dirty="0"/>
          </a:p>
        </p:txBody>
      </p:sp>
    </p:spTree>
    <p:extLst>
      <p:ext uri="{BB962C8B-B14F-4D97-AF65-F5344CB8AC3E}">
        <p14:creationId xmlns:p14="http://schemas.microsoft.com/office/powerpoint/2010/main" val="9731149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Bef>
        <a:spcPts val="600"/>
      </a:spcBef>
      <a:defRPr sz="1100" kern="1200">
        <a:solidFill>
          <a:srgbClr val="000000"/>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rgbClr val="000000"/>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rgbClr val="000000"/>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rgbClr val="000000"/>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rgbClr val="000000"/>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xfrm>
            <a:off x="382588" y="381000"/>
            <a:ext cx="4572000" cy="2573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0A68E138-C444-4B40-B2EA-6EDCDFD50F22}" type="slidenum">
              <a:rPr lang="en-US" smtClean="0"/>
              <a:pPr/>
              <a:t>58</a:t>
            </a:fld>
            <a:endParaRPr lang="en-US"/>
          </a:p>
        </p:txBody>
      </p:sp>
      <p:sp>
        <p:nvSpPr>
          <p:cNvPr id="72707" name="Rectangle 2"/>
          <p:cNvSpPr>
            <a:spLocks noGrp="1" noRot="1" noChangeAspect="1" noChangeArrowheads="1" noTextEdit="1"/>
          </p:cNvSpPr>
          <p:nvPr>
            <p:ph type="sldImg"/>
          </p:nvPr>
        </p:nvSpPr>
        <p:spPr>
          <a:xfrm>
            <a:off x="382588" y="381000"/>
            <a:ext cx="4572000" cy="2573338"/>
          </a:xfrm>
          <a:ln/>
        </p:spPr>
      </p:sp>
      <p:sp>
        <p:nvSpPr>
          <p:cNvPr id="727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A24D3-1146-4168-82DA-9ADC1AA3AEDF}"/>
              </a:ext>
            </a:extLst>
          </p:cNvPr>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endParaRPr lang="en-IN"/>
          </a:p>
        </p:txBody>
      </p:sp>
      <p:sp>
        <p:nvSpPr>
          <p:cNvPr id="3" name="Subtitle 2">
            <a:extLst>
              <a:ext uri="{FF2B5EF4-FFF2-40B4-BE49-F238E27FC236}">
                <a16:creationId xmlns:a16="http://schemas.microsoft.com/office/drawing/2014/main" id="{D568109D-9D5D-4772-B091-9D38F7FA0C93}"/>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9158FC-FDAE-4910-8FBF-2534788F6564}"/>
              </a:ext>
            </a:extLst>
          </p:cNvPr>
          <p:cNvSpPr>
            <a:spLocks noGrp="1"/>
          </p:cNvSpPr>
          <p:nvPr>
            <p:ph type="dt" sz="half" idx="10"/>
          </p:nvPr>
        </p:nvSpPr>
        <p:spPr/>
        <p:txBody>
          <a:bodyPr/>
          <a:lstStyle/>
          <a:p>
            <a:fld id="{525F6667-7642-4169-9BDE-1C9ACF8B4E14}" type="datetime1">
              <a:rPr lang="en-US" smtClean="0"/>
              <a:t>5/4/2023</a:t>
            </a:fld>
            <a:endParaRPr lang="en-US"/>
          </a:p>
        </p:txBody>
      </p:sp>
      <p:sp>
        <p:nvSpPr>
          <p:cNvPr id="5" name="Footer Placeholder 4">
            <a:extLst>
              <a:ext uri="{FF2B5EF4-FFF2-40B4-BE49-F238E27FC236}">
                <a16:creationId xmlns:a16="http://schemas.microsoft.com/office/drawing/2014/main" id="{189BFF03-56F3-4C23-BF5A-65DE2F1BC333}"/>
              </a:ext>
            </a:extLst>
          </p:cNvPr>
          <p:cNvSpPr>
            <a:spLocks noGrp="1"/>
          </p:cNvSpPr>
          <p:nvPr>
            <p:ph type="ftr" sz="quarter" idx="11"/>
          </p:nvPr>
        </p:nvSpPr>
        <p:spPr/>
        <p:txBody>
          <a:bodyPr/>
          <a:lstStyle/>
          <a:p>
            <a:r>
              <a:rPr lang="en-US"/>
              <a:t>Confidential – Oracle Internal</a:t>
            </a:r>
          </a:p>
        </p:txBody>
      </p:sp>
      <p:sp>
        <p:nvSpPr>
          <p:cNvPr id="6" name="Slide Number Placeholder 5">
            <a:extLst>
              <a:ext uri="{FF2B5EF4-FFF2-40B4-BE49-F238E27FC236}">
                <a16:creationId xmlns:a16="http://schemas.microsoft.com/office/drawing/2014/main" id="{7AFB3064-DD65-4B01-8935-C92B76FDA952}"/>
              </a:ext>
            </a:extLst>
          </p:cNvPr>
          <p:cNvSpPr>
            <a:spLocks noGrp="1"/>
          </p:cNvSpPr>
          <p:nvPr>
            <p:ph type="sldNum" sz="quarter" idx="12"/>
          </p:nvPr>
        </p:nvSpPr>
        <p:spPr/>
        <p:txBody>
          <a:bodyPr/>
          <a:lstStyle/>
          <a:p>
            <a:fld id="{D57F1E4F-1CFF-5643-939E-02111984F565}" type="slidenum">
              <a:rPr lang="en-US" smtClean="0"/>
              <a:t>‹#›</a:t>
            </a:fld>
            <a:endParaRPr lang="en-US" dirty="0"/>
          </a:p>
        </p:txBody>
      </p:sp>
      <p:sp>
        <p:nvSpPr>
          <p:cNvPr id="7" name="TextBox 6">
            <a:extLst>
              <a:ext uri="{FF2B5EF4-FFF2-40B4-BE49-F238E27FC236}">
                <a16:creationId xmlns:a16="http://schemas.microsoft.com/office/drawing/2014/main" id="{26C70DAD-1482-4273-8548-6DE0B5EF86A4}"/>
              </a:ext>
            </a:extLst>
          </p:cNvPr>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lang="en-US" sz="850" dirty="0">
                <a:solidFill>
                  <a:schemeClr val="tx1"/>
                </a:solidFill>
              </a:rPr>
              <a:t>Copyright © </a:t>
            </a:r>
            <a:r>
              <a:rPr lang="is-IS" sz="850" dirty="0">
                <a:solidFill>
                  <a:schemeClr val="tx1"/>
                </a:solidFill>
              </a:rPr>
              <a:t>2018</a:t>
            </a:r>
            <a:r>
              <a:rPr lang="en-US" sz="850" dirty="0">
                <a:solidFill>
                  <a:schemeClr val="tx1"/>
                </a:solidFill>
              </a:rPr>
              <a:t>, Oracle and/or its affiliates. All rights reserved.  |</a:t>
            </a:r>
          </a:p>
        </p:txBody>
      </p:sp>
    </p:spTree>
    <p:extLst>
      <p:ext uri="{BB962C8B-B14F-4D97-AF65-F5344CB8AC3E}">
        <p14:creationId xmlns:p14="http://schemas.microsoft.com/office/powerpoint/2010/main" val="1956859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C0991-0567-4C84-980F-7381425E5F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459668-E705-4923-BCC9-C2D6169607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444DB7-582B-45B0-AD98-AD42FD2363DB}"/>
              </a:ext>
            </a:extLst>
          </p:cNvPr>
          <p:cNvSpPr>
            <a:spLocks noGrp="1"/>
          </p:cNvSpPr>
          <p:nvPr>
            <p:ph type="dt" sz="half" idx="10"/>
          </p:nvPr>
        </p:nvSpPr>
        <p:spPr/>
        <p:txBody>
          <a:bodyPr/>
          <a:lstStyle/>
          <a:p>
            <a:fld id="{13A39FDB-E21D-4C24-9438-2889827B24BA}" type="datetime1">
              <a:rPr lang="en-US" smtClean="0"/>
              <a:t>5/4/2023</a:t>
            </a:fld>
            <a:endParaRPr lang="en-US"/>
          </a:p>
        </p:txBody>
      </p:sp>
      <p:sp>
        <p:nvSpPr>
          <p:cNvPr id="5" name="Footer Placeholder 4">
            <a:extLst>
              <a:ext uri="{FF2B5EF4-FFF2-40B4-BE49-F238E27FC236}">
                <a16:creationId xmlns:a16="http://schemas.microsoft.com/office/drawing/2014/main" id="{9A2CDD82-D164-4C3A-800F-7B362B8A7459}"/>
              </a:ext>
            </a:extLst>
          </p:cNvPr>
          <p:cNvSpPr>
            <a:spLocks noGrp="1"/>
          </p:cNvSpPr>
          <p:nvPr>
            <p:ph type="ftr" sz="quarter" idx="11"/>
          </p:nvPr>
        </p:nvSpPr>
        <p:spPr/>
        <p:txBody>
          <a:bodyPr/>
          <a:lstStyle/>
          <a:p>
            <a:r>
              <a:rPr lang="en-US"/>
              <a:t>Confidential – Oracle Internal</a:t>
            </a:r>
          </a:p>
        </p:txBody>
      </p:sp>
      <p:sp>
        <p:nvSpPr>
          <p:cNvPr id="6" name="Slide Number Placeholder 5">
            <a:extLst>
              <a:ext uri="{FF2B5EF4-FFF2-40B4-BE49-F238E27FC236}">
                <a16:creationId xmlns:a16="http://schemas.microsoft.com/office/drawing/2014/main" id="{72FCC918-9D65-4195-84BA-6FAC3F828BE2}"/>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3369137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29BEB-98EF-4C54-B421-AB41F0C0873C}"/>
              </a:ext>
            </a:extLst>
          </p:cNvPr>
          <p:cNvSpPr>
            <a:spLocks noGrp="1"/>
          </p:cNvSpPr>
          <p:nvPr>
            <p:ph type="title"/>
          </p:nvPr>
        </p:nvSpPr>
        <p:spPr>
          <a:xfrm>
            <a:off x="831633" y="1709739"/>
            <a:ext cx="10512862" cy="2852737"/>
          </a:xfrm>
        </p:spPr>
        <p:txBody>
          <a:bodyPr anchor="b"/>
          <a:lstStyle>
            <a:lvl1pPr>
              <a:defRPr sz="5998"/>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4B354D-682A-42EB-BC9B-2C8314239BFA}"/>
              </a:ext>
            </a:extLst>
          </p:cNvPr>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9068A0-7F50-4206-9767-AD8B4C958059}"/>
              </a:ext>
            </a:extLst>
          </p:cNvPr>
          <p:cNvSpPr>
            <a:spLocks noGrp="1"/>
          </p:cNvSpPr>
          <p:nvPr>
            <p:ph type="dt" sz="half" idx="10"/>
          </p:nvPr>
        </p:nvSpPr>
        <p:spPr/>
        <p:txBody>
          <a:bodyPr/>
          <a:lstStyle/>
          <a:p>
            <a:fld id="{4F97AC8A-5618-4848-AA15-370A662C8F5F}" type="datetime1">
              <a:rPr lang="en-US" smtClean="0"/>
              <a:t>5/4/2023</a:t>
            </a:fld>
            <a:endParaRPr lang="en-US" dirty="0"/>
          </a:p>
        </p:txBody>
      </p:sp>
      <p:sp>
        <p:nvSpPr>
          <p:cNvPr id="5" name="Footer Placeholder 4">
            <a:extLst>
              <a:ext uri="{FF2B5EF4-FFF2-40B4-BE49-F238E27FC236}">
                <a16:creationId xmlns:a16="http://schemas.microsoft.com/office/drawing/2014/main" id="{2CCA63DB-BC7D-41C8-B4E2-36A309E7B99A}"/>
              </a:ext>
            </a:extLst>
          </p:cNvPr>
          <p:cNvSpPr>
            <a:spLocks noGrp="1"/>
          </p:cNvSpPr>
          <p:nvPr>
            <p:ph type="ftr" sz="quarter" idx="11"/>
          </p:nvPr>
        </p:nvSpPr>
        <p:spPr/>
        <p:txBody>
          <a:bodyPr/>
          <a:lstStyle/>
          <a:p>
            <a:r>
              <a:rPr lang="en-US"/>
              <a:t>Confidential – Oracle Internal</a:t>
            </a:r>
            <a:endParaRPr lang="en-US" dirty="0"/>
          </a:p>
        </p:txBody>
      </p:sp>
      <p:sp>
        <p:nvSpPr>
          <p:cNvPr id="6" name="Slide Number Placeholder 5">
            <a:extLst>
              <a:ext uri="{FF2B5EF4-FFF2-40B4-BE49-F238E27FC236}">
                <a16:creationId xmlns:a16="http://schemas.microsoft.com/office/drawing/2014/main" id="{70FFA2C6-3E36-4222-B376-3408692E9077}"/>
              </a:ext>
            </a:extLst>
          </p:cNvPr>
          <p:cNvSpPr>
            <a:spLocks noGrp="1"/>
          </p:cNvSpPr>
          <p:nvPr>
            <p:ph type="sldNum" sz="quarter" idx="12"/>
          </p:nvPr>
        </p:nvSpPr>
        <p:spPr/>
        <p:txBody>
          <a:bodyPr/>
          <a:lstStyle/>
          <a:p>
            <a:fld id="{C51EAA63-D034-42AE-91FA-B13B9518C7BE}" type="slidenum">
              <a:rPr lang="en-US" smtClean="0"/>
              <a:pPr/>
              <a:t>‹#›</a:t>
            </a:fld>
            <a:endParaRPr lang="en-US" dirty="0"/>
          </a:p>
        </p:txBody>
      </p:sp>
    </p:spTree>
    <p:extLst>
      <p:ext uri="{BB962C8B-B14F-4D97-AF65-F5344CB8AC3E}">
        <p14:creationId xmlns:p14="http://schemas.microsoft.com/office/powerpoint/2010/main" val="590887883"/>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162E4-C33F-48FC-B309-3490EC65B0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3EB467-25BB-4C82-96B8-799839C27484}"/>
              </a:ext>
            </a:extLst>
          </p:cNvPr>
          <p:cNvSpPr>
            <a:spLocks noGrp="1"/>
          </p:cNvSpPr>
          <p:nvPr>
            <p:ph sz="half" idx="1"/>
          </p:nvPr>
        </p:nvSpPr>
        <p:spPr>
          <a:xfrm>
            <a:off x="83798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A24563-BEAA-414F-B6E4-ACD671C65460}"/>
              </a:ext>
            </a:extLst>
          </p:cNvPr>
          <p:cNvSpPr>
            <a:spLocks noGrp="1"/>
          </p:cNvSpPr>
          <p:nvPr>
            <p:ph sz="half" idx="2"/>
          </p:nvPr>
        </p:nvSpPr>
        <p:spPr>
          <a:xfrm>
            <a:off x="617059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F8EA2E-96C2-4881-B67E-D31D36F139C2}"/>
              </a:ext>
            </a:extLst>
          </p:cNvPr>
          <p:cNvSpPr>
            <a:spLocks noGrp="1"/>
          </p:cNvSpPr>
          <p:nvPr>
            <p:ph type="dt" sz="half" idx="10"/>
          </p:nvPr>
        </p:nvSpPr>
        <p:spPr/>
        <p:txBody>
          <a:bodyPr/>
          <a:lstStyle/>
          <a:p>
            <a:fld id="{D044272B-0D86-4128-9A28-D27A6490B6E0}" type="datetime1">
              <a:rPr lang="en-US" smtClean="0"/>
              <a:t>5/4/2023</a:t>
            </a:fld>
            <a:endParaRPr lang="en-US"/>
          </a:p>
        </p:txBody>
      </p:sp>
      <p:sp>
        <p:nvSpPr>
          <p:cNvPr id="6" name="Footer Placeholder 5">
            <a:extLst>
              <a:ext uri="{FF2B5EF4-FFF2-40B4-BE49-F238E27FC236}">
                <a16:creationId xmlns:a16="http://schemas.microsoft.com/office/drawing/2014/main" id="{EC443307-44D3-47F1-9F7A-C79A25D36130}"/>
              </a:ext>
            </a:extLst>
          </p:cNvPr>
          <p:cNvSpPr>
            <a:spLocks noGrp="1"/>
          </p:cNvSpPr>
          <p:nvPr>
            <p:ph type="ftr" sz="quarter" idx="11"/>
          </p:nvPr>
        </p:nvSpPr>
        <p:spPr/>
        <p:txBody>
          <a:bodyPr/>
          <a:lstStyle/>
          <a:p>
            <a:r>
              <a:rPr lang="en-US"/>
              <a:t>Confidential – Oracle Internal</a:t>
            </a:r>
          </a:p>
        </p:txBody>
      </p:sp>
      <p:sp>
        <p:nvSpPr>
          <p:cNvPr id="7" name="Slide Number Placeholder 6">
            <a:extLst>
              <a:ext uri="{FF2B5EF4-FFF2-40B4-BE49-F238E27FC236}">
                <a16:creationId xmlns:a16="http://schemas.microsoft.com/office/drawing/2014/main" id="{711DF8C7-658C-4B8B-9383-AD9814436611}"/>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1534293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7937-989D-463D-91BC-B75E48964F28}"/>
              </a:ext>
            </a:extLst>
          </p:cNvPr>
          <p:cNvSpPr>
            <a:spLocks noGrp="1"/>
          </p:cNvSpPr>
          <p:nvPr>
            <p:ph type="title"/>
          </p:nvPr>
        </p:nvSpPr>
        <p:spPr>
          <a:xfrm>
            <a:off x="839569" y="365126"/>
            <a:ext cx="10512862"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B2E06D-FB40-42EC-A506-1AB9CB56292C}"/>
              </a:ext>
            </a:extLst>
          </p:cNvPr>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74CE54-BF66-473F-B0E0-32A069A49EE0}"/>
              </a:ext>
            </a:extLst>
          </p:cNvPr>
          <p:cNvSpPr>
            <a:spLocks noGrp="1"/>
          </p:cNvSpPr>
          <p:nvPr>
            <p:ph sz="half" idx="2"/>
          </p:nvPr>
        </p:nvSpPr>
        <p:spPr>
          <a:xfrm>
            <a:off x="839570" y="2505075"/>
            <a:ext cx="515644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678B85-75E0-473E-BB7F-2F6D53A3C663}"/>
              </a:ext>
            </a:extLst>
          </p:cNvPr>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1C80D-137F-4FA4-BAE9-63C3015AFA85}"/>
              </a:ext>
            </a:extLst>
          </p:cNvPr>
          <p:cNvSpPr>
            <a:spLocks noGrp="1"/>
          </p:cNvSpPr>
          <p:nvPr>
            <p:ph sz="quarter" idx="4"/>
          </p:nvPr>
        </p:nvSpPr>
        <p:spPr>
          <a:xfrm>
            <a:off x="6170593" y="2505075"/>
            <a:ext cx="51818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5CFF38-A1D5-4B0A-BE69-86AA62BCD52C}"/>
              </a:ext>
            </a:extLst>
          </p:cNvPr>
          <p:cNvSpPr>
            <a:spLocks noGrp="1"/>
          </p:cNvSpPr>
          <p:nvPr>
            <p:ph type="dt" sz="half" idx="10"/>
          </p:nvPr>
        </p:nvSpPr>
        <p:spPr/>
        <p:txBody>
          <a:bodyPr/>
          <a:lstStyle/>
          <a:p>
            <a:fld id="{B4E6C911-86DD-488C-9573-18736112EF7B}" type="datetime1">
              <a:rPr lang="en-US" smtClean="0"/>
              <a:t>5/4/2023</a:t>
            </a:fld>
            <a:endParaRPr lang="en-US"/>
          </a:p>
        </p:txBody>
      </p:sp>
      <p:sp>
        <p:nvSpPr>
          <p:cNvPr id="8" name="Footer Placeholder 7">
            <a:extLst>
              <a:ext uri="{FF2B5EF4-FFF2-40B4-BE49-F238E27FC236}">
                <a16:creationId xmlns:a16="http://schemas.microsoft.com/office/drawing/2014/main" id="{3277716D-EC7D-4962-A51B-E2B2D1D3B100}"/>
              </a:ext>
            </a:extLst>
          </p:cNvPr>
          <p:cNvSpPr>
            <a:spLocks noGrp="1"/>
          </p:cNvSpPr>
          <p:nvPr>
            <p:ph type="ftr" sz="quarter" idx="11"/>
          </p:nvPr>
        </p:nvSpPr>
        <p:spPr/>
        <p:txBody>
          <a:bodyPr/>
          <a:lstStyle/>
          <a:p>
            <a:r>
              <a:rPr lang="en-US"/>
              <a:t>Confidential – Oracle Internal</a:t>
            </a:r>
          </a:p>
        </p:txBody>
      </p:sp>
      <p:sp>
        <p:nvSpPr>
          <p:cNvPr id="9" name="Slide Number Placeholder 8">
            <a:extLst>
              <a:ext uri="{FF2B5EF4-FFF2-40B4-BE49-F238E27FC236}">
                <a16:creationId xmlns:a16="http://schemas.microsoft.com/office/drawing/2014/main" id="{907E9E93-9343-496D-9810-290492FB29AF}"/>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360204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6C286-1869-491F-9731-12E9BFA109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9B8EBC-C7F8-459C-AF23-A6832A9D2DBF}"/>
              </a:ext>
            </a:extLst>
          </p:cNvPr>
          <p:cNvSpPr>
            <a:spLocks noGrp="1"/>
          </p:cNvSpPr>
          <p:nvPr>
            <p:ph type="dt" sz="half" idx="10"/>
          </p:nvPr>
        </p:nvSpPr>
        <p:spPr/>
        <p:txBody>
          <a:bodyPr/>
          <a:lstStyle/>
          <a:p>
            <a:fld id="{4F97AC8A-5618-4848-AA15-370A662C8F5F}" type="datetime1">
              <a:rPr lang="en-US" smtClean="0"/>
              <a:t>5/4/2023</a:t>
            </a:fld>
            <a:endParaRPr lang="en-US" dirty="0"/>
          </a:p>
        </p:txBody>
      </p:sp>
      <p:sp>
        <p:nvSpPr>
          <p:cNvPr id="4" name="Footer Placeholder 3">
            <a:extLst>
              <a:ext uri="{FF2B5EF4-FFF2-40B4-BE49-F238E27FC236}">
                <a16:creationId xmlns:a16="http://schemas.microsoft.com/office/drawing/2014/main" id="{F5FB0AC0-61DD-4B8B-B883-94E30B6F6BAF}"/>
              </a:ext>
            </a:extLst>
          </p:cNvPr>
          <p:cNvSpPr>
            <a:spLocks noGrp="1"/>
          </p:cNvSpPr>
          <p:nvPr>
            <p:ph type="ftr" sz="quarter" idx="11"/>
          </p:nvPr>
        </p:nvSpPr>
        <p:spPr/>
        <p:txBody>
          <a:bodyPr/>
          <a:lstStyle/>
          <a:p>
            <a:r>
              <a:rPr lang="en-US"/>
              <a:t>Confidential – Oracle Internal</a:t>
            </a:r>
            <a:endParaRPr lang="en-US" dirty="0"/>
          </a:p>
        </p:txBody>
      </p:sp>
      <p:sp>
        <p:nvSpPr>
          <p:cNvPr id="5" name="Slide Number Placeholder 4">
            <a:extLst>
              <a:ext uri="{FF2B5EF4-FFF2-40B4-BE49-F238E27FC236}">
                <a16:creationId xmlns:a16="http://schemas.microsoft.com/office/drawing/2014/main" id="{82EFB412-717A-418D-AB71-D8E7BE57A67C}"/>
              </a:ext>
            </a:extLst>
          </p:cNvPr>
          <p:cNvSpPr>
            <a:spLocks noGrp="1"/>
          </p:cNvSpPr>
          <p:nvPr>
            <p:ph type="sldNum" sz="quarter" idx="12"/>
          </p:nvPr>
        </p:nvSpPr>
        <p:spPr/>
        <p:txBody>
          <a:bodyPr/>
          <a:lstStyle/>
          <a:p>
            <a:fld id="{C51EAA63-D034-42AE-91FA-B13B9518C7BE}" type="slidenum">
              <a:rPr lang="en-US" smtClean="0"/>
              <a:pPr/>
              <a:t>‹#›</a:t>
            </a:fld>
            <a:endParaRPr lang="en-US" dirty="0"/>
          </a:p>
        </p:txBody>
      </p:sp>
    </p:spTree>
    <p:extLst>
      <p:ext uri="{BB962C8B-B14F-4D97-AF65-F5344CB8AC3E}">
        <p14:creationId xmlns:p14="http://schemas.microsoft.com/office/powerpoint/2010/main" val="3406054320"/>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E61D34-9306-47A5-8087-955A1A6C8CA7}"/>
              </a:ext>
            </a:extLst>
          </p:cNvPr>
          <p:cNvSpPr>
            <a:spLocks noGrp="1"/>
          </p:cNvSpPr>
          <p:nvPr>
            <p:ph type="dt" sz="half" idx="10"/>
          </p:nvPr>
        </p:nvSpPr>
        <p:spPr/>
        <p:txBody>
          <a:bodyPr/>
          <a:lstStyle/>
          <a:p>
            <a:fld id="{6095FF93-EF21-4E94-AE0B-BECBD67666FC}" type="datetime1">
              <a:rPr lang="en-US" smtClean="0"/>
              <a:t>5/4/2023</a:t>
            </a:fld>
            <a:endParaRPr lang="en-US"/>
          </a:p>
        </p:txBody>
      </p:sp>
      <p:sp>
        <p:nvSpPr>
          <p:cNvPr id="3" name="Footer Placeholder 2">
            <a:extLst>
              <a:ext uri="{FF2B5EF4-FFF2-40B4-BE49-F238E27FC236}">
                <a16:creationId xmlns:a16="http://schemas.microsoft.com/office/drawing/2014/main" id="{6C2B3932-3CBE-4E0E-8FB5-04B2B3F34E62}"/>
              </a:ext>
            </a:extLst>
          </p:cNvPr>
          <p:cNvSpPr>
            <a:spLocks noGrp="1"/>
          </p:cNvSpPr>
          <p:nvPr>
            <p:ph type="ftr" sz="quarter" idx="11"/>
          </p:nvPr>
        </p:nvSpPr>
        <p:spPr/>
        <p:txBody>
          <a:bodyPr/>
          <a:lstStyle/>
          <a:p>
            <a:r>
              <a:rPr lang="en-US"/>
              <a:t>Confidential – Oracle Internal</a:t>
            </a:r>
          </a:p>
        </p:txBody>
      </p:sp>
      <p:sp>
        <p:nvSpPr>
          <p:cNvPr id="4" name="Slide Number Placeholder 3">
            <a:extLst>
              <a:ext uri="{FF2B5EF4-FFF2-40B4-BE49-F238E27FC236}">
                <a16:creationId xmlns:a16="http://schemas.microsoft.com/office/drawing/2014/main" id="{A64A020A-5530-4F3D-A9AD-1E67EDF2F810}"/>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267004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CA36-4777-4331-B8D4-8F4454267EC0}"/>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48EB80-9AB3-4F93-A55F-EF32804ABE36}"/>
              </a:ext>
            </a:extLst>
          </p:cNvPr>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4223A35-341A-4554-8F36-2F8E9F1F3BBF}"/>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EA06F-72A7-4A21-898F-A137328A2E35}"/>
              </a:ext>
            </a:extLst>
          </p:cNvPr>
          <p:cNvSpPr>
            <a:spLocks noGrp="1"/>
          </p:cNvSpPr>
          <p:nvPr>
            <p:ph type="dt" sz="half" idx="10"/>
          </p:nvPr>
        </p:nvSpPr>
        <p:spPr/>
        <p:txBody>
          <a:bodyPr/>
          <a:lstStyle/>
          <a:p>
            <a:fld id="{9C12E9B4-385C-40FB-AB4A-C56855799B30}" type="datetime1">
              <a:rPr lang="en-US" smtClean="0"/>
              <a:t>5/4/2023</a:t>
            </a:fld>
            <a:endParaRPr lang="en-US"/>
          </a:p>
        </p:txBody>
      </p:sp>
      <p:sp>
        <p:nvSpPr>
          <p:cNvPr id="6" name="Footer Placeholder 5">
            <a:extLst>
              <a:ext uri="{FF2B5EF4-FFF2-40B4-BE49-F238E27FC236}">
                <a16:creationId xmlns:a16="http://schemas.microsoft.com/office/drawing/2014/main" id="{9199717C-F8EC-424C-80A1-99D5FE1CD6F3}"/>
              </a:ext>
            </a:extLst>
          </p:cNvPr>
          <p:cNvSpPr>
            <a:spLocks noGrp="1"/>
          </p:cNvSpPr>
          <p:nvPr>
            <p:ph type="ftr" sz="quarter" idx="11"/>
          </p:nvPr>
        </p:nvSpPr>
        <p:spPr/>
        <p:txBody>
          <a:bodyPr/>
          <a:lstStyle/>
          <a:p>
            <a:r>
              <a:rPr lang="en-US"/>
              <a:t>Confidential – Oracle Internal</a:t>
            </a:r>
          </a:p>
        </p:txBody>
      </p:sp>
      <p:sp>
        <p:nvSpPr>
          <p:cNvPr id="7" name="Slide Number Placeholder 6">
            <a:extLst>
              <a:ext uri="{FF2B5EF4-FFF2-40B4-BE49-F238E27FC236}">
                <a16:creationId xmlns:a16="http://schemas.microsoft.com/office/drawing/2014/main" id="{BBD2EF2E-8B3D-4AA3-8C95-1C0B6027E2E6}"/>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253595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D70B1-A46E-42C8-BEDC-31AEC5D959DF}"/>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F2BCE4-4471-4D0D-9285-B7A2797BDC9A}"/>
              </a:ext>
            </a:extLst>
          </p:cNvPr>
          <p:cNvSpPr>
            <a:spLocks noGrp="1"/>
          </p:cNvSpPr>
          <p:nvPr>
            <p:ph type="pic" idx="1"/>
          </p:nvPr>
        </p:nvSpPr>
        <p:spPr>
          <a:xfrm>
            <a:off x="5181838" y="987426"/>
            <a:ext cx="6170593" cy="4873625"/>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en-IN"/>
          </a:p>
        </p:txBody>
      </p:sp>
      <p:sp>
        <p:nvSpPr>
          <p:cNvPr id="4" name="Text Placeholder 3">
            <a:extLst>
              <a:ext uri="{FF2B5EF4-FFF2-40B4-BE49-F238E27FC236}">
                <a16:creationId xmlns:a16="http://schemas.microsoft.com/office/drawing/2014/main" id="{708E77C8-C394-4E92-ACDB-315830683961}"/>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378DC-7F61-4410-88F5-D088F7E0455D}"/>
              </a:ext>
            </a:extLst>
          </p:cNvPr>
          <p:cNvSpPr>
            <a:spLocks noGrp="1"/>
          </p:cNvSpPr>
          <p:nvPr>
            <p:ph type="dt" sz="half" idx="10"/>
          </p:nvPr>
        </p:nvSpPr>
        <p:spPr/>
        <p:txBody>
          <a:bodyPr/>
          <a:lstStyle/>
          <a:p>
            <a:fld id="{7B5F166B-13A9-4B7A-BE61-F27CE9A4D048}" type="datetime1">
              <a:rPr lang="en-US" smtClean="0"/>
              <a:t>5/4/2023</a:t>
            </a:fld>
            <a:endParaRPr lang="en-US"/>
          </a:p>
        </p:txBody>
      </p:sp>
      <p:sp>
        <p:nvSpPr>
          <p:cNvPr id="6" name="Footer Placeholder 5">
            <a:extLst>
              <a:ext uri="{FF2B5EF4-FFF2-40B4-BE49-F238E27FC236}">
                <a16:creationId xmlns:a16="http://schemas.microsoft.com/office/drawing/2014/main" id="{AE347841-6321-4358-A415-4A2ECA98AA94}"/>
              </a:ext>
            </a:extLst>
          </p:cNvPr>
          <p:cNvSpPr>
            <a:spLocks noGrp="1"/>
          </p:cNvSpPr>
          <p:nvPr>
            <p:ph type="ftr" sz="quarter" idx="11"/>
          </p:nvPr>
        </p:nvSpPr>
        <p:spPr/>
        <p:txBody>
          <a:bodyPr/>
          <a:lstStyle/>
          <a:p>
            <a:r>
              <a:rPr lang="en-US"/>
              <a:t>Confidential – Oracle Internal</a:t>
            </a:r>
          </a:p>
        </p:txBody>
      </p:sp>
      <p:sp>
        <p:nvSpPr>
          <p:cNvPr id="7" name="Slide Number Placeholder 6">
            <a:extLst>
              <a:ext uri="{FF2B5EF4-FFF2-40B4-BE49-F238E27FC236}">
                <a16:creationId xmlns:a16="http://schemas.microsoft.com/office/drawing/2014/main" id="{742D1A60-586D-40D5-8192-B0678743659D}"/>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1075645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AFB96-D743-45B4-A530-349B406E81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2FD412-4E12-479A-A48B-1696CDC118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4BDA10-97C3-49EC-AB65-A2E03AE56B5B}"/>
              </a:ext>
            </a:extLst>
          </p:cNvPr>
          <p:cNvSpPr>
            <a:spLocks noGrp="1"/>
          </p:cNvSpPr>
          <p:nvPr>
            <p:ph type="dt" sz="half" idx="10"/>
          </p:nvPr>
        </p:nvSpPr>
        <p:spPr/>
        <p:txBody>
          <a:bodyPr/>
          <a:lstStyle/>
          <a:p>
            <a:fld id="{366B37E5-B5BD-4D9E-BD72-D193B1DA1E3E}" type="datetime1">
              <a:rPr lang="en-US" smtClean="0"/>
              <a:t>5/4/2023</a:t>
            </a:fld>
            <a:endParaRPr lang="en-US"/>
          </a:p>
        </p:txBody>
      </p:sp>
      <p:sp>
        <p:nvSpPr>
          <p:cNvPr id="5" name="Footer Placeholder 4">
            <a:extLst>
              <a:ext uri="{FF2B5EF4-FFF2-40B4-BE49-F238E27FC236}">
                <a16:creationId xmlns:a16="http://schemas.microsoft.com/office/drawing/2014/main" id="{C94EF34F-648C-40A4-BB7F-7647B6FD0E7C}"/>
              </a:ext>
            </a:extLst>
          </p:cNvPr>
          <p:cNvSpPr>
            <a:spLocks noGrp="1"/>
          </p:cNvSpPr>
          <p:nvPr>
            <p:ph type="ftr" sz="quarter" idx="11"/>
          </p:nvPr>
        </p:nvSpPr>
        <p:spPr/>
        <p:txBody>
          <a:bodyPr/>
          <a:lstStyle/>
          <a:p>
            <a:r>
              <a:rPr lang="en-US"/>
              <a:t>Confidential – Oracle Internal</a:t>
            </a:r>
          </a:p>
        </p:txBody>
      </p:sp>
      <p:sp>
        <p:nvSpPr>
          <p:cNvPr id="6" name="Slide Number Placeholder 5">
            <a:extLst>
              <a:ext uri="{FF2B5EF4-FFF2-40B4-BE49-F238E27FC236}">
                <a16:creationId xmlns:a16="http://schemas.microsoft.com/office/drawing/2014/main" id="{860C85ED-45EF-486C-BE57-8C51CDE4D368}"/>
              </a:ext>
            </a:extLst>
          </p:cNvPr>
          <p:cNvSpPr>
            <a:spLocks noGrp="1"/>
          </p:cNvSpPr>
          <p:nvPr>
            <p:ph type="sldNum" sz="quarter" idx="12"/>
          </p:nvPr>
        </p:nvSpPr>
        <p:spPr/>
        <p:txBody>
          <a:bodyPr/>
          <a:lstStyle/>
          <a:p>
            <a:fld id="{D4EAF17A-378C-49D5-A479-C71FF9D7F1E7}" type="slidenum">
              <a:rPr lang="en-IN" smtClean="0"/>
              <a:t>‹#›</a:t>
            </a:fld>
            <a:endParaRPr lang="en-IN"/>
          </a:p>
        </p:txBody>
      </p:sp>
    </p:spTree>
    <p:extLst>
      <p:ext uri="{BB962C8B-B14F-4D97-AF65-F5344CB8AC3E}">
        <p14:creationId xmlns:p14="http://schemas.microsoft.com/office/powerpoint/2010/main" val="2907243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6AF933-432F-4BDE-AC60-D10350F001BB}"/>
              </a:ext>
            </a:extLst>
          </p:cNvPr>
          <p:cNvSpPr>
            <a:spLocks noGrp="1"/>
          </p:cNvSpPr>
          <p:nvPr>
            <p:ph type="title" orient="vert"/>
          </p:nvPr>
        </p:nvSpPr>
        <p:spPr>
          <a:xfrm>
            <a:off x="8722628" y="365125"/>
            <a:ext cx="262821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ED6817-6363-44BB-98F4-EEBD032F2B58}"/>
              </a:ext>
            </a:extLst>
          </p:cNvPr>
          <p:cNvSpPr>
            <a:spLocks noGrp="1"/>
          </p:cNvSpPr>
          <p:nvPr>
            <p:ph type="body" orient="vert" idx="1"/>
          </p:nvPr>
        </p:nvSpPr>
        <p:spPr>
          <a:xfrm>
            <a:off x="837982" y="365125"/>
            <a:ext cx="773228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B85A8C-7093-499E-A14B-F54896E66700}"/>
              </a:ext>
            </a:extLst>
          </p:cNvPr>
          <p:cNvSpPr>
            <a:spLocks noGrp="1"/>
          </p:cNvSpPr>
          <p:nvPr>
            <p:ph type="dt" sz="half" idx="10"/>
          </p:nvPr>
        </p:nvSpPr>
        <p:spPr/>
        <p:txBody>
          <a:bodyPr/>
          <a:lstStyle/>
          <a:p>
            <a:fld id="{0B2189D7-1CBB-433A-BA9E-DDB9A489B030}" type="datetime1">
              <a:rPr lang="en-US" smtClean="0"/>
              <a:t>5/4/2023</a:t>
            </a:fld>
            <a:endParaRPr lang="en-US"/>
          </a:p>
        </p:txBody>
      </p:sp>
      <p:sp>
        <p:nvSpPr>
          <p:cNvPr id="5" name="Footer Placeholder 4">
            <a:extLst>
              <a:ext uri="{FF2B5EF4-FFF2-40B4-BE49-F238E27FC236}">
                <a16:creationId xmlns:a16="http://schemas.microsoft.com/office/drawing/2014/main" id="{7B600101-6B08-4B5C-9050-4027FC647BB8}"/>
              </a:ext>
            </a:extLst>
          </p:cNvPr>
          <p:cNvSpPr>
            <a:spLocks noGrp="1"/>
          </p:cNvSpPr>
          <p:nvPr>
            <p:ph type="ftr" sz="quarter" idx="11"/>
          </p:nvPr>
        </p:nvSpPr>
        <p:spPr/>
        <p:txBody>
          <a:bodyPr/>
          <a:lstStyle/>
          <a:p>
            <a:r>
              <a:rPr lang="en-US"/>
              <a:t>Confidential – Oracle Internal</a:t>
            </a:r>
          </a:p>
        </p:txBody>
      </p:sp>
      <p:sp>
        <p:nvSpPr>
          <p:cNvPr id="6" name="Slide Number Placeholder 5">
            <a:extLst>
              <a:ext uri="{FF2B5EF4-FFF2-40B4-BE49-F238E27FC236}">
                <a16:creationId xmlns:a16="http://schemas.microsoft.com/office/drawing/2014/main" id="{7E6664B0-4207-44D3-96CA-9C665EBCB2BE}"/>
              </a:ext>
            </a:extLst>
          </p:cNvPr>
          <p:cNvSpPr>
            <a:spLocks noGrp="1"/>
          </p:cNvSpPr>
          <p:nvPr>
            <p:ph type="sldNum" sz="quarter" idx="12"/>
          </p:nvPr>
        </p:nvSpPr>
        <p:spPr/>
        <p:txBody>
          <a:bodyPr/>
          <a:lstStyle/>
          <a:p>
            <a:fld id="{C51EAA63-D034-42AE-91FA-B13B9518C7BE}" type="slidenum">
              <a:rPr lang="en-IN" smtClean="0"/>
              <a:t>‹#›</a:t>
            </a:fld>
            <a:endParaRPr lang="en-IN"/>
          </a:p>
        </p:txBody>
      </p:sp>
    </p:spTree>
    <p:extLst>
      <p:ext uri="{BB962C8B-B14F-4D97-AF65-F5344CB8AC3E}">
        <p14:creationId xmlns:p14="http://schemas.microsoft.com/office/powerpoint/2010/main" val="28361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w Template_Title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33867"/>
            <a:ext cx="12188825" cy="6891867"/>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fontAlgn="auto">
              <a:spcBef>
                <a:spcPts val="0"/>
              </a:spcBef>
              <a:spcAft>
                <a:spcPts val="0"/>
              </a:spcAft>
              <a:defRPr/>
            </a:pPr>
            <a:endParaRPr lang="en-US" dirty="0"/>
          </a:p>
        </p:txBody>
      </p:sp>
      <p:sp>
        <p:nvSpPr>
          <p:cNvPr id="7" name="Rectangle 6"/>
          <p:cNvSpPr/>
          <p:nvPr userDrawn="1"/>
        </p:nvSpPr>
        <p:spPr>
          <a:xfrm>
            <a:off x="0" y="-33866"/>
            <a:ext cx="12188825" cy="5543551"/>
          </a:xfrm>
          <a:prstGeom prst="rect">
            <a:avLst/>
          </a:prstGeom>
          <a:gradFill flip="none" rotWithShape="1">
            <a:gsLst>
              <a:gs pos="20000">
                <a:srgbClr val="AA0000"/>
              </a:gs>
              <a:gs pos="90000">
                <a:srgbClr val="FF1414"/>
              </a:gs>
            </a:gsLst>
            <a:lin ang="16200000" scaled="0"/>
            <a:tileRect/>
          </a:gradFill>
          <a:ln>
            <a:noFill/>
          </a:ln>
          <a:effectLst>
            <a:outerShdw blurRad="152400" dist="63500"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fontAlgn="auto">
              <a:spcBef>
                <a:spcPts val="0"/>
              </a:spcBef>
              <a:spcAft>
                <a:spcPts val="0"/>
              </a:spcAft>
              <a:defRPr/>
            </a:pPr>
            <a:endParaRPr lang="en-US" dirty="0"/>
          </a:p>
        </p:txBody>
      </p:sp>
      <p:pic>
        <p:nvPicPr>
          <p:cNvPr id="8" name="Picture 21" descr="O_signature_wht_rgb.png"/>
          <p:cNvPicPr>
            <a:picLocks noChangeAspect="1"/>
          </p:cNvPicPr>
          <p:nvPr userDrawn="1"/>
        </p:nvPicPr>
        <p:blipFill>
          <a:blip r:embed="rId2" cstate="print"/>
          <a:srcRect/>
          <a:stretch>
            <a:fillRect/>
          </a:stretch>
        </p:blipFill>
        <p:spPr bwMode="auto">
          <a:xfrm>
            <a:off x="349160" y="338667"/>
            <a:ext cx="2863104" cy="882651"/>
          </a:xfrm>
          <a:prstGeom prst="rect">
            <a:avLst/>
          </a:prstGeom>
          <a:noFill/>
          <a:ln w="9525">
            <a:noFill/>
            <a:miter lim="800000"/>
            <a:headEnd/>
            <a:tailEnd/>
          </a:ln>
        </p:spPr>
      </p:pic>
      <p:sp>
        <p:nvSpPr>
          <p:cNvPr id="9" name="Rectangle 8"/>
          <p:cNvSpPr/>
          <p:nvPr userDrawn="1"/>
        </p:nvSpPr>
        <p:spPr>
          <a:xfrm>
            <a:off x="7922736" y="-33866"/>
            <a:ext cx="4266089" cy="5543551"/>
          </a:xfrm>
          <a:prstGeom prst="rect">
            <a:avLst/>
          </a:prstGeom>
          <a:gradFill flip="none" rotWithShape="1">
            <a:gsLst>
              <a:gs pos="20000">
                <a:srgbClr val="AA0000"/>
              </a:gs>
              <a:gs pos="90000">
                <a:srgbClr val="FF1414"/>
              </a:gs>
            </a:gsLst>
            <a:lin ang="16200000" scaled="0"/>
            <a:tileRect/>
          </a:gradFill>
          <a:ln>
            <a:noFill/>
          </a:ln>
          <a:effectLst>
            <a:outerShdw blurRad="635000" dir="10800000" algn="tl" rotWithShape="0">
              <a:srgbClr val="000000">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fontAlgn="auto">
              <a:spcBef>
                <a:spcPts val="0"/>
              </a:spcBef>
              <a:spcAft>
                <a:spcPts val="0"/>
              </a:spcAft>
              <a:defRPr/>
            </a:pPr>
            <a:endParaRPr lang="en-US" dirty="0"/>
          </a:p>
        </p:txBody>
      </p:sp>
      <p:sp>
        <p:nvSpPr>
          <p:cNvPr id="17" name="Title 1"/>
          <p:cNvSpPr>
            <a:spLocks noGrp="1"/>
          </p:cNvSpPr>
          <p:nvPr>
            <p:ph type="title"/>
          </p:nvPr>
        </p:nvSpPr>
        <p:spPr>
          <a:xfrm>
            <a:off x="601823" y="2111023"/>
            <a:ext cx="6700185" cy="1640876"/>
          </a:xfrm>
        </p:spPr>
        <p:txBody>
          <a:bodyPr anchor="b"/>
          <a:lstStyle>
            <a:lvl1pPr>
              <a:defRPr sz="3700">
                <a:solidFill>
                  <a:schemeClr val="bg1"/>
                </a:solidFill>
              </a:defRPr>
            </a:lvl1pPr>
          </a:lstStyle>
          <a:p>
            <a:r>
              <a:rPr lang="en-US"/>
              <a:t>Click to edit Master title style</a:t>
            </a:r>
            <a:endParaRPr lang="en-US" dirty="0"/>
          </a:p>
        </p:txBody>
      </p:sp>
      <p:sp>
        <p:nvSpPr>
          <p:cNvPr id="5" name="Text Placeholder 4"/>
          <p:cNvSpPr>
            <a:spLocks noGrp="1"/>
          </p:cNvSpPr>
          <p:nvPr>
            <p:ph type="body" sz="quarter" idx="13"/>
          </p:nvPr>
        </p:nvSpPr>
        <p:spPr>
          <a:xfrm>
            <a:off x="600976" y="3885701"/>
            <a:ext cx="6701032" cy="1397499"/>
          </a:xfrm>
        </p:spPr>
        <p:txBody>
          <a:bodyPr/>
          <a:lstStyle>
            <a:lvl1pPr marL="0" marR="0" indent="0" algn="l" defTabSz="304747" rtl="0" eaLnBrk="1" fontAlgn="auto" latinLnBrk="0" hangingPunct="1">
              <a:lnSpc>
                <a:spcPct val="100000"/>
              </a:lnSpc>
              <a:spcBef>
                <a:spcPts val="0"/>
              </a:spcBef>
              <a:spcAft>
                <a:spcPts val="0"/>
              </a:spcAft>
              <a:buClr>
                <a:srgbClr val="FF0000"/>
              </a:buClr>
              <a:buSzPct val="85000"/>
              <a:buFont typeface="Wingdings" pitchFamily="2" charset="2"/>
              <a:buNone/>
              <a:tabLst/>
              <a:defRPr>
                <a:solidFill>
                  <a:schemeClr val="bg1"/>
                </a:solidFill>
              </a:defRPr>
            </a:lvl1pPr>
          </a:lstStyle>
          <a:p>
            <a:pPr lvl="0"/>
            <a:r>
              <a:rPr lang="en-US"/>
              <a:t>Click to edit Master text styles</a:t>
            </a:r>
          </a:p>
          <a:p>
            <a:pPr lvl="1"/>
            <a:r>
              <a:rPr lang="en-US"/>
              <a:t>Second level</a:t>
            </a:r>
          </a:p>
        </p:txBody>
      </p:sp>
      <p:sp>
        <p:nvSpPr>
          <p:cNvPr id="3" name="Picture Placeholder 2"/>
          <p:cNvSpPr>
            <a:spLocks noGrp="1"/>
          </p:cNvSpPr>
          <p:nvPr>
            <p:ph type="pic" sz="quarter" idx="14"/>
          </p:nvPr>
        </p:nvSpPr>
        <p:spPr>
          <a:xfrm>
            <a:off x="7922736" y="-33866"/>
            <a:ext cx="4266089" cy="5543551"/>
          </a:xfrm>
          <a:effectLst>
            <a:innerShdw blurRad="63500" dist="50800" dir="10800000">
              <a:prstClr val="black">
                <a:alpha val="50000"/>
              </a:prstClr>
            </a:innerShdw>
          </a:effectLst>
        </p:spPr>
        <p:txBody>
          <a:bodyPr rtlCol="0" anchor="ctr" anchorCtr="1">
            <a:noAutofit/>
          </a:bodyPr>
          <a:lstStyle>
            <a:lvl1pPr>
              <a:buFontTx/>
              <a:buNone/>
              <a:defRPr lang="en-US" baseline="0">
                <a:solidFill>
                  <a:schemeClr val="bg1"/>
                </a:solidFill>
              </a:defRPr>
            </a:lvl1pPr>
          </a:lstStyle>
          <a:p>
            <a:pPr lvl="0"/>
            <a:r>
              <a:rPr lang="en-US" noProof="0" dirty="0"/>
              <a:t>Click icon to add picture</a:t>
            </a:r>
          </a:p>
        </p:txBody>
      </p:sp>
    </p:spTree>
    <p:extLst>
      <p:ext uri="{BB962C8B-B14F-4D97-AF65-F5344CB8AC3E}">
        <p14:creationId xmlns:p14="http://schemas.microsoft.com/office/powerpoint/2010/main" val="2780699723"/>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New Template_Content 1 Line Title">
    <p:spTree>
      <p:nvGrpSpPr>
        <p:cNvPr id="1" name=""/>
        <p:cNvGrpSpPr/>
        <p:nvPr/>
      </p:nvGrpSpPr>
      <p:grpSpPr>
        <a:xfrm>
          <a:off x="0" y="0"/>
          <a:ext cx="0" cy="0"/>
          <a:chOff x="0" y="0"/>
          <a:chExt cx="0" cy="0"/>
        </a:xfrm>
      </p:grpSpPr>
      <p:sp>
        <p:nvSpPr>
          <p:cNvPr id="5" name="Rectangle 4"/>
          <p:cNvSpPr/>
          <p:nvPr userDrawn="1"/>
        </p:nvSpPr>
        <p:spPr>
          <a:xfrm>
            <a:off x="0" y="1"/>
            <a:ext cx="768151" cy="742951"/>
          </a:xfrm>
          <a:prstGeom prst="rect">
            <a:avLst/>
          </a:prstGeom>
          <a:gradFill flip="none" rotWithShape="1">
            <a:gsLst>
              <a:gs pos="20000">
                <a:srgbClr val="AA0000"/>
              </a:gs>
              <a:gs pos="90000">
                <a:srgbClr val="FF1414"/>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1072183" y="327385"/>
            <a:ext cx="10969924" cy="541860"/>
          </a:xfrm>
        </p:spPr>
        <p:txBody>
          <a:bodyPr/>
          <a:lstStyle/>
          <a:p>
            <a:r>
              <a:rPr lang="en-US"/>
              <a:t>Click to edit Master title style</a:t>
            </a: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p:cNvSpPr>
            <a:spLocks noGrp="1"/>
          </p:cNvSpPr>
          <p:nvPr>
            <p:ph type="body" sz="quarter" idx="13"/>
          </p:nvPr>
        </p:nvSpPr>
        <p:spPr>
          <a:xfrm>
            <a:off x="1072183" y="864288"/>
            <a:ext cx="10969943" cy="406400"/>
          </a:xfrm>
        </p:spPr>
        <p:txBody>
          <a:bodyPr>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a:t>Click to edit Master text styles</a:t>
            </a:r>
          </a:p>
        </p:txBody>
      </p:sp>
    </p:spTree>
    <p:extLst>
      <p:ext uri="{BB962C8B-B14F-4D97-AF65-F5344CB8AC3E}">
        <p14:creationId xmlns:p14="http://schemas.microsoft.com/office/powerpoint/2010/main" val="3072609559"/>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Date Placeholder 3"/>
          <p:cNvSpPr>
            <a:spLocks noGrp="1"/>
          </p:cNvSpPr>
          <p:nvPr>
            <p:ph type="dt" sz="half" idx="10"/>
          </p:nvPr>
        </p:nvSpPr>
        <p:spPr/>
        <p:txBody>
          <a:bodyPr/>
          <a:lstStyle/>
          <a:p>
            <a:fld id="{E25BE244-8786-46D8-AD55-FE831551EA5C}" type="datetime1">
              <a:rPr lang="en-US" smtClean="0"/>
              <a:t>5/4/2023</a:t>
            </a:fld>
            <a:endParaRPr/>
          </a:p>
        </p:txBody>
      </p:sp>
      <p:sp>
        <p:nvSpPr>
          <p:cNvPr id="5" name="Footer Placeholder 4"/>
          <p:cNvSpPr>
            <a:spLocks noGrp="1"/>
          </p:cNvSpPr>
          <p:nvPr>
            <p:ph type="ftr" sz="quarter" idx="11"/>
          </p:nvPr>
        </p:nvSpPr>
        <p:spPr/>
        <p:txBody>
          <a:bodyPr/>
          <a:lstStyle/>
          <a:p>
            <a:r>
              <a:rPr lang="en-US"/>
              <a:t>Confidential – Oracle Internal</a:t>
            </a:r>
            <a:endParaRPr/>
          </a:p>
        </p:txBody>
      </p:sp>
      <p:sp>
        <p:nvSpPr>
          <p:cNvPr id="6" name="Slide Number Placeholder 5"/>
          <p:cNvSpPr>
            <a:spLocks noGrp="1"/>
          </p:cNvSpPr>
          <p:nvPr>
            <p:ph type="sldNum" sz="quarter" idx="12"/>
          </p:nvPr>
        </p:nvSpPr>
        <p:spPr/>
        <p:txBody>
          <a:bodyPr/>
          <a:lstStyle/>
          <a:p>
            <a:fld id="{C51EAA63-D034-42AE-91FA-B13B9518C7BE}" type="slidenum">
              <a:rPr/>
              <a:t>‹#›</a:t>
            </a:fld>
            <a:endParaRPr/>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229411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7FE33-E03D-46E2-BC80-796614D5BE1B}"/>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25BAB5-15BD-4F46-8118-9C6E74E560EB}"/>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F08ED0-7D8A-4A77-9829-08FFC713120A}"/>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7AC8A-5618-4848-AA15-370A662C8F5F}" type="datetime1">
              <a:rPr lang="en-US" smtClean="0"/>
              <a:t>5/4/2023</a:t>
            </a:fld>
            <a:endParaRPr lang="en-US" dirty="0"/>
          </a:p>
        </p:txBody>
      </p:sp>
      <p:sp>
        <p:nvSpPr>
          <p:cNvPr id="5" name="Footer Placeholder 4">
            <a:extLst>
              <a:ext uri="{FF2B5EF4-FFF2-40B4-BE49-F238E27FC236}">
                <a16:creationId xmlns:a16="http://schemas.microsoft.com/office/drawing/2014/main" id="{7BE6896C-2D1C-4652-ABFF-29D055277280}"/>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Oracle Internal</a:t>
            </a:r>
            <a:endParaRPr lang="en-US" dirty="0"/>
          </a:p>
        </p:txBody>
      </p:sp>
      <p:sp>
        <p:nvSpPr>
          <p:cNvPr id="6" name="Slide Number Placeholder 5">
            <a:extLst>
              <a:ext uri="{FF2B5EF4-FFF2-40B4-BE49-F238E27FC236}">
                <a16:creationId xmlns:a16="http://schemas.microsoft.com/office/drawing/2014/main" id="{7FCBC129-51E0-4663-B46F-8454C9FCE1C3}"/>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EAA63-D034-42AE-91FA-B13B9518C7BE}" type="slidenum">
              <a:rPr lang="en-US" smtClean="0"/>
              <a:pPr/>
              <a:t>‹#›</a:t>
            </a:fld>
            <a:endParaRPr lang="en-US" dirty="0"/>
          </a:p>
        </p:txBody>
      </p:sp>
    </p:spTree>
    <p:extLst>
      <p:ext uri="{BB962C8B-B14F-4D97-AF65-F5344CB8AC3E}">
        <p14:creationId xmlns:p14="http://schemas.microsoft.com/office/powerpoint/2010/main" val="3126276746"/>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4.emf"/><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5.wmf"/></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6.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7.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8.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9.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5.png"/><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42.wmf"/><Relationship Id="rId4" Type="http://schemas.openxmlformats.org/officeDocument/2006/relationships/oleObject" Target="../embeddings/oleObject2.bin"/></Relationships>
</file>

<file path=ppt/slides/_rels/slide56.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package" Target="../embeddings/Microsoft_Word_Document1.docx"/><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hyperlink" Target="https://docs.oracle.com/en/cloud/saas/human-resources/20a/analyze-and-report.html" TargetMode="External"/><Relationship Id="rId2" Type="http://schemas.openxmlformats.org/officeDocument/2006/relationships/hyperlink" Target="https://docs.oracle.com/en/cloud/saas/human-resources/20a/index.html" TargetMode="Externa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docs.oracle.com/en/cloud/saas/human-resources/20a/faohb/index.html"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Fusion HCM Reporting Tool - OTBI</a:t>
            </a:r>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sp>
        <p:nvSpPr>
          <p:cNvPr id="4" name="Title 1"/>
          <p:cNvSpPr txBox="1">
            <a:spLocks/>
          </p:cNvSpPr>
          <p:nvPr/>
        </p:nvSpPr>
        <p:spPr>
          <a:xfrm>
            <a:off x="659218" y="4759323"/>
            <a:ext cx="6700185" cy="164087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3700" kern="1200">
                <a:solidFill>
                  <a:schemeClr val="bg1"/>
                </a:solidFill>
                <a:latin typeface="+mj-lt"/>
                <a:ea typeface="+mj-ea"/>
                <a:cs typeface="+mj-cs"/>
              </a:defRPr>
            </a:lvl1pPr>
          </a:lstStyle>
          <a:p>
            <a:endParaRPr lang="en-US" sz="3200" dirty="0">
              <a:solidFill>
                <a:schemeClr val="accent4">
                  <a:lumMod val="75000"/>
                </a:schemeClr>
              </a:solidFill>
            </a:endParaRPr>
          </a:p>
        </p:txBody>
      </p:sp>
      <p:pic>
        <p:nvPicPr>
          <p:cNvPr id="5" name="Picture 3">
            <a:extLst>
              <a:ext uri="{FF2B5EF4-FFF2-40B4-BE49-F238E27FC236}">
                <a16:creationId xmlns:a16="http://schemas.microsoft.com/office/drawing/2014/main" id="{A5BB2E95-69C3-40B0-9DAA-3ACFD2BE4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823" y="625837"/>
            <a:ext cx="2443218" cy="309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F32AC385-21E9-42B6-BA56-29CCEF4202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823" y="574790"/>
            <a:ext cx="2443218" cy="309563"/>
          </a:xfrm>
          <a:prstGeom prst="rect">
            <a:avLst/>
          </a:prstGeom>
        </p:spPr>
      </p:pic>
    </p:spTree>
    <p:extLst>
      <p:ext uri="{BB962C8B-B14F-4D97-AF65-F5344CB8AC3E}">
        <p14:creationId xmlns:p14="http://schemas.microsoft.com/office/powerpoint/2010/main" val="179283913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469" y="328003"/>
            <a:ext cx="10943030" cy="897115"/>
          </a:xfrm>
        </p:spPr>
        <p:txBody>
          <a:bodyPr>
            <a:normAutofit fontScale="90000"/>
          </a:bodyPr>
          <a:lstStyle/>
          <a:p>
            <a:br>
              <a:rPr lang="en-US" sz="3200" dirty="0">
                <a:latin typeface="Arial" charset="0"/>
                <a:ea typeface="+mn-ea"/>
                <a:cs typeface="Arial" charset="0"/>
              </a:rPr>
            </a:br>
            <a:r>
              <a:rPr lang="en-US" sz="3200" dirty="0">
                <a:latin typeface="Arial" charset="0"/>
                <a:ea typeface="+mn-ea"/>
                <a:cs typeface="Arial" charset="0"/>
              </a:rPr>
              <a:t>Agenda</a:t>
            </a:r>
          </a:p>
        </p:txBody>
      </p:sp>
      <p:sp>
        <p:nvSpPr>
          <p:cNvPr id="3" name="Content Placeholder 2"/>
          <p:cNvSpPr>
            <a:spLocks noGrp="1"/>
          </p:cNvSpPr>
          <p:nvPr>
            <p:ph sz="quarter" idx="12"/>
          </p:nvPr>
        </p:nvSpPr>
        <p:spPr>
          <a:xfrm>
            <a:off x="1059486" y="1544715"/>
            <a:ext cx="10969943" cy="3653828"/>
          </a:xfrm>
        </p:spPr>
        <p:txBody>
          <a:bodyPr/>
          <a:lstStyle/>
          <a:p>
            <a:r>
              <a:rPr lang="en-US" sz="2400" dirty="0"/>
              <a:t>Introduction	</a:t>
            </a:r>
          </a:p>
          <a:p>
            <a:r>
              <a:rPr lang="en-US" sz="2400" dirty="0"/>
              <a:t>Getting Started (Demo)</a:t>
            </a:r>
          </a:p>
          <a:p>
            <a:r>
              <a:rPr lang="en-US" sz="2400" dirty="0"/>
              <a:t>Cross Subject Area Reports</a:t>
            </a:r>
          </a:p>
          <a:p>
            <a:r>
              <a:rPr lang="en-US" sz="2400" dirty="0"/>
              <a:t>Accessing Flex fields</a:t>
            </a:r>
          </a:p>
          <a:p>
            <a:r>
              <a:rPr lang="en-US" sz="2400" dirty="0"/>
              <a:t>Documentation</a:t>
            </a:r>
          </a:p>
          <a:p>
            <a:r>
              <a:rPr lang="en-US" sz="2400" dirty="0"/>
              <a:t>Q &amp; A</a:t>
            </a:r>
          </a:p>
          <a:p>
            <a:pPr>
              <a:buNone/>
            </a:pPr>
            <a:endParaRPr lang="en-US" dirty="0"/>
          </a:p>
          <a:p>
            <a:pPr>
              <a:buNone/>
            </a:pPr>
            <a:endParaRPr lang="en-US" dirty="0"/>
          </a:p>
          <a:p>
            <a:pPr>
              <a:buNone/>
            </a:pPr>
            <a:endParaRPr lang="en-US" dirty="0"/>
          </a:p>
        </p:txBody>
      </p:sp>
      <p:pic>
        <p:nvPicPr>
          <p:cNvPr id="5" name="Picture 4">
            <a:extLst>
              <a:ext uri="{FF2B5EF4-FFF2-40B4-BE49-F238E27FC236}">
                <a16:creationId xmlns:a16="http://schemas.microsoft.com/office/drawing/2014/main" id="{ED51FFFB-666A-4459-83E0-47A718687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627" y="37730"/>
            <a:ext cx="1895740" cy="314369"/>
          </a:xfrm>
          <a:prstGeom prst="rect">
            <a:avLst/>
          </a:prstGeom>
        </p:spPr>
      </p:pic>
      <p:pic>
        <p:nvPicPr>
          <p:cNvPr id="7" name="Picture 6">
            <a:extLst>
              <a:ext uri="{FF2B5EF4-FFF2-40B4-BE49-F238E27FC236}">
                <a16:creationId xmlns:a16="http://schemas.microsoft.com/office/drawing/2014/main" id="{14EEFC39-6980-407E-92E7-C813C3BC6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1572" y="194914"/>
            <a:ext cx="1562318" cy="314369"/>
          </a:xfrm>
          <a:prstGeom prst="rect">
            <a:avLst/>
          </a:prstGeom>
        </p:spPr>
      </p:pic>
    </p:spTree>
    <p:extLst>
      <p:ext uri="{BB962C8B-B14F-4D97-AF65-F5344CB8AC3E}">
        <p14:creationId xmlns:p14="http://schemas.microsoft.com/office/powerpoint/2010/main" val="3853802008"/>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Introduction</a:t>
            </a:r>
            <a:endParaRPr lang="en-US" dirty="0"/>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pic>
        <p:nvPicPr>
          <p:cNvPr id="4" name="Picture 3">
            <a:extLst>
              <a:ext uri="{FF2B5EF4-FFF2-40B4-BE49-F238E27FC236}">
                <a16:creationId xmlns:a16="http://schemas.microsoft.com/office/drawing/2014/main" id="{DE023CE3-12DE-49C1-9085-14B5FC2D5B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2" y="461639"/>
            <a:ext cx="2416585" cy="568171"/>
          </a:xfrm>
          <a:prstGeom prst="rect">
            <a:avLst/>
          </a:prstGeom>
        </p:spPr>
      </p:pic>
    </p:spTree>
    <p:extLst>
      <p:ext uri="{BB962C8B-B14F-4D97-AF65-F5344CB8AC3E}">
        <p14:creationId xmlns:p14="http://schemas.microsoft.com/office/powerpoint/2010/main" val="2105719262"/>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72183" y="461639"/>
            <a:ext cx="10969924" cy="407606"/>
          </a:xfrm>
        </p:spPr>
        <p:txBody>
          <a:bodyPr>
            <a:normAutofit fontScale="90000"/>
          </a:bodyPr>
          <a:lstStyle/>
          <a:p>
            <a:r>
              <a:rPr lang="en-US" sz="3200" dirty="0"/>
              <a:t>OTBI</a:t>
            </a:r>
          </a:p>
        </p:txBody>
      </p:sp>
      <p:sp>
        <p:nvSpPr>
          <p:cNvPr id="3" name="Content Placeholder 2"/>
          <p:cNvSpPr>
            <a:spLocks noGrp="1"/>
          </p:cNvSpPr>
          <p:nvPr>
            <p:ph sz="quarter" idx="12"/>
          </p:nvPr>
        </p:nvSpPr>
        <p:spPr>
          <a:xfrm>
            <a:off x="1003944" y="2166151"/>
            <a:ext cx="10969943" cy="3441825"/>
          </a:xfrm>
        </p:spPr>
        <p:txBody>
          <a:bodyPr/>
          <a:lstStyle/>
          <a:p>
            <a:pPr marL="304747" indent="-224327" defTabSz="304747" eaLnBrk="0" hangingPunct="0">
              <a:lnSpc>
                <a:spcPct val="100000"/>
              </a:lnSpc>
              <a:spcBef>
                <a:spcPts val="300"/>
              </a:spcBef>
              <a:spcAft>
                <a:spcPts val="300"/>
              </a:spcAft>
              <a:buClr>
                <a:srgbClr val="FF0000"/>
              </a:buClr>
              <a:buSzPct val="85000"/>
            </a:pPr>
            <a:r>
              <a:rPr lang="en-US" sz="1900" dirty="0">
                <a:latin typeface="Arial" pitchFamily="34" charset="0"/>
                <a:cs typeface="Arial" pitchFamily="34" charset="0"/>
              </a:rPr>
              <a:t>Real time self-service reporting tool in Fusion HCM application.</a:t>
            </a:r>
          </a:p>
          <a:p>
            <a:pPr marL="304747" indent="-224327" defTabSz="304747" eaLnBrk="0" hangingPunct="0">
              <a:lnSpc>
                <a:spcPct val="100000"/>
              </a:lnSpc>
              <a:spcBef>
                <a:spcPts val="300"/>
              </a:spcBef>
              <a:spcAft>
                <a:spcPts val="300"/>
              </a:spcAft>
              <a:buClr>
                <a:srgbClr val="FF0000"/>
              </a:buClr>
              <a:buSzPct val="85000"/>
            </a:pPr>
            <a:r>
              <a:rPr lang="en-US" sz="1900" dirty="0">
                <a:latin typeface="Arial" pitchFamily="34" charset="0"/>
                <a:cs typeface="Arial" pitchFamily="34" charset="0"/>
              </a:rPr>
              <a:t>It is an easy to use tool designed to create quick reports.</a:t>
            </a:r>
          </a:p>
          <a:p>
            <a:pPr marL="304747" indent="-224327" defTabSz="304747" eaLnBrk="0" hangingPunct="0">
              <a:lnSpc>
                <a:spcPct val="100000"/>
              </a:lnSpc>
              <a:spcBef>
                <a:spcPts val="300"/>
              </a:spcBef>
              <a:spcAft>
                <a:spcPts val="300"/>
              </a:spcAft>
              <a:buClr>
                <a:srgbClr val="FF0000"/>
              </a:buClr>
              <a:buSzPct val="85000"/>
            </a:pPr>
            <a:r>
              <a:rPr lang="en-US" sz="1900" dirty="0">
                <a:latin typeface="Arial" pitchFamily="34" charset="0"/>
                <a:cs typeface="Arial" pitchFamily="34" charset="0"/>
              </a:rPr>
              <a:t>Collect up-to-date data from your organization.</a:t>
            </a:r>
          </a:p>
          <a:p>
            <a:pPr marL="304747" indent="-224327" defTabSz="304747" eaLnBrk="0" hangingPunct="0">
              <a:lnSpc>
                <a:spcPct val="100000"/>
              </a:lnSpc>
              <a:spcBef>
                <a:spcPts val="300"/>
              </a:spcBef>
              <a:spcAft>
                <a:spcPts val="300"/>
              </a:spcAft>
              <a:buClr>
                <a:srgbClr val="FF0000"/>
              </a:buClr>
              <a:buSzPct val="85000"/>
            </a:pPr>
            <a:r>
              <a:rPr lang="en-US" sz="1900" dirty="0">
                <a:latin typeface="Arial" pitchFamily="34" charset="0"/>
                <a:cs typeface="Arial" pitchFamily="34" charset="0"/>
              </a:rPr>
              <a:t>Present the data in easy-to-understand formats like tables and graphs.</a:t>
            </a:r>
          </a:p>
          <a:p>
            <a:pPr marL="304747" indent="-224327" defTabSz="304747" eaLnBrk="0" hangingPunct="0">
              <a:lnSpc>
                <a:spcPct val="100000"/>
              </a:lnSpc>
              <a:spcBef>
                <a:spcPts val="300"/>
              </a:spcBef>
              <a:spcAft>
                <a:spcPts val="300"/>
              </a:spcAft>
              <a:buClr>
                <a:srgbClr val="FF0000"/>
              </a:buClr>
              <a:buSzPct val="85000"/>
            </a:pPr>
            <a:r>
              <a:rPr lang="en-US" sz="1900" dirty="0">
                <a:latin typeface="Arial" pitchFamily="34" charset="0"/>
                <a:cs typeface="Arial" pitchFamily="34" charset="0"/>
              </a:rPr>
              <a:t>It consists Pre-defined Subject Areas Provided by Oracle</a:t>
            </a:r>
          </a:p>
          <a:p>
            <a:pPr marL="304747" indent="-224327" defTabSz="304747" eaLnBrk="0" hangingPunct="0">
              <a:lnSpc>
                <a:spcPct val="100000"/>
              </a:lnSpc>
              <a:spcBef>
                <a:spcPts val="300"/>
              </a:spcBef>
              <a:spcAft>
                <a:spcPts val="300"/>
              </a:spcAft>
              <a:buClr>
                <a:srgbClr val="FF0000"/>
              </a:buClr>
              <a:buSzPct val="85000"/>
            </a:pPr>
            <a:endParaRPr lang="en-US" sz="1900" dirty="0">
              <a:latin typeface="Arial" pitchFamily="34" charset="0"/>
              <a:cs typeface="Arial" pitchFamily="34" charset="0"/>
            </a:endParaRPr>
          </a:p>
          <a:p>
            <a:pPr marL="304747" indent="-224327" defTabSz="304747" eaLnBrk="0" hangingPunct="0">
              <a:lnSpc>
                <a:spcPct val="100000"/>
              </a:lnSpc>
              <a:spcBef>
                <a:spcPts val="300"/>
              </a:spcBef>
              <a:spcAft>
                <a:spcPts val="300"/>
              </a:spcAft>
              <a:buClr>
                <a:srgbClr val="FF0000"/>
              </a:buClr>
              <a:buSzPct val="85000"/>
            </a:pPr>
            <a:endParaRPr lang="en-US" sz="1900" dirty="0">
              <a:latin typeface="Arial" pitchFamily="34" charset="0"/>
              <a:cs typeface="Arial" pitchFamily="34" charset="0"/>
            </a:endParaRPr>
          </a:p>
          <a:p>
            <a:pPr>
              <a:lnSpc>
                <a:spcPct val="100000"/>
              </a:lnSpc>
              <a:spcBef>
                <a:spcPts val="300"/>
              </a:spcBef>
              <a:spcAft>
                <a:spcPts val="300"/>
              </a:spcAft>
            </a:pPr>
            <a:endParaRPr lang="en-US" sz="1900" dirty="0">
              <a:latin typeface="Arial" pitchFamily="34" charset="0"/>
              <a:cs typeface="Arial" pitchFamily="34" charset="0"/>
            </a:endParaRPr>
          </a:p>
          <a:p>
            <a:pPr>
              <a:lnSpc>
                <a:spcPct val="100000"/>
              </a:lnSpc>
              <a:spcBef>
                <a:spcPts val="300"/>
              </a:spcBef>
              <a:spcAft>
                <a:spcPts val="300"/>
              </a:spcAft>
            </a:pPr>
            <a:endParaRPr lang="en-US" sz="1900" dirty="0">
              <a:latin typeface="Arial" pitchFamily="34" charset="0"/>
              <a:cs typeface="Arial" pitchFamily="34" charset="0"/>
            </a:endParaRPr>
          </a:p>
        </p:txBody>
      </p:sp>
      <p:sp>
        <p:nvSpPr>
          <p:cNvPr id="4" name="Text Placeholder 3"/>
          <p:cNvSpPr>
            <a:spLocks noGrp="1"/>
          </p:cNvSpPr>
          <p:nvPr>
            <p:ph type="body" sz="quarter" idx="13"/>
          </p:nvPr>
        </p:nvSpPr>
        <p:spPr>
          <a:xfrm>
            <a:off x="1072183" y="1131522"/>
            <a:ext cx="10969943" cy="139165"/>
          </a:xfrm>
        </p:spPr>
        <p:txBody>
          <a:bodyPr/>
          <a:lstStyle/>
          <a:p>
            <a:r>
              <a:rPr lang="en-US" dirty="0"/>
              <a:t>Introduction</a:t>
            </a:r>
          </a:p>
        </p:txBody>
      </p:sp>
      <p:pic>
        <p:nvPicPr>
          <p:cNvPr id="6" name="Picture 5">
            <a:extLst>
              <a:ext uri="{FF2B5EF4-FFF2-40B4-BE49-F238E27FC236}">
                <a16:creationId xmlns:a16="http://schemas.microsoft.com/office/drawing/2014/main" id="{8EC39020-A31C-480F-98E4-F192B172F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872" y="65107"/>
            <a:ext cx="1895740" cy="314369"/>
          </a:xfrm>
          <a:prstGeom prst="rect">
            <a:avLst/>
          </a:prstGeom>
        </p:spPr>
      </p:pic>
      <p:pic>
        <p:nvPicPr>
          <p:cNvPr id="8" name="Picture 7">
            <a:extLst>
              <a:ext uri="{FF2B5EF4-FFF2-40B4-BE49-F238E27FC236}">
                <a16:creationId xmlns:a16="http://schemas.microsoft.com/office/drawing/2014/main" id="{195F7DF5-3929-418A-8B85-3E9B640DAC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4938" y="147270"/>
            <a:ext cx="1562318" cy="314369"/>
          </a:xfrm>
          <a:prstGeom prst="rect">
            <a:avLst/>
          </a:prstGeom>
        </p:spPr>
      </p:pic>
    </p:spTree>
    <p:extLst>
      <p:ext uri="{BB962C8B-B14F-4D97-AF65-F5344CB8AC3E}">
        <p14:creationId xmlns:p14="http://schemas.microsoft.com/office/powerpoint/2010/main" val="40962251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183" y="460967"/>
            <a:ext cx="10969924" cy="408278"/>
          </a:xfrm>
        </p:spPr>
        <p:txBody>
          <a:bodyPr>
            <a:normAutofit fontScale="90000"/>
          </a:bodyPr>
          <a:lstStyle/>
          <a:p>
            <a:r>
              <a:rPr lang="en-US" sz="3200" dirty="0"/>
              <a:t>OTBI</a:t>
            </a:r>
          </a:p>
        </p:txBody>
      </p:sp>
      <p:sp>
        <p:nvSpPr>
          <p:cNvPr id="4" name="Text Placeholder 3"/>
          <p:cNvSpPr>
            <a:spLocks noGrp="1"/>
          </p:cNvSpPr>
          <p:nvPr>
            <p:ph type="body" sz="quarter" idx="13"/>
          </p:nvPr>
        </p:nvSpPr>
        <p:spPr>
          <a:xfrm>
            <a:off x="1072183" y="1072346"/>
            <a:ext cx="10969943" cy="198341"/>
          </a:xfrm>
        </p:spPr>
        <p:txBody>
          <a:bodyPr/>
          <a:lstStyle/>
          <a:p>
            <a:r>
              <a:rPr lang="en-US" dirty="0"/>
              <a:t>Subject Area Features</a:t>
            </a:r>
          </a:p>
        </p:txBody>
      </p:sp>
      <p:sp>
        <p:nvSpPr>
          <p:cNvPr id="6" name="Content Placeholder 2"/>
          <p:cNvSpPr txBox="1">
            <a:spLocks/>
          </p:cNvSpPr>
          <p:nvPr/>
        </p:nvSpPr>
        <p:spPr>
          <a:xfrm>
            <a:off x="914162" y="1882066"/>
            <a:ext cx="10732938" cy="2524834"/>
          </a:xfrm>
          <a:prstGeom prst="rect">
            <a:avLst/>
          </a:prstGeom>
        </p:spPr>
        <p:txBody>
          <a:bodyPr lIns="121899" tIns="60949" rIns="121899" bIns="60949"/>
          <a:lstStyle/>
          <a:p>
            <a:pPr marL="304747" indent="-224327" defTabSz="304747" eaLnBrk="0" hangingPunct="0">
              <a:spcAft>
                <a:spcPts val="800"/>
              </a:spcAft>
              <a:buClr>
                <a:srgbClr val="FF0000"/>
              </a:buClr>
              <a:buSzPct val="85000"/>
              <a:buFont typeface="Arial" pitchFamily="34" charset="0"/>
              <a:buChar char="•"/>
            </a:pPr>
            <a:r>
              <a:rPr lang="en-US" sz="1900" dirty="0">
                <a:latin typeface="Arial" pitchFamily="34" charset="0"/>
                <a:cs typeface="Arial" pitchFamily="34" charset="0"/>
              </a:rPr>
              <a:t>OTBI subject areas is used to create or edit analysis reports </a:t>
            </a:r>
          </a:p>
          <a:p>
            <a:pPr marL="304747" indent="-224327" defTabSz="304747" eaLnBrk="0" hangingPunct="0">
              <a:spcAft>
                <a:spcPts val="800"/>
              </a:spcAft>
              <a:buClr>
                <a:srgbClr val="FF0000"/>
              </a:buClr>
              <a:buSzPct val="85000"/>
              <a:buFont typeface="Arial" pitchFamily="34" charset="0"/>
              <a:buChar char="•"/>
            </a:pPr>
            <a:r>
              <a:rPr lang="en-US" sz="1900" dirty="0">
                <a:latin typeface="Arial" pitchFamily="34" charset="0"/>
                <a:cs typeface="Arial" pitchFamily="34" charset="0"/>
              </a:rPr>
              <a:t>Subject areas are pre built meta-data content for BI reporting solutions</a:t>
            </a:r>
          </a:p>
          <a:p>
            <a:pPr marL="304747" indent="-224327" defTabSz="304747" eaLnBrk="0" hangingPunct="0">
              <a:spcAft>
                <a:spcPts val="800"/>
              </a:spcAft>
              <a:buClr>
                <a:srgbClr val="FF0000"/>
              </a:buClr>
              <a:buSzPct val="85000"/>
              <a:buFont typeface="Arial" pitchFamily="34" charset="0"/>
              <a:buChar char="•"/>
            </a:pPr>
            <a:r>
              <a:rPr lang="en-US" sz="1900" dirty="0">
                <a:latin typeface="Arial" pitchFamily="34" charset="0"/>
                <a:cs typeface="Arial" pitchFamily="34" charset="0"/>
              </a:rPr>
              <a:t>Subject areas are made up of logical data structures combined together and each of them are associated with specific application modules</a:t>
            </a:r>
          </a:p>
          <a:p>
            <a:pPr marL="304747" indent="-224327" defTabSz="304747" eaLnBrk="0" hangingPunct="0">
              <a:spcAft>
                <a:spcPts val="800"/>
              </a:spcAft>
              <a:buClr>
                <a:srgbClr val="FF0000"/>
              </a:buClr>
              <a:buSzPct val="85000"/>
              <a:buFont typeface="Arial" pitchFamily="34" charset="0"/>
              <a:buChar char="•"/>
            </a:pPr>
            <a:r>
              <a:rPr lang="en-US" sz="1900" dirty="0">
                <a:latin typeface="Arial" pitchFamily="34" charset="0"/>
                <a:cs typeface="Arial" pitchFamily="34" charset="0"/>
              </a:rPr>
              <a:t>OTBI organizes reporting data elements like Dimensions and Facts by business function in Subject Areas. </a:t>
            </a:r>
          </a:p>
          <a:p>
            <a:pPr marL="304747" indent="-224327" defTabSz="304747" eaLnBrk="0" hangingPunct="0">
              <a:spcAft>
                <a:spcPts val="800"/>
              </a:spcAft>
              <a:buClr>
                <a:srgbClr val="FF0000"/>
              </a:buClr>
              <a:buSzPct val="85000"/>
              <a:buFont typeface="Arial" pitchFamily="34" charset="0"/>
              <a:buChar char="•"/>
            </a:pPr>
            <a:r>
              <a:rPr lang="en-US" sz="1900" dirty="0">
                <a:latin typeface="Arial" pitchFamily="34" charset="0"/>
                <a:cs typeface="Arial" pitchFamily="34" charset="0"/>
              </a:rPr>
              <a:t>OTBI inherits Fusion user roles and security profiles.</a:t>
            </a:r>
          </a:p>
          <a:p>
            <a:pPr marL="304747" indent="-224327" defTabSz="304747" eaLnBrk="0" hangingPunct="0">
              <a:spcAft>
                <a:spcPts val="800"/>
              </a:spcAft>
              <a:buClr>
                <a:srgbClr val="FF0000"/>
              </a:buClr>
              <a:buSzPct val="85000"/>
              <a:buFont typeface="Arial" pitchFamily="34" charset="0"/>
              <a:buChar char="•"/>
            </a:pPr>
            <a:endParaRPr lang="en-US" sz="1900" dirty="0">
              <a:latin typeface="Arial" pitchFamily="34" charset="0"/>
              <a:cs typeface="Arial" pitchFamily="34" charset="0"/>
            </a:endParaRPr>
          </a:p>
        </p:txBody>
      </p:sp>
      <p:pic>
        <p:nvPicPr>
          <p:cNvPr id="5" name="Picture 4">
            <a:extLst>
              <a:ext uri="{FF2B5EF4-FFF2-40B4-BE49-F238E27FC236}">
                <a16:creationId xmlns:a16="http://schemas.microsoft.com/office/drawing/2014/main" id="{B5D22ED2-0B5C-4475-818D-8121AF2D79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793" y="124283"/>
            <a:ext cx="1895740" cy="314369"/>
          </a:xfrm>
          <a:prstGeom prst="rect">
            <a:avLst/>
          </a:prstGeom>
        </p:spPr>
      </p:pic>
      <p:pic>
        <p:nvPicPr>
          <p:cNvPr id="8" name="Picture 7">
            <a:extLst>
              <a:ext uri="{FF2B5EF4-FFF2-40B4-BE49-F238E27FC236}">
                <a16:creationId xmlns:a16="http://schemas.microsoft.com/office/drawing/2014/main" id="{D6331B80-13A6-439A-9988-C4A4D84D0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6982" y="100681"/>
            <a:ext cx="1562318" cy="314369"/>
          </a:xfrm>
          <a:prstGeom prst="rect">
            <a:avLst/>
          </a:prstGeom>
        </p:spPr>
      </p:pic>
    </p:spTree>
    <p:extLst>
      <p:ext uri="{BB962C8B-B14F-4D97-AF65-F5344CB8AC3E}">
        <p14:creationId xmlns:p14="http://schemas.microsoft.com/office/powerpoint/2010/main" val="207288590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OTBI</a:t>
            </a:r>
          </a:p>
        </p:txBody>
      </p:sp>
      <p:pic>
        <p:nvPicPr>
          <p:cNvPr id="5" name="Picture 2"/>
          <p:cNvPicPr>
            <a:picLocks noGrp="1" noChangeAspect="1" noChangeArrowheads="1"/>
          </p:cNvPicPr>
          <p:nvPr>
            <p:ph sz="quarter" idx="12"/>
          </p:nvPr>
        </p:nvPicPr>
        <p:blipFill>
          <a:blip r:embed="rId2" cstate="print"/>
          <a:srcRect/>
          <a:stretch>
            <a:fillRect/>
          </a:stretch>
        </p:blipFill>
        <p:spPr bwMode="blackGray">
          <a:xfrm>
            <a:off x="1117309" y="1600200"/>
            <a:ext cx="3047206" cy="4343400"/>
          </a:xfrm>
          <a:prstGeom prst="rect">
            <a:avLst/>
          </a:prstGeom>
          <a:noFill/>
        </p:spPr>
      </p:pic>
      <p:sp>
        <p:nvSpPr>
          <p:cNvPr id="4" name="Text Placeholder 3"/>
          <p:cNvSpPr>
            <a:spLocks noGrp="1"/>
          </p:cNvSpPr>
          <p:nvPr>
            <p:ph type="body" sz="quarter" idx="13"/>
          </p:nvPr>
        </p:nvSpPr>
        <p:spPr/>
        <p:txBody>
          <a:bodyPr/>
          <a:lstStyle/>
          <a:p>
            <a:r>
              <a:rPr lang="en-US" dirty="0"/>
              <a:t>Subject Area, Presentation Folders, Attributes, and Measures</a:t>
            </a:r>
          </a:p>
        </p:txBody>
      </p:sp>
      <p:sp>
        <p:nvSpPr>
          <p:cNvPr id="7" name="Rounded Rectangular Callout 5"/>
          <p:cNvSpPr>
            <a:spLocks noChangeArrowheads="1"/>
          </p:cNvSpPr>
          <p:nvPr/>
        </p:nvSpPr>
        <p:spPr bwMode="auto">
          <a:xfrm>
            <a:off x="5383397" y="1803401"/>
            <a:ext cx="3656648" cy="550861"/>
          </a:xfrm>
          <a:prstGeom prst="wedgeRoundRectCallout">
            <a:avLst>
              <a:gd name="adj1" fmla="val -96157"/>
              <a:gd name="adj2" fmla="val -42773"/>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Subject Area</a:t>
            </a:r>
          </a:p>
        </p:txBody>
      </p:sp>
      <p:sp>
        <p:nvSpPr>
          <p:cNvPr id="8" name="Rounded Rectangular Callout 6"/>
          <p:cNvSpPr>
            <a:spLocks noChangeArrowheads="1"/>
          </p:cNvSpPr>
          <p:nvPr/>
        </p:nvSpPr>
        <p:spPr bwMode="auto">
          <a:xfrm>
            <a:off x="5383398" y="2616201"/>
            <a:ext cx="6399133" cy="550861"/>
          </a:xfrm>
          <a:prstGeom prst="wedgeRoundRectCallout">
            <a:avLst>
              <a:gd name="adj1" fmla="val -95782"/>
              <a:gd name="adj2" fmla="val -73995"/>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Dimension - Presentation Folders</a:t>
            </a:r>
          </a:p>
        </p:txBody>
      </p:sp>
      <p:sp>
        <p:nvSpPr>
          <p:cNvPr id="9" name="Rounded Rectangular Callout 7"/>
          <p:cNvSpPr>
            <a:spLocks noChangeArrowheads="1"/>
          </p:cNvSpPr>
          <p:nvPr/>
        </p:nvSpPr>
        <p:spPr bwMode="auto">
          <a:xfrm>
            <a:off x="5586545" y="3429001"/>
            <a:ext cx="3961368" cy="550861"/>
          </a:xfrm>
          <a:prstGeom prst="wedgeRoundRectCallout">
            <a:avLst>
              <a:gd name="adj1" fmla="val -119620"/>
              <a:gd name="adj2" fmla="val -1935"/>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Dimension - Attributes</a:t>
            </a:r>
          </a:p>
        </p:txBody>
      </p:sp>
      <p:sp>
        <p:nvSpPr>
          <p:cNvPr id="10" name="Rounded Rectangular Callout 9"/>
          <p:cNvSpPr>
            <a:spLocks noChangeArrowheads="1"/>
          </p:cNvSpPr>
          <p:nvPr/>
        </p:nvSpPr>
        <p:spPr bwMode="auto">
          <a:xfrm>
            <a:off x="5789692" y="4305301"/>
            <a:ext cx="5484971" cy="550861"/>
          </a:xfrm>
          <a:prstGeom prst="wedgeRoundRectCallout">
            <a:avLst>
              <a:gd name="adj1" fmla="val -117505"/>
              <a:gd name="adj2" fmla="val 65319"/>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Fact – Presentation Folder</a:t>
            </a:r>
          </a:p>
        </p:txBody>
      </p:sp>
      <p:sp>
        <p:nvSpPr>
          <p:cNvPr id="11" name="Rounded Rectangular Callout 10"/>
          <p:cNvSpPr>
            <a:spLocks noChangeArrowheads="1"/>
          </p:cNvSpPr>
          <p:nvPr/>
        </p:nvSpPr>
        <p:spPr bwMode="auto">
          <a:xfrm>
            <a:off x="5789692" y="5054601"/>
            <a:ext cx="5484971" cy="550861"/>
          </a:xfrm>
          <a:prstGeom prst="wedgeRoundRectCallout">
            <a:avLst>
              <a:gd name="adj1" fmla="val -110574"/>
              <a:gd name="adj2" fmla="val 34097"/>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Fact – Measures</a:t>
            </a:r>
          </a:p>
        </p:txBody>
      </p:sp>
      <p:sp>
        <p:nvSpPr>
          <p:cNvPr id="12" name="Title 1"/>
          <p:cNvSpPr txBox="1">
            <a:spLocks/>
          </p:cNvSpPr>
          <p:nvPr/>
        </p:nvSpPr>
        <p:spPr bwMode="auto">
          <a:xfrm>
            <a:off x="1015736" y="1267885"/>
            <a:ext cx="11003800" cy="535516"/>
          </a:xfrm>
          <a:prstGeom prst="rect">
            <a:avLst/>
          </a:prstGeom>
          <a:noFill/>
          <a:ln w="9525">
            <a:noFill/>
            <a:miter lim="800000"/>
            <a:headEnd/>
            <a:tailEnd/>
          </a:ln>
        </p:spPr>
        <p:txBody>
          <a:bodyPr lIns="0" tIns="0" rIns="0" bIns="0"/>
          <a:lstStyle/>
          <a:p>
            <a:pPr>
              <a:defRPr/>
            </a:pPr>
            <a:r>
              <a:rPr lang="en-US" sz="1600" b="1" kern="0" dirty="0">
                <a:latin typeface="+mj-lt"/>
                <a:ea typeface="+mj-ea"/>
                <a:cs typeface="+mj-cs"/>
              </a:rPr>
              <a:t>Subject Area is a collection of functional reporting metadata organized by folders and columns for ad-hoc reporting.</a:t>
            </a:r>
          </a:p>
        </p:txBody>
      </p:sp>
      <p:pic>
        <p:nvPicPr>
          <p:cNvPr id="6" name="Picture 5">
            <a:extLst>
              <a:ext uri="{FF2B5EF4-FFF2-40B4-BE49-F238E27FC236}">
                <a16:creationId xmlns:a16="http://schemas.microsoft.com/office/drawing/2014/main" id="{4F7DDCF8-2393-47A3-BC6A-141B11F29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750" y="51488"/>
            <a:ext cx="1895740" cy="314369"/>
          </a:xfrm>
          <a:prstGeom prst="rect">
            <a:avLst/>
          </a:prstGeom>
        </p:spPr>
      </p:pic>
      <p:pic>
        <p:nvPicPr>
          <p:cNvPr id="14" name="Picture 13">
            <a:extLst>
              <a:ext uri="{FF2B5EF4-FFF2-40B4-BE49-F238E27FC236}">
                <a16:creationId xmlns:a16="http://schemas.microsoft.com/office/drawing/2014/main" id="{E8CC03FC-C287-4AF0-B6BD-1F5A4E238E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0247" y="66310"/>
            <a:ext cx="1562318" cy="314369"/>
          </a:xfrm>
          <a:prstGeom prst="rect">
            <a:avLst/>
          </a:prstGeom>
        </p:spPr>
      </p:pic>
    </p:spTree>
    <p:extLst>
      <p:ext uri="{BB962C8B-B14F-4D97-AF65-F5344CB8AC3E}">
        <p14:creationId xmlns:p14="http://schemas.microsoft.com/office/powerpoint/2010/main" val="35902479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57516" y="1701800"/>
          <a:ext cx="10625015" cy="3907367"/>
        </p:xfrm>
        <a:graphic>
          <a:graphicData uri="http://schemas.openxmlformats.org/drawingml/2006/table">
            <a:tbl>
              <a:tblPr firstRow="1" bandRow="1">
                <a:tableStyleId>{5C22544A-7EE6-4342-B048-85BDC9FD1C3A}</a:tableStyleId>
              </a:tblPr>
              <a:tblGrid>
                <a:gridCol w="3932060">
                  <a:extLst>
                    <a:ext uri="{9D8B030D-6E8A-4147-A177-3AD203B41FA5}">
                      <a16:colId xmlns:a16="http://schemas.microsoft.com/office/drawing/2014/main" val="20000"/>
                    </a:ext>
                  </a:extLst>
                </a:gridCol>
                <a:gridCol w="6692955">
                  <a:extLst>
                    <a:ext uri="{9D8B030D-6E8A-4147-A177-3AD203B41FA5}">
                      <a16:colId xmlns:a16="http://schemas.microsoft.com/office/drawing/2014/main" val="20001"/>
                    </a:ext>
                  </a:extLst>
                </a:gridCol>
              </a:tblGrid>
              <a:tr h="493803">
                <a:tc>
                  <a:txBody>
                    <a:bodyPr/>
                    <a:lstStyle/>
                    <a:p>
                      <a:endParaRPr lang="en-US" sz="2400" dirty="0"/>
                    </a:p>
                  </a:txBody>
                  <a:tcPr marL="121886" marR="121886" marT="60879" marB="60879"/>
                </a:tc>
                <a:tc>
                  <a:txBody>
                    <a:bodyPr/>
                    <a:lstStyle/>
                    <a:p>
                      <a:endParaRPr lang="en-US" sz="2400"/>
                    </a:p>
                  </a:txBody>
                  <a:tcPr marL="121886" marR="121886" marT="60879" marB="60879"/>
                </a:tc>
                <a:extLst>
                  <a:ext uri="{0D108BD9-81ED-4DB2-BD59-A6C34878D82A}">
                    <a16:rowId xmlns:a16="http://schemas.microsoft.com/office/drawing/2014/main" val="10000"/>
                  </a:ext>
                </a:extLst>
              </a:tr>
              <a:tr h="3413564">
                <a:tc>
                  <a:txBody>
                    <a:bodyPr/>
                    <a:lstStyle/>
                    <a:p>
                      <a:r>
                        <a:rPr lang="en-US" altLang="en-US" sz="2400" dirty="0"/>
                        <a:t>Subject Area</a:t>
                      </a:r>
                      <a:endParaRPr lang="en-US" sz="2400" dirty="0"/>
                    </a:p>
                  </a:txBody>
                  <a:tcPr marL="121886" marR="121886" marT="60879" marB="60879"/>
                </a:tc>
                <a:tc>
                  <a:txBody>
                    <a:bodyPr/>
                    <a:lstStyle/>
                    <a:p>
                      <a:r>
                        <a:rPr lang="en-US" altLang="en-US" sz="2400" dirty="0"/>
                        <a:t>All the related functions are grouped under a specific subject area. For example: The Salary Details of employees</a:t>
                      </a:r>
                      <a:r>
                        <a:rPr lang="en-US" altLang="en-US" sz="2400" baseline="0" dirty="0"/>
                        <a:t> are grouped under the subject area called “</a:t>
                      </a:r>
                      <a:r>
                        <a:rPr lang="en-US" altLang="en-US" sz="2400" dirty="0"/>
                        <a:t>Compensation – Salary Details”.</a:t>
                      </a:r>
                    </a:p>
                    <a:p>
                      <a:r>
                        <a:rPr lang="en-US" sz="2400" dirty="0"/>
                        <a:t>Worker assignment</a:t>
                      </a:r>
                      <a:r>
                        <a:rPr lang="en-US" sz="2400" baseline="0" dirty="0"/>
                        <a:t> changes are grouped under the subject </a:t>
                      </a:r>
                      <a:r>
                        <a:rPr lang="en-US" sz="2400" kern="1200" dirty="0">
                          <a:solidFill>
                            <a:schemeClr val="dk1"/>
                          </a:solidFill>
                          <a:latin typeface="+mn-lt"/>
                          <a:ea typeface="+mn-ea"/>
                          <a:cs typeface="+mn-cs"/>
                        </a:rPr>
                        <a:t>area called “Workforce Management - Worker Assignment Event Real Time”</a:t>
                      </a:r>
                    </a:p>
                  </a:txBody>
                  <a:tcPr marL="121886" marR="121886" marT="60879" marB="60879"/>
                </a:tc>
                <a:extLst>
                  <a:ext uri="{0D108BD9-81ED-4DB2-BD59-A6C34878D82A}">
                    <a16:rowId xmlns:a16="http://schemas.microsoft.com/office/drawing/2014/main" val="10001"/>
                  </a:ext>
                </a:extLst>
              </a:tr>
            </a:tbl>
          </a:graphicData>
        </a:graphic>
      </p:graphicFrame>
      <p:sp>
        <p:nvSpPr>
          <p:cNvPr id="13325" name="Title 1"/>
          <p:cNvSpPr>
            <a:spLocks noGrp="1"/>
          </p:cNvSpPr>
          <p:nvPr>
            <p:ph type="title"/>
          </p:nvPr>
        </p:nvSpPr>
        <p:spPr>
          <a:xfrm>
            <a:off x="1117309" y="523783"/>
            <a:ext cx="11003800" cy="771618"/>
          </a:xfrm>
        </p:spPr>
        <p:txBody>
          <a:bodyPr>
            <a:normAutofit fontScale="90000"/>
          </a:bodyPr>
          <a:lstStyle/>
          <a:p>
            <a:r>
              <a:rPr lang="en-US" altLang="en-US" sz="3700"/>
              <a:t>Subject Area, Presentation Folders, Attributes, and Measures</a:t>
            </a:r>
          </a:p>
        </p:txBody>
      </p:sp>
      <p:pic>
        <p:nvPicPr>
          <p:cNvPr id="3" name="Picture 2">
            <a:extLst>
              <a:ext uri="{FF2B5EF4-FFF2-40B4-BE49-F238E27FC236}">
                <a16:creationId xmlns:a16="http://schemas.microsoft.com/office/drawing/2014/main" id="{BC10899C-3D0E-4F68-9045-A044E2C0E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649" y="48685"/>
            <a:ext cx="1895740" cy="314369"/>
          </a:xfrm>
          <a:prstGeom prst="rect">
            <a:avLst/>
          </a:prstGeom>
        </p:spPr>
      </p:pic>
      <p:pic>
        <p:nvPicPr>
          <p:cNvPr id="6" name="Picture 5">
            <a:extLst>
              <a:ext uri="{FF2B5EF4-FFF2-40B4-BE49-F238E27FC236}">
                <a16:creationId xmlns:a16="http://schemas.microsoft.com/office/drawing/2014/main" id="{1FE7D46F-5C31-454F-B2BA-65D329D64B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5859" y="-2362"/>
            <a:ext cx="1562318" cy="314369"/>
          </a:xfrm>
          <a:prstGeom prst="rect">
            <a:avLst/>
          </a:prstGeom>
        </p:spPr>
      </p:pic>
    </p:spTree>
    <p:extLst>
      <p:ext uri="{BB962C8B-B14F-4D97-AF65-F5344CB8AC3E}">
        <p14:creationId xmlns:p14="http://schemas.microsoft.com/office/powerpoint/2010/main" val="3005836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57516" y="1701800"/>
          <a:ext cx="10625015" cy="4091518"/>
        </p:xfrm>
        <a:graphic>
          <a:graphicData uri="http://schemas.openxmlformats.org/drawingml/2006/table">
            <a:tbl>
              <a:tblPr firstRow="1" bandRow="1">
                <a:tableStyleId>{5C22544A-7EE6-4342-B048-85BDC9FD1C3A}</a:tableStyleId>
              </a:tblPr>
              <a:tblGrid>
                <a:gridCol w="3932060">
                  <a:extLst>
                    <a:ext uri="{9D8B030D-6E8A-4147-A177-3AD203B41FA5}">
                      <a16:colId xmlns:a16="http://schemas.microsoft.com/office/drawing/2014/main" val="20000"/>
                    </a:ext>
                  </a:extLst>
                </a:gridCol>
                <a:gridCol w="6692955">
                  <a:extLst>
                    <a:ext uri="{9D8B030D-6E8A-4147-A177-3AD203B41FA5}">
                      <a16:colId xmlns:a16="http://schemas.microsoft.com/office/drawing/2014/main" val="20001"/>
                    </a:ext>
                  </a:extLst>
                </a:gridCol>
              </a:tblGrid>
              <a:tr h="494504">
                <a:tc>
                  <a:txBody>
                    <a:bodyPr/>
                    <a:lstStyle/>
                    <a:p>
                      <a:endParaRPr lang="en-US" sz="2000" dirty="0"/>
                    </a:p>
                  </a:txBody>
                  <a:tcPr marL="121886" marR="121886" marT="60967" marB="60967"/>
                </a:tc>
                <a:tc>
                  <a:txBody>
                    <a:bodyPr/>
                    <a:lstStyle/>
                    <a:p>
                      <a:endParaRPr lang="en-US" sz="2000"/>
                    </a:p>
                  </a:txBody>
                  <a:tcPr marL="121886" marR="121886" marT="60967" marB="60967"/>
                </a:tc>
                <a:extLst>
                  <a:ext uri="{0D108BD9-81ED-4DB2-BD59-A6C34878D82A}">
                    <a16:rowId xmlns:a16="http://schemas.microsoft.com/office/drawing/2014/main" val="10000"/>
                  </a:ext>
                </a:extLst>
              </a:tr>
              <a:tr h="2255755">
                <a:tc>
                  <a:txBody>
                    <a:bodyPr/>
                    <a:lstStyle/>
                    <a:p>
                      <a:r>
                        <a:rPr lang="en-US" altLang="en-US" sz="2000" dirty="0"/>
                        <a:t>Dimension</a:t>
                      </a:r>
                      <a:r>
                        <a:rPr lang="en-US" altLang="en-US" sz="2000" baseline="0" dirty="0"/>
                        <a:t> </a:t>
                      </a:r>
                      <a:r>
                        <a:rPr lang="en-US" altLang="en-US" sz="2000" dirty="0"/>
                        <a:t>Presentation Folder</a:t>
                      </a:r>
                      <a:endParaRPr lang="en-US" sz="2000" dirty="0"/>
                    </a:p>
                  </a:txBody>
                  <a:tcPr marL="121886" marR="121886" marT="60967" marB="609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kern="1200" dirty="0">
                          <a:solidFill>
                            <a:schemeClr val="dk1"/>
                          </a:solidFill>
                          <a:latin typeface="+mn-lt"/>
                          <a:ea typeface="+mn-ea"/>
                          <a:cs typeface="+mn-cs"/>
                        </a:rPr>
                        <a:t>Dimension Presentation Folders – Each of the Subject Areas contain multiple folders within them. Related information are grouped under the presentation folders. For ex: Employee information like Person name, DOB, marital status, ethnicity can be grouped under ‘Worker’ folder. Similarly, current salary, previous salary etc. can be grouped under the ‘Salary’ folder</a:t>
                      </a:r>
                    </a:p>
                  </a:txBody>
                  <a:tcPr marL="121886" marR="121886" marT="60967" marB="60967"/>
                </a:tc>
                <a:extLst>
                  <a:ext uri="{0D108BD9-81ED-4DB2-BD59-A6C34878D82A}">
                    <a16:rowId xmlns:a16="http://schemas.microsoft.com/office/drawing/2014/main" val="10001"/>
                  </a:ext>
                </a:extLst>
              </a:tr>
              <a:tr h="1341259">
                <a:tc>
                  <a:txBody>
                    <a:bodyPr/>
                    <a:lstStyle/>
                    <a:p>
                      <a:r>
                        <a:rPr lang="en-US" altLang="en-US" sz="2000" dirty="0"/>
                        <a:t>Attributes</a:t>
                      </a:r>
                      <a:endParaRPr lang="en-US" sz="2000" dirty="0"/>
                    </a:p>
                  </a:txBody>
                  <a:tcPr marL="121886" marR="121886" marT="60967" marB="609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dirty="0"/>
                        <a:t>The information like ‘Person Name’, ‘</a:t>
                      </a:r>
                      <a:r>
                        <a:rPr lang="en-US" altLang="en-US" sz="2000" dirty="0" err="1"/>
                        <a:t>dob</a:t>
                      </a:r>
                      <a:r>
                        <a:rPr lang="en-US" altLang="en-US" sz="2000" dirty="0"/>
                        <a:t>, ‘Region’, </a:t>
                      </a:r>
                      <a:r>
                        <a:rPr lang="en-US" altLang="en-US" sz="2000" dirty="0" err="1"/>
                        <a:t>etc</a:t>
                      </a:r>
                      <a:r>
                        <a:rPr lang="en-US" altLang="en-US" sz="2000" dirty="0"/>
                        <a:t> are the various attributes. These attributes are grouped under the</a:t>
                      </a:r>
                      <a:r>
                        <a:rPr lang="en-US" altLang="en-US" sz="2000" baseline="0" dirty="0"/>
                        <a:t> dimension </a:t>
                      </a:r>
                      <a:r>
                        <a:rPr lang="en-US" altLang="en-US" sz="2000" dirty="0"/>
                        <a:t>presentation folder.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kern="1200" dirty="0">
                          <a:solidFill>
                            <a:schemeClr val="dk1"/>
                          </a:solidFill>
                          <a:latin typeface="+mn-lt"/>
                          <a:ea typeface="+mn-ea"/>
                          <a:cs typeface="+mn-cs"/>
                        </a:rPr>
                        <a:t>Attributes mostly</a:t>
                      </a:r>
                      <a:r>
                        <a:rPr lang="en-US" altLang="en-US" sz="2000" kern="1200" baseline="0" dirty="0">
                          <a:solidFill>
                            <a:schemeClr val="dk1"/>
                          </a:solidFill>
                          <a:latin typeface="+mn-lt"/>
                          <a:ea typeface="+mn-ea"/>
                          <a:cs typeface="+mn-cs"/>
                        </a:rPr>
                        <a:t> refer to “text” or “date” values</a:t>
                      </a:r>
                      <a:endParaRPr lang="en-US" altLang="en-US" sz="2000" kern="1200" dirty="0">
                        <a:solidFill>
                          <a:schemeClr val="dk1"/>
                        </a:solidFill>
                        <a:latin typeface="+mn-lt"/>
                        <a:ea typeface="+mn-ea"/>
                        <a:cs typeface="+mn-cs"/>
                      </a:endParaRPr>
                    </a:p>
                  </a:txBody>
                  <a:tcPr marL="121886" marR="121886" marT="60967" marB="60967"/>
                </a:tc>
                <a:extLst>
                  <a:ext uri="{0D108BD9-81ED-4DB2-BD59-A6C34878D82A}">
                    <a16:rowId xmlns:a16="http://schemas.microsoft.com/office/drawing/2014/main" val="10002"/>
                  </a:ext>
                </a:extLst>
              </a:tr>
            </a:tbl>
          </a:graphicData>
        </a:graphic>
      </p:graphicFrame>
      <p:sp>
        <p:nvSpPr>
          <p:cNvPr id="14352" name="Title 1"/>
          <p:cNvSpPr>
            <a:spLocks noGrp="1"/>
          </p:cNvSpPr>
          <p:nvPr>
            <p:ph type="title"/>
          </p:nvPr>
        </p:nvSpPr>
        <p:spPr>
          <a:xfrm>
            <a:off x="1117309" y="603681"/>
            <a:ext cx="11003800" cy="691719"/>
          </a:xfrm>
        </p:spPr>
        <p:txBody>
          <a:bodyPr>
            <a:normAutofit fontScale="90000"/>
          </a:bodyPr>
          <a:lstStyle/>
          <a:p>
            <a:r>
              <a:rPr lang="en-US" altLang="en-US" sz="3700" dirty="0"/>
              <a:t>Subject Area, Presentation Folders, Attributes, and Measures</a:t>
            </a:r>
          </a:p>
        </p:txBody>
      </p:sp>
      <p:pic>
        <p:nvPicPr>
          <p:cNvPr id="3" name="Picture 2">
            <a:extLst>
              <a:ext uri="{FF2B5EF4-FFF2-40B4-BE49-F238E27FC236}">
                <a16:creationId xmlns:a16="http://schemas.microsoft.com/office/drawing/2014/main" id="{245A9B1A-2B86-4DF0-9B08-2EF1B6EE1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218" y="48685"/>
            <a:ext cx="1895740" cy="314369"/>
          </a:xfrm>
          <a:prstGeom prst="rect">
            <a:avLst/>
          </a:prstGeom>
        </p:spPr>
      </p:pic>
      <p:pic>
        <p:nvPicPr>
          <p:cNvPr id="6" name="Picture 5">
            <a:extLst>
              <a:ext uri="{FF2B5EF4-FFF2-40B4-BE49-F238E27FC236}">
                <a16:creationId xmlns:a16="http://schemas.microsoft.com/office/drawing/2014/main" id="{CD0A05F9-F326-4BD8-BB5E-9148D7000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7384" y="40096"/>
            <a:ext cx="1562318" cy="314369"/>
          </a:xfrm>
          <a:prstGeom prst="rect">
            <a:avLst/>
          </a:prstGeom>
        </p:spPr>
      </p:pic>
    </p:spTree>
    <p:extLst>
      <p:ext uri="{BB962C8B-B14F-4D97-AF65-F5344CB8AC3E}">
        <p14:creationId xmlns:p14="http://schemas.microsoft.com/office/powerpoint/2010/main" val="96696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57516" y="1701801"/>
          <a:ext cx="10625015" cy="3481916"/>
        </p:xfrm>
        <a:graphic>
          <a:graphicData uri="http://schemas.openxmlformats.org/drawingml/2006/table">
            <a:tbl>
              <a:tblPr firstRow="1" bandRow="1">
                <a:tableStyleId>{5C22544A-7EE6-4342-B048-85BDC9FD1C3A}</a:tableStyleId>
              </a:tblPr>
              <a:tblGrid>
                <a:gridCol w="3932060">
                  <a:extLst>
                    <a:ext uri="{9D8B030D-6E8A-4147-A177-3AD203B41FA5}">
                      <a16:colId xmlns:a16="http://schemas.microsoft.com/office/drawing/2014/main" val="20000"/>
                    </a:ext>
                  </a:extLst>
                </a:gridCol>
                <a:gridCol w="6692955">
                  <a:extLst>
                    <a:ext uri="{9D8B030D-6E8A-4147-A177-3AD203B41FA5}">
                      <a16:colId xmlns:a16="http://schemas.microsoft.com/office/drawing/2014/main" val="20001"/>
                    </a:ext>
                  </a:extLst>
                </a:gridCol>
              </a:tblGrid>
              <a:tr h="494513">
                <a:tc>
                  <a:txBody>
                    <a:bodyPr/>
                    <a:lstStyle/>
                    <a:p>
                      <a:endParaRPr lang="en-US" sz="2400" dirty="0"/>
                    </a:p>
                  </a:txBody>
                  <a:tcPr marL="121886" marR="121886" marT="60968" marB="60968"/>
                </a:tc>
                <a:tc>
                  <a:txBody>
                    <a:bodyPr/>
                    <a:lstStyle/>
                    <a:p>
                      <a:endParaRPr lang="en-US" sz="2400"/>
                    </a:p>
                  </a:txBody>
                  <a:tcPr marL="121886" marR="121886" marT="60968" marB="60968"/>
                </a:tc>
                <a:extLst>
                  <a:ext uri="{0D108BD9-81ED-4DB2-BD59-A6C34878D82A}">
                    <a16:rowId xmlns:a16="http://schemas.microsoft.com/office/drawing/2014/main" val="10000"/>
                  </a:ext>
                </a:extLst>
              </a:tr>
              <a:tr h="1341283">
                <a:tc>
                  <a:txBody>
                    <a:bodyPr/>
                    <a:lstStyle/>
                    <a:p>
                      <a:r>
                        <a:rPr lang="en-US" altLang="en-US" sz="2000" dirty="0"/>
                        <a:t>Fact Presentation Folders</a:t>
                      </a:r>
                      <a:endParaRPr lang="en-US" sz="2000" dirty="0"/>
                    </a:p>
                  </a:txBody>
                  <a:tcPr marL="121886" marR="121886" marT="60968" marB="6096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dirty="0"/>
                        <a:t>The Fact Presentation Folders contain the information about the metrics for the various dimension attributes. For ex: current salary, prior</a:t>
                      </a:r>
                      <a:r>
                        <a:rPr lang="en-US" altLang="en-US" sz="2000" baseline="0" dirty="0"/>
                        <a:t> salary</a:t>
                      </a:r>
                      <a:r>
                        <a:rPr lang="en-US" altLang="en-US" sz="2000" dirty="0"/>
                        <a:t> can be grouped under the ‘Salary’ folder</a:t>
                      </a:r>
                    </a:p>
                  </a:txBody>
                  <a:tcPr marL="121886" marR="121886" marT="60968" marB="60968"/>
                </a:tc>
                <a:extLst>
                  <a:ext uri="{0D108BD9-81ED-4DB2-BD59-A6C34878D82A}">
                    <a16:rowId xmlns:a16="http://schemas.microsoft.com/office/drawing/2014/main" val="10001"/>
                  </a:ext>
                </a:extLst>
              </a:tr>
              <a:tr h="1646120">
                <a:tc>
                  <a:txBody>
                    <a:bodyPr/>
                    <a:lstStyle/>
                    <a:p>
                      <a:r>
                        <a:rPr lang="en-US" altLang="en-US" sz="2100" dirty="0"/>
                        <a:t>Measures</a:t>
                      </a:r>
                      <a:endParaRPr lang="en-US" sz="2000" dirty="0"/>
                    </a:p>
                  </a:txBody>
                  <a:tcPr marL="121886" marR="121886" marT="60968" marB="6096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dirty="0"/>
                        <a:t>Measures are mostly</a:t>
                      </a:r>
                      <a:r>
                        <a:rPr lang="en-US" altLang="en-US" sz="2000" baseline="0" dirty="0"/>
                        <a:t> numeric attributes. For example, “Current Salary”, “Prior Salary”, “</a:t>
                      </a:r>
                      <a:r>
                        <a:rPr lang="en-US" sz="2000" b="0" i="0" u="none" strike="noStrike" kern="1200" baseline="0" dirty="0">
                          <a:solidFill>
                            <a:schemeClr val="dk1"/>
                          </a:solidFill>
                          <a:latin typeface="+mn-lt"/>
                          <a:ea typeface="+mn-ea"/>
                          <a:cs typeface="+mn-cs"/>
                        </a:rPr>
                        <a:t># Of Hires”, “# Of Promotions”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dirty="0"/>
                        <a:t>These measures are grouped under the</a:t>
                      </a:r>
                      <a:r>
                        <a:rPr lang="en-US" altLang="en-US" sz="2000" baseline="0" dirty="0"/>
                        <a:t> fact </a:t>
                      </a:r>
                      <a:r>
                        <a:rPr lang="en-US" altLang="en-US" sz="2000" dirty="0"/>
                        <a:t>presentation folder</a:t>
                      </a:r>
                      <a:endParaRPr lang="en-US" sz="2000" b="0" i="0" u="none" strike="noStrike" kern="1200" baseline="0" dirty="0">
                        <a:solidFill>
                          <a:schemeClr val="dk1"/>
                        </a:solidFill>
                        <a:latin typeface="+mn-lt"/>
                        <a:ea typeface="+mn-ea"/>
                        <a:cs typeface="+mn-cs"/>
                      </a:endParaRPr>
                    </a:p>
                  </a:txBody>
                  <a:tcPr marL="121886" marR="121886" marT="60968" marB="60968"/>
                </a:tc>
                <a:extLst>
                  <a:ext uri="{0D108BD9-81ED-4DB2-BD59-A6C34878D82A}">
                    <a16:rowId xmlns:a16="http://schemas.microsoft.com/office/drawing/2014/main" val="10002"/>
                  </a:ext>
                </a:extLst>
              </a:tr>
            </a:tbl>
          </a:graphicData>
        </a:graphic>
      </p:graphicFrame>
      <p:sp>
        <p:nvSpPr>
          <p:cNvPr id="15376" name="Title 1"/>
          <p:cNvSpPr>
            <a:spLocks noGrp="1"/>
          </p:cNvSpPr>
          <p:nvPr>
            <p:ph type="title"/>
          </p:nvPr>
        </p:nvSpPr>
        <p:spPr>
          <a:xfrm>
            <a:off x="1117309" y="541537"/>
            <a:ext cx="11003800" cy="753863"/>
          </a:xfrm>
        </p:spPr>
        <p:txBody>
          <a:bodyPr>
            <a:normAutofit fontScale="90000"/>
          </a:bodyPr>
          <a:lstStyle/>
          <a:p>
            <a:r>
              <a:rPr lang="en-US" altLang="en-US" sz="3700" dirty="0"/>
              <a:t>Subject Area, Presentation Folders, Attributes, and Measures</a:t>
            </a:r>
          </a:p>
        </p:txBody>
      </p:sp>
      <p:pic>
        <p:nvPicPr>
          <p:cNvPr id="6" name="Picture 5">
            <a:extLst>
              <a:ext uri="{FF2B5EF4-FFF2-40B4-BE49-F238E27FC236}">
                <a16:creationId xmlns:a16="http://schemas.microsoft.com/office/drawing/2014/main" id="{28C02B1A-E745-403C-8B6E-AC88B9544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40" y="48685"/>
            <a:ext cx="1895740" cy="314369"/>
          </a:xfrm>
          <a:prstGeom prst="rect">
            <a:avLst/>
          </a:prstGeom>
        </p:spPr>
      </p:pic>
      <p:pic>
        <p:nvPicPr>
          <p:cNvPr id="8" name="Picture 7">
            <a:extLst>
              <a:ext uri="{FF2B5EF4-FFF2-40B4-BE49-F238E27FC236}">
                <a16:creationId xmlns:a16="http://schemas.microsoft.com/office/drawing/2014/main" id="{4B19EF90-9108-4DD6-982F-9A50322E66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2492" y="95293"/>
            <a:ext cx="1562318" cy="314369"/>
          </a:xfrm>
          <a:prstGeom prst="rect">
            <a:avLst/>
          </a:prstGeom>
        </p:spPr>
      </p:pic>
    </p:spTree>
    <p:extLst>
      <p:ext uri="{BB962C8B-B14F-4D97-AF65-F5344CB8AC3E}">
        <p14:creationId xmlns:p14="http://schemas.microsoft.com/office/powerpoint/2010/main" val="3380317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57898" y="-149524"/>
            <a:ext cx="9187615" cy="892530"/>
          </a:xfrm>
          <a:prstGeom prst="rect">
            <a:avLst/>
          </a:prstGeom>
        </p:spPr>
        <p:txBody>
          <a:bodyPr wrap="square" lIns="121899" tIns="60949" rIns="121899" bIns="60949">
            <a:spAutoFit/>
          </a:bodyPr>
          <a:lstStyle/>
          <a:p>
            <a:endParaRPr lang="en-US" dirty="0"/>
          </a:p>
          <a:p>
            <a:r>
              <a:rPr lang="en-US" sz="3200" b="1" dirty="0"/>
              <a:t>OTBI Scope Summary</a:t>
            </a:r>
            <a:endParaRPr lang="en-US" sz="2700" dirty="0"/>
          </a:p>
        </p:txBody>
      </p:sp>
      <p:graphicFrame>
        <p:nvGraphicFramePr>
          <p:cNvPr id="6" name="Group 6"/>
          <p:cNvGraphicFramePr>
            <a:graphicFrameLocks noGrp="1"/>
          </p:cNvGraphicFramePr>
          <p:nvPr/>
        </p:nvGraphicFramePr>
        <p:xfrm>
          <a:off x="2312154" y="1024847"/>
          <a:ext cx="2452856" cy="1974611"/>
        </p:xfrm>
        <a:graphic>
          <a:graphicData uri="http://schemas.openxmlformats.org/drawingml/2006/table">
            <a:tbl>
              <a:tblPr>
                <a:effectLst>
                  <a:outerShdw blurRad="50800" dist="38100" dir="2700000" algn="tl" rotWithShape="0">
                    <a:prstClr val="black">
                      <a:alpha val="40000"/>
                    </a:prstClr>
                  </a:outerShdw>
                </a:effectLst>
              </a:tblPr>
              <a:tblGrid>
                <a:gridCol w="2452856">
                  <a:extLst>
                    <a:ext uri="{9D8B030D-6E8A-4147-A177-3AD203B41FA5}">
                      <a16:colId xmlns:a16="http://schemas.microsoft.com/office/drawing/2014/main" val="20000"/>
                    </a:ext>
                  </a:extLst>
                </a:gridCol>
              </a:tblGrid>
              <a:tr h="423179">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lang="en-US" sz="1900" b="1" i="0" u="none" strike="noStrike" dirty="0">
                          <a:solidFill>
                            <a:schemeClr val="bg1"/>
                          </a:solidFill>
                          <a:latin typeface="Calibri"/>
                        </a:rPr>
                        <a:t>Benefits</a:t>
                      </a:r>
                      <a:endParaRPr kumimoji="0" lang="en-US" altLang="ja-JP" sz="1900" b="1" i="0" u="none" strike="noStrike" kern="1200" cap="none" normalizeH="0" baseline="0" dirty="0">
                        <a:ln>
                          <a:noFill/>
                        </a:ln>
                        <a:solidFill>
                          <a:schemeClr val="bg1"/>
                        </a:solidFill>
                        <a:effectLst/>
                        <a:latin typeface="Arial" charset="0"/>
                        <a:ea typeface="MS PGothic" pitchFamily="34" charset="-128"/>
                        <a:cs typeface="+mn-cs"/>
                      </a:endParaRP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1551432">
                <a:tc>
                  <a:txBody>
                    <a:bodyPr/>
                    <a:lstStyle/>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Action Items</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Enrollment Opportunities</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Enrollments</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Potential Life Events</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Setup</a:t>
                      </a: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Group 15"/>
          <p:cNvGraphicFramePr>
            <a:graphicFrameLocks noGrp="1"/>
          </p:cNvGraphicFramePr>
          <p:nvPr/>
        </p:nvGraphicFramePr>
        <p:xfrm>
          <a:off x="4977105" y="1024846"/>
          <a:ext cx="2452856" cy="1956437"/>
        </p:xfrm>
        <a:graphic>
          <a:graphicData uri="http://schemas.openxmlformats.org/drawingml/2006/table">
            <a:tbl>
              <a:tblPr>
                <a:effectLst>
                  <a:outerShdw blurRad="50800" dist="38100" dir="2700000" algn="tl" rotWithShape="0">
                    <a:prstClr val="black">
                      <a:alpha val="40000"/>
                    </a:prstClr>
                  </a:outerShdw>
                </a:effectLst>
              </a:tblPr>
              <a:tblGrid>
                <a:gridCol w="2452856">
                  <a:extLst>
                    <a:ext uri="{9D8B030D-6E8A-4147-A177-3AD203B41FA5}">
                      <a16:colId xmlns:a16="http://schemas.microsoft.com/office/drawing/2014/main" val="20000"/>
                    </a:ext>
                  </a:extLst>
                </a:gridCol>
              </a:tblGrid>
              <a:tr h="495189">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Compensation</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1461248">
                <a:tc>
                  <a:txBody>
                    <a:bodyPr/>
                    <a:lstStyle/>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Salary Details</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Stock Details</a:t>
                      </a:r>
                    </a:p>
                    <a:p>
                      <a:pPr marL="119063" marR="0" lvl="0" indent="-119063" algn="l" defTabSz="914400" rtl="0" eaLnBrk="0" fontAlgn="base" latinLnBrk="0" hangingPunct="0">
                        <a:lnSpc>
                          <a:spcPct val="80000"/>
                        </a:lnSpc>
                        <a:spcBef>
                          <a:spcPct val="25000"/>
                        </a:spcBef>
                        <a:spcAft>
                          <a:spcPct val="0"/>
                        </a:spcAft>
                        <a:buClr>
                          <a:schemeClr val="tx1"/>
                        </a:buClr>
                        <a:buSzTx/>
                        <a:buFontTx/>
                        <a:buNone/>
                        <a:tabLst/>
                      </a:pPr>
                      <a:endParaRPr kumimoji="0" lang="en-US" sz="16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1" name="Group 24"/>
          <p:cNvGraphicFramePr>
            <a:graphicFrameLocks noGrp="1"/>
          </p:cNvGraphicFramePr>
          <p:nvPr/>
        </p:nvGraphicFramePr>
        <p:xfrm>
          <a:off x="3734182" y="3123561"/>
          <a:ext cx="2446483" cy="3044190"/>
        </p:xfrm>
        <a:graphic>
          <a:graphicData uri="http://schemas.openxmlformats.org/drawingml/2006/table">
            <a:tbl>
              <a:tblPr>
                <a:effectLst>
                  <a:outerShdw blurRad="50800" dist="38100" dir="2700000" algn="tl" rotWithShape="0">
                    <a:prstClr val="black">
                      <a:alpha val="40000"/>
                    </a:prstClr>
                  </a:outerShdw>
                </a:effectLst>
              </a:tblPr>
              <a:tblGrid>
                <a:gridCol w="2446483">
                  <a:extLst>
                    <a:ext uri="{9D8B030D-6E8A-4147-A177-3AD203B41FA5}">
                      <a16:colId xmlns:a16="http://schemas.microsoft.com/office/drawing/2014/main" val="20000"/>
                    </a:ext>
                  </a:extLst>
                </a:gridCol>
              </a:tblGrid>
              <a:tr h="660400">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Workforce Performance</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2368296">
                <a:tc>
                  <a:txBody>
                    <a:bodyPr/>
                    <a:lstStyle/>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Performance Document Status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Performance Rating Distribution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Performance Rating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Performance Task Status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endParaRPr kumimoji="0" lang="en-US" sz="11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2" name="Group 42"/>
          <p:cNvGraphicFramePr>
            <a:graphicFrameLocks noGrp="1"/>
          </p:cNvGraphicFramePr>
          <p:nvPr/>
        </p:nvGraphicFramePr>
        <p:xfrm>
          <a:off x="1069231" y="3123565"/>
          <a:ext cx="2446483" cy="3015404"/>
        </p:xfrm>
        <a:graphic>
          <a:graphicData uri="http://schemas.openxmlformats.org/drawingml/2006/table">
            <a:tbl>
              <a:tblPr>
                <a:effectLst>
                  <a:outerShdw blurRad="50800" dist="38100" dir="2700000" algn="tl" rotWithShape="0">
                    <a:prstClr val="black">
                      <a:alpha val="40000"/>
                    </a:prstClr>
                  </a:outerShdw>
                </a:effectLst>
              </a:tblPr>
              <a:tblGrid>
                <a:gridCol w="2446483">
                  <a:extLst>
                    <a:ext uri="{9D8B030D-6E8A-4147-A177-3AD203B41FA5}">
                      <a16:colId xmlns:a16="http://schemas.microsoft.com/office/drawing/2014/main" val="20000"/>
                    </a:ext>
                  </a:extLst>
                </a:gridCol>
              </a:tblGrid>
              <a:tr h="634916">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Workforce Goals</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2380488">
                <a:tc>
                  <a:txBody>
                    <a:bodyPr/>
                    <a:lstStyle/>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Goal Alignments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Goal Status Overview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Goal Tasks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Target Outcomes </a:t>
                      </a: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3" name="Group 51"/>
          <p:cNvGraphicFramePr>
            <a:graphicFrameLocks noGrp="1"/>
          </p:cNvGraphicFramePr>
          <p:nvPr/>
        </p:nvGraphicFramePr>
        <p:xfrm>
          <a:off x="6399133" y="3123565"/>
          <a:ext cx="2446483" cy="3015404"/>
        </p:xfrm>
        <a:graphic>
          <a:graphicData uri="http://schemas.openxmlformats.org/drawingml/2006/table">
            <a:tbl>
              <a:tblPr>
                <a:effectLst>
                  <a:outerShdw blurRad="50800" dist="38100" dir="2700000" algn="tl" rotWithShape="0">
                    <a:prstClr val="black">
                      <a:alpha val="40000"/>
                    </a:prstClr>
                  </a:outerShdw>
                </a:effectLst>
              </a:tblPr>
              <a:tblGrid>
                <a:gridCol w="2446483">
                  <a:extLst>
                    <a:ext uri="{9D8B030D-6E8A-4147-A177-3AD203B41FA5}">
                      <a16:colId xmlns:a16="http://schemas.microsoft.com/office/drawing/2014/main" val="20000"/>
                    </a:ext>
                  </a:extLst>
                </a:gridCol>
              </a:tblGrid>
              <a:tr h="634916">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Workforce Profiles</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2380488">
                <a:tc>
                  <a:txBody>
                    <a:bodyPr/>
                    <a:lstStyle/>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Library Objects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Model Profile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Person Profile </a:t>
                      </a: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6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4" name="Group 60"/>
          <p:cNvGraphicFramePr>
            <a:graphicFrameLocks noGrp="1"/>
          </p:cNvGraphicFramePr>
          <p:nvPr/>
        </p:nvGraphicFramePr>
        <p:xfrm>
          <a:off x="7710871" y="990600"/>
          <a:ext cx="2446483" cy="1996017"/>
        </p:xfrm>
        <a:graphic>
          <a:graphicData uri="http://schemas.openxmlformats.org/drawingml/2006/table">
            <a:tbl>
              <a:tblPr>
                <a:effectLst>
                  <a:outerShdw blurRad="50800" dist="38100" dir="2700000" algn="tl" rotWithShape="0">
                    <a:prstClr val="black">
                      <a:alpha val="40000"/>
                    </a:prstClr>
                  </a:outerShdw>
                </a:effectLst>
              </a:tblPr>
              <a:tblGrid>
                <a:gridCol w="2446483">
                  <a:extLst>
                    <a:ext uri="{9D8B030D-6E8A-4147-A177-3AD203B41FA5}">
                      <a16:colId xmlns:a16="http://schemas.microsoft.com/office/drawing/2014/main" val="20000"/>
                    </a:ext>
                  </a:extLst>
                </a:gridCol>
              </a:tblGrid>
              <a:tr h="463635">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Payroll</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1527048">
                <a:tc>
                  <a:txBody>
                    <a:bodyPr/>
                    <a:lstStyle/>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Payments Costing</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Payments Distribution</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Payroll Run Costing</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Payroll Run Results </a:t>
                      </a:r>
                    </a:p>
                    <a:p>
                      <a:pPr marL="119063" marR="0" lvl="0" indent="-119063" algn="l" defTabSz="914400" rtl="0" eaLnBrk="0" fontAlgn="base" latinLnBrk="0" hangingPunct="0">
                        <a:lnSpc>
                          <a:spcPct val="80000"/>
                        </a:lnSpc>
                        <a:spcBef>
                          <a:spcPct val="2500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Retroactive Pay</a:t>
                      </a:r>
                    </a:p>
                    <a:p>
                      <a:pPr marL="119063" marR="0" lvl="0" indent="-119063" algn="l" defTabSz="914400" rtl="0" eaLnBrk="0" fontAlgn="base" latinLnBrk="0" hangingPunct="0">
                        <a:lnSpc>
                          <a:spcPct val="80000"/>
                        </a:lnSpc>
                        <a:spcBef>
                          <a:spcPct val="25000"/>
                        </a:spcBef>
                        <a:spcAft>
                          <a:spcPct val="0"/>
                        </a:spcAft>
                        <a:buClrTx/>
                        <a:buSzTx/>
                        <a:buFontTx/>
                        <a:buChar char="•"/>
                        <a:tabLst/>
                      </a:pPr>
                      <a:endParaRPr kumimoji="0" lang="en-US" sz="11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5" name="Group 6"/>
          <p:cNvGraphicFramePr>
            <a:graphicFrameLocks noGrp="1"/>
          </p:cNvGraphicFramePr>
          <p:nvPr/>
        </p:nvGraphicFramePr>
        <p:xfrm>
          <a:off x="9057485" y="3123564"/>
          <a:ext cx="2452856" cy="3002369"/>
        </p:xfrm>
        <a:graphic>
          <a:graphicData uri="http://schemas.openxmlformats.org/drawingml/2006/table">
            <a:tbl>
              <a:tblPr>
                <a:effectLst>
                  <a:outerShdw blurRad="50800" dist="38100" dir="2700000" algn="tl" rotWithShape="0">
                    <a:prstClr val="black">
                      <a:alpha val="40000"/>
                    </a:prstClr>
                  </a:outerShdw>
                </a:effectLst>
              </a:tblPr>
              <a:tblGrid>
                <a:gridCol w="2452856">
                  <a:extLst>
                    <a:ext uri="{9D8B030D-6E8A-4147-A177-3AD203B41FA5}">
                      <a16:colId xmlns:a16="http://schemas.microsoft.com/office/drawing/2014/main" val="20000"/>
                    </a:ext>
                  </a:extLst>
                </a:gridCol>
              </a:tblGrid>
              <a:tr h="682841">
                <a:tc>
                  <a:txBody>
                    <a:bodyPr/>
                    <a:lstStyle/>
                    <a:p>
                      <a:pPr marL="0" marR="0" lvl="0" indent="0" algn="ctr" defTabSz="914400" rtl="0" eaLnBrk="0" fontAlgn="base" latinLnBrk="0" hangingPunct="0">
                        <a:lnSpc>
                          <a:spcPct val="100000"/>
                        </a:lnSpc>
                        <a:spcBef>
                          <a:spcPct val="0"/>
                        </a:spcBef>
                        <a:spcAft>
                          <a:spcPct val="0"/>
                        </a:spcAft>
                        <a:buClr>
                          <a:schemeClr val="tx2"/>
                        </a:buClr>
                        <a:buSzTx/>
                        <a:buFontTx/>
                        <a:buNone/>
                        <a:tabLst>
                          <a:tab pos="136525" algn="l"/>
                        </a:tabLst>
                      </a:pPr>
                      <a:r>
                        <a:rPr kumimoji="0" lang="en-US" altLang="ja-JP" sz="1900" b="1" i="0" u="none" strike="noStrike" kern="1200" cap="none" normalizeH="0" baseline="0" dirty="0">
                          <a:ln>
                            <a:noFill/>
                          </a:ln>
                          <a:solidFill>
                            <a:schemeClr val="bg1"/>
                          </a:solidFill>
                          <a:effectLst/>
                          <a:latin typeface="Arial" charset="0"/>
                          <a:ea typeface="MS PGothic" pitchFamily="34" charset="-128"/>
                          <a:cs typeface="+mn-cs"/>
                        </a:rPr>
                        <a:t>Workforce Management</a:t>
                      </a:r>
                    </a:p>
                  </a:txBody>
                  <a:tcPr marL="60944" marR="60944" anchor="ctr" anchorCtr="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0"/>
                  </a:ext>
                </a:extLst>
              </a:tr>
              <a:tr h="2319528">
                <a:tc>
                  <a:txBody>
                    <a:bodyPr/>
                    <a:lstStyle/>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Absence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Employment Contract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Grade Rate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Person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Position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Work Relationship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Worker Assignment Event </a:t>
                      </a:r>
                    </a:p>
                    <a:p>
                      <a:pPr marL="119063" marR="0" lvl="0" indent="-119063" algn="l" defTabSz="914400" rtl="0" eaLnBrk="0" fontAlgn="base" latinLnBrk="0" hangingPunct="0">
                        <a:lnSpc>
                          <a:spcPct val="80000"/>
                        </a:lnSpc>
                        <a:spcBef>
                          <a:spcPct val="25000"/>
                        </a:spcBef>
                        <a:spcAft>
                          <a:spcPct val="0"/>
                        </a:spcAft>
                        <a:buClr>
                          <a:schemeClr val="tx1"/>
                        </a:buClr>
                        <a:buSzTx/>
                        <a:buFontTx/>
                        <a:buChar char="•"/>
                        <a:tabLst/>
                      </a:pPr>
                      <a:r>
                        <a:rPr kumimoji="0" lang="en-US" sz="1600" b="0" i="0" u="none" strike="noStrike" kern="1200" cap="none" normalizeH="0" baseline="0" dirty="0">
                          <a:ln>
                            <a:noFill/>
                          </a:ln>
                          <a:solidFill>
                            <a:schemeClr val="tx1"/>
                          </a:solidFill>
                          <a:effectLst/>
                          <a:latin typeface="Arial" charset="0"/>
                          <a:ea typeface="+mn-ea"/>
                          <a:cs typeface="+mn-cs"/>
                        </a:rPr>
                        <a:t>Worker Assignment </a:t>
                      </a:r>
                      <a:endParaRPr kumimoji="0" lang="en-US" sz="1100" b="0" i="0" u="none" strike="noStrike" kern="1200" cap="none" normalizeH="0" baseline="0" dirty="0">
                        <a:ln>
                          <a:noFill/>
                        </a:ln>
                        <a:solidFill>
                          <a:schemeClr val="tx1"/>
                        </a:solidFill>
                        <a:effectLst/>
                        <a:latin typeface="Arial" charset="0"/>
                        <a:ea typeface="+mn-ea"/>
                        <a:cs typeface="+mn-cs"/>
                      </a:endParaRPr>
                    </a:p>
                  </a:txBody>
                  <a:tcPr marL="60944" marR="60944" marT="9144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a:noFill/>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046ABF6C-F8F2-4521-82AA-C999373F5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851" y="0"/>
            <a:ext cx="1895740" cy="314369"/>
          </a:xfrm>
          <a:prstGeom prst="rect">
            <a:avLst/>
          </a:prstGeom>
        </p:spPr>
      </p:pic>
      <p:pic>
        <p:nvPicPr>
          <p:cNvPr id="5" name="Picture 4">
            <a:extLst>
              <a:ext uri="{FF2B5EF4-FFF2-40B4-BE49-F238E27FC236}">
                <a16:creationId xmlns:a16="http://schemas.microsoft.com/office/drawing/2014/main" id="{46CB6C05-6570-40AE-8F64-5563945F23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6195" y="-17628"/>
            <a:ext cx="1562318" cy="314369"/>
          </a:xfrm>
          <a:prstGeom prst="rect">
            <a:avLst/>
          </a:prstGeom>
        </p:spPr>
      </p:pic>
    </p:spTree>
    <p:extLst>
      <p:ext uri="{BB962C8B-B14F-4D97-AF65-F5344CB8AC3E}">
        <p14:creationId xmlns:p14="http://schemas.microsoft.com/office/powerpoint/2010/main" val="276839376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185025" y="435006"/>
            <a:ext cx="10800653" cy="250794"/>
          </a:xfrm>
        </p:spPr>
        <p:txBody>
          <a:bodyPr>
            <a:normAutofit fontScale="90000"/>
          </a:bodyPr>
          <a:lstStyle/>
          <a:p>
            <a:pPr eaLnBrk="1" hangingPunct="1"/>
            <a:r>
              <a:rPr lang="en-US" altLang="en-US" sz="2700" dirty="0"/>
              <a:t>Real-Time Analysis – Workforce Management</a:t>
            </a:r>
          </a:p>
        </p:txBody>
      </p:sp>
      <p:sp>
        <p:nvSpPr>
          <p:cNvPr id="16387" name="Content Placeholder 2"/>
          <p:cNvSpPr>
            <a:spLocks noGrp="1"/>
          </p:cNvSpPr>
          <p:nvPr>
            <p:ph idx="1"/>
          </p:nvPr>
        </p:nvSpPr>
        <p:spPr>
          <a:xfrm>
            <a:off x="812588" y="1193800"/>
            <a:ext cx="10969943" cy="4775200"/>
          </a:xfrm>
        </p:spPr>
        <p:txBody>
          <a:bodyPr>
            <a:normAutofit/>
          </a:bodyPr>
          <a:lstStyle/>
          <a:p>
            <a:pPr lvl="1">
              <a:buFontTx/>
              <a:buNone/>
            </a:pPr>
            <a:r>
              <a:rPr lang="en-US" altLang="en-US" sz="2100" dirty="0"/>
              <a:t>Path for Seeded OTBI Reports:</a:t>
            </a:r>
          </a:p>
          <a:p>
            <a:pPr lvl="1">
              <a:buFontTx/>
              <a:buNone/>
            </a:pPr>
            <a:endParaRPr lang="en-US" altLang="en-US" sz="2100" dirty="0"/>
          </a:p>
          <a:p>
            <a:pPr lvl="1">
              <a:buFontTx/>
              <a:buNone/>
            </a:pPr>
            <a:r>
              <a:rPr lang="en-US" altLang="en-US" sz="2100" dirty="0"/>
              <a:t>Workforce Information Reports:</a:t>
            </a:r>
          </a:p>
          <a:p>
            <a:pPr lvl="1">
              <a:buFontTx/>
              <a:buNone/>
            </a:pPr>
            <a:endParaRPr lang="en-US" altLang="en-US" sz="2100" dirty="0"/>
          </a:p>
          <a:p>
            <a:pPr lvl="1">
              <a:buFontTx/>
              <a:buNone/>
            </a:pPr>
            <a:r>
              <a:rPr lang="en-US" altLang="en-US" sz="2100" dirty="0"/>
              <a:t>/Shared Folders/Human Capital Management/Workforce Management/Transactional Analysis Samples/Grade Details</a:t>
            </a:r>
          </a:p>
          <a:p>
            <a:pPr lvl="1">
              <a:buFontTx/>
              <a:buNone/>
            </a:pPr>
            <a:endParaRPr lang="en-US" altLang="en-US" sz="2100" dirty="0"/>
          </a:p>
          <a:p>
            <a:pPr lvl="1">
              <a:buFontTx/>
              <a:buNone/>
            </a:pPr>
            <a:r>
              <a:rPr lang="en-US" altLang="en-US" sz="2100" dirty="0"/>
              <a:t>Compensation Reports:</a:t>
            </a:r>
          </a:p>
          <a:p>
            <a:pPr lvl="1">
              <a:buFontTx/>
              <a:buNone/>
            </a:pPr>
            <a:endParaRPr lang="en-US" altLang="en-US" sz="2100" dirty="0"/>
          </a:p>
          <a:p>
            <a:pPr lvl="1">
              <a:buFontTx/>
              <a:buNone/>
            </a:pPr>
            <a:r>
              <a:rPr lang="en-US" altLang="en-US" sz="2100" dirty="0"/>
              <a:t>/Shared Folders/Human Capital Management/Compensation/Transactional Analysis Samples/</a:t>
            </a:r>
          </a:p>
          <a:p>
            <a:pPr lvl="1">
              <a:buFontTx/>
              <a:buNone/>
            </a:pPr>
            <a:endParaRPr lang="en-US" altLang="en-US" sz="2100" dirty="0"/>
          </a:p>
        </p:txBody>
      </p:sp>
      <p:pic>
        <p:nvPicPr>
          <p:cNvPr id="3" name="Picture 2">
            <a:extLst>
              <a:ext uri="{FF2B5EF4-FFF2-40B4-BE49-F238E27FC236}">
                <a16:creationId xmlns:a16="http://schemas.microsoft.com/office/drawing/2014/main" id="{1C91E101-4CEC-4B1A-9632-66D0DC7B8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588" y="-4785"/>
            <a:ext cx="1895740" cy="314369"/>
          </a:xfrm>
          <a:prstGeom prst="rect">
            <a:avLst/>
          </a:prstGeom>
        </p:spPr>
      </p:pic>
      <p:pic>
        <p:nvPicPr>
          <p:cNvPr id="5" name="Picture 4">
            <a:extLst>
              <a:ext uri="{FF2B5EF4-FFF2-40B4-BE49-F238E27FC236}">
                <a16:creationId xmlns:a16="http://schemas.microsoft.com/office/drawing/2014/main" id="{2ED13042-A571-485D-92CB-D79169C8E6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9262" y="0"/>
            <a:ext cx="1562318" cy="314369"/>
          </a:xfrm>
          <a:prstGeom prst="rect">
            <a:avLst/>
          </a:prstGeom>
        </p:spPr>
      </p:pic>
    </p:spTree>
    <p:extLst>
      <p:ext uri="{BB962C8B-B14F-4D97-AF65-F5344CB8AC3E}">
        <p14:creationId xmlns:p14="http://schemas.microsoft.com/office/powerpoint/2010/main" val="417991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Getting Started</a:t>
            </a:r>
            <a:endParaRPr lang="en-US" dirty="0"/>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pic>
        <p:nvPicPr>
          <p:cNvPr id="4" name="Picture 3">
            <a:extLst>
              <a:ext uri="{FF2B5EF4-FFF2-40B4-BE49-F238E27FC236}">
                <a16:creationId xmlns:a16="http://schemas.microsoft.com/office/drawing/2014/main" id="{F2486EA1-671C-4E7B-883B-0647D9386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2" y="514905"/>
            <a:ext cx="2842713" cy="497149"/>
          </a:xfrm>
          <a:prstGeom prst="rect">
            <a:avLst/>
          </a:prstGeom>
        </p:spPr>
      </p:pic>
    </p:spTree>
    <p:extLst>
      <p:ext uri="{BB962C8B-B14F-4D97-AF65-F5344CB8AC3E}">
        <p14:creationId xmlns:p14="http://schemas.microsoft.com/office/powerpoint/2010/main" val="562792028"/>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939555" y="1028699"/>
            <a:ext cx="9459036" cy="901701"/>
          </a:xfrm>
        </p:spPr>
        <p:txBody>
          <a:bodyPr>
            <a:normAutofit fontScale="32500" lnSpcReduction="20000"/>
          </a:bodyPr>
          <a:lstStyle/>
          <a:p>
            <a:pPr marL="457120" lvl="1" indent="-457120">
              <a:spcBef>
                <a:spcPts val="0"/>
              </a:spcBef>
              <a:buClrTx/>
              <a:buNone/>
              <a:defRPr/>
            </a:pPr>
            <a:r>
              <a:rPr lang="en-US" sz="1900" dirty="0"/>
              <a:t>Navigation: For accessing the Analytics page</a:t>
            </a:r>
          </a:p>
          <a:p>
            <a:pPr marL="457120" lvl="1" indent="-457120">
              <a:spcBef>
                <a:spcPts val="0"/>
              </a:spcBef>
              <a:buClrTx/>
              <a:buNone/>
              <a:defRPr/>
            </a:pPr>
            <a:r>
              <a:rPr lang="en-US" sz="1900" dirty="0"/>
              <a:t>Login to Fusion Application </a:t>
            </a:r>
            <a:r>
              <a:rPr lang="en-US" sz="1900" dirty="0">
                <a:sym typeface="Wingdings" pitchFamily="2" charset="2"/>
              </a:rPr>
              <a:t> </a:t>
            </a:r>
            <a:r>
              <a:rPr lang="en-US" sz="1900" dirty="0"/>
              <a:t> Navigator </a:t>
            </a:r>
            <a:r>
              <a:rPr lang="en-US" sz="1900" dirty="0">
                <a:sym typeface="Wingdings" pitchFamily="2" charset="2"/>
              </a:rPr>
              <a:t> Tools  Reports and Analytics </a:t>
            </a:r>
            <a:r>
              <a:rPr lang="en-US" sz="2100" u="sng" dirty="0">
                <a:solidFill>
                  <a:sysClr val="windowText" lastClr="000000"/>
                </a:solidFill>
                <a:sym typeface="Wingdings" pitchFamily="2" charset="2"/>
              </a:rPr>
              <a:t>Link</a:t>
            </a:r>
            <a:endParaRPr lang="en-US" sz="2100" u="sng" dirty="0">
              <a:solidFill>
                <a:sysClr val="windowText" lastClr="000000"/>
              </a:solidFill>
            </a:endParaRPr>
          </a:p>
          <a:p>
            <a:pPr>
              <a:buNone/>
            </a:pPr>
            <a:endParaRPr lang="en-US" sz="1900" dirty="0"/>
          </a:p>
          <a:p>
            <a:pPr>
              <a:buNone/>
            </a:pPr>
            <a:endParaRPr lang="en-US" sz="1900" dirty="0"/>
          </a:p>
          <a:p>
            <a:pPr>
              <a:buNone/>
            </a:pPr>
            <a:r>
              <a:rPr lang="en-US" sz="1900" dirty="0"/>
              <a:t> </a:t>
            </a:r>
          </a:p>
        </p:txBody>
      </p:sp>
      <p:sp>
        <p:nvSpPr>
          <p:cNvPr id="9" name="Rectangle 8"/>
          <p:cNvSpPr/>
          <p:nvPr/>
        </p:nvSpPr>
        <p:spPr>
          <a:xfrm>
            <a:off x="1057898" y="-149524"/>
            <a:ext cx="9187615"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pic>
        <p:nvPicPr>
          <p:cNvPr id="1026" name="Picture 2"/>
          <p:cNvPicPr>
            <a:picLocks noChangeAspect="1" noChangeArrowheads="1"/>
          </p:cNvPicPr>
          <p:nvPr/>
        </p:nvPicPr>
        <p:blipFill>
          <a:blip r:embed="rId2" cstate="print"/>
          <a:srcRect/>
          <a:stretch>
            <a:fillRect/>
          </a:stretch>
        </p:blipFill>
        <p:spPr bwMode="auto">
          <a:xfrm>
            <a:off x="944114" y="1714499"/>
            <a:ext cx="7505536" cy="4318001"/>
          </a:xfrm>
          <a:prstGeom prst="rect">
            <a:avLst/>
          </a:prstGeom>
          <a:noFill/>
          <a:ln w="9525">
            <a:noFill/>
            <a:miter lim="800000"/>
            <a:headEnd/>
            <a:tailEnd/>
          </a:ln>
        </p:spPr>
      </p:pic>
      <p:pic>
        <p:nvPicPr>
          <p:cNvPr id="4" name="Picture 3">
            <a:extLst>
              <a:ext uri="{FF2B5EF4-FFF2-40B4-BE49-F238E27FC236}">
                <a16:creationId xmlns:a16="http://schemas.microsoft.com/office/drawing/2014/main" id="{EE0B438D-6A22-45F0-9D9C-3B73FFAAE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994" y="0"/>
            <a:ext cx="1895740" cy="314369"/>
          </a:xfrm>
          <a:prstGeom prst="rect">
            <a:avLst/>
          </a:prstGeom>
        </p:spPr>
      </p:pic>
      <p:pic>
        <p:nvPicPr>
          <p:cNvPr id="6" name="Picture 5">
            <a:extLst>
              <a:ext uri="{FF2B5EF4-FFF2-40B4-BE49-F238E27FC236}">
                <a16:creationId xmlns:a16="http://schemas.microsoft.com/office/drawing/2014/main" id="{7375F511-E7C3-4600-8383-E15395A653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4837" y="139556"/>
            <a:ext cx="1562318" cy="314369"/>
          </a:xfrm>
          <a:prstGeom prst="rect">
            <a:avLst/>
          </a:prstGeom>
        </p:spPr>
      </p:pic>
    </p:spTree>
    <p:extLst>
      <p:ext uri="{BB962C8B-B14F-4D97-AF65-F5344CB8AC3E}">
        <p14:creationId xmlns:p14="http://schemas.microsoft.com/office/powerpoint/2010/main" val="350359761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57898" y="8878"/>
            <a:ext cx="9027135"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pic>
        <p:nvPicPr>
          <p:cNvPr id="2050" name="Picture 2"/>
          <p:cNvPicPr>
            <a:picLocks noChangeAspect="1" noChangeArrowheads="1"/>
          </p:cNvPicPr>
          <p:nvPr/>
        </p:nvPicPr>
        <p:blipFill>
          <a:blip r:embed="rId2" cstate="print"/>
          <a:srcRect/>
          <a:stretch>
            <a:fillRect/>
          </a:stretch>
        </p:blipFill>
        <p:spPr bwMode="auto">
          <a:xfrm>
            <a:off x="4210945" y="2042556"/>
            <a:ext cx="3514994" cy="3183496"/>
          </a:xfrm>
          <a:prstGeom prst="rect">
            <a:avLst/>
          </a:prstGeom>
          <a:noFill/>
          <a:ln w="9525">
            <a:noFill/>
            <a:miter lim="800000"/>
            <a:headEnd/>
            <a:tailEnd/>
          </a:ln>
        </p:spPr>
      </p:pic>
      <p:sp>
        <p:nvSpPr>
          <p:cNvPr id="12" name="Rounded Rectangular Callout 5"/>
          <p:cNvSpPr>
            <a:spLocks noChangeArrowheads="1"/>
          </p:cNvSpPr>
          <p:nvPr/>
        </p:nvSpPr>
        <p:spPr bwMode="auto">
          <a:xfrm>
            <a:off x="812588" y="2413001"/>
            <a:ext cx="2539339" cy="964591"/>
          </a:xfrm>
          <a:prstGeom prst="wedgeRoundRectCallout">
            <a:avLst>
              <a:gd name="adj1" fmla="val 77648"/>
              <a:gd name="adj2" fmla="val 59574"/>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Access BI Composer</a:t>
            </a:r>
          </a:p>
        </p:txBody>
      </p:sp>
      <p:sp>
        <p:nvSpPr>
          <p:cNvPr id="13" name="Rounded Rectangular Callout 5"/>
          <p:cNvSpPr>
            <a:spLocks noChangeArrowheads="1"/>
          </p:cNvSpPr>
          <p:nvPr/>
        </p:nvSpPr>
        <p:spPr bwMode="auto">
          <a:xfrm>
            <a:off x="5180251" y="4953001"/>
            <a:ext cx="2437765" cy="964591"/>
          </a:xfrm>
          <a:prstGeom prst="wedgeRoundRectCallout">
            <a:avLst>
              <a:gd name="adj1" fmla="val -70352"/>
              <a:gd name="adj2" fmla="val -119681"/>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a:t>Access Web Catalog</a:t>
            </a:r>
          </a:p>
        </p:txBody>
      </p:sp>
      <p:sp>
        <p:nvSpPr>
          <p:cNvPr id="11" name="Rounded Rectangular Callout 5"/>
          <p:cNvSpPr>
            <a:spLocks noChangeArrowheads="1"/>
          </p:cNvSpPr>
          <p:nvPr/>
        </p:nvSpPr>
        <p:spPr bwMode="auto">
          <a:xfrm>
            <a:off x="8553192" y="2847429"/>
            <a:ext cx="2945633" cy="550861"/>
          </a:xfrm>
          <a:prstGeom prst="wedgeRoundRectCallout">
            <a:avLst>
              <a:gd name="adj1" fmla="val -143931"/>
              <a:gd name="adj2" fmla="val 12185"/>
              <a:gd name="adj3" fmla="val 16667"/>
            </a:avLst>
          </a:prstGeom>
          <a:noFill/>
          <a:ln w="9525" algn="ctr">
            <a:solidFill>
              <a:schemeClr val="tx1"/>
            </a:solidFill>
            <a:round/>
            <a:headEnd/>
            <a:tailEnd/>
          </a:ln>
        </p:spPr>
        <p:txBody>
          <a:bodyPr lIns="122745" tIns="61373" rIns="122745" bIns="61373">
            <a:spAutoFit/>
          </a:bodyPr>
          <a:lstStyle/>
          <a:p>
            <a:pPr marL="158723" indent="-158723" algn="ctr">
              <a:lnSpc>
                <a:spcPct val="90000"/>
              </a:lnSpc>
              <a:spcBef>
                <a:spcPct val="50000"/>
              </a:spcBef>
              <a:buClr>
                <a:schemeClr val="accent1"/>
              </a:buClr>
            </a:pPr>
            <a:r>
              <a:rPr lang="en-US" sz="2700" b="1" dirty="0"/>
              <a:t>Access BI Answers</a:t>
            </a:r>
          </a:p>
        </p:txBody>
      </p:sp>
      <p:sp>
        <p:nvSpPr>
          <p:cNvPr id="2" name="Rectangle 1"/>
          <p:cNvSpPr/>
          <p:nvPr/>
        </p:nvSpPr>
        <p:spPr>
          <a:xfrm>
            <a:off x="1231513" y="988490"/>
            <a:ext cx="8294227" cy="923330"/>
          </a:xfrm>
          <a:prstGeom prst="rect">
            <a:avLst/>
          </a:prstGeom>
        </p:spPr>
        <p:txBody>
          <a:bodyPr wrap="square">
            <a:spAutoFit/>
          </a:bodyPr>
          <a:lstStyle/>
          <a:p>
            <a:r>
              <a:rPr lang="en-US" dirty="0"/>
              <a:t>Navigation:  Login to fusion application &gt; Tools &gt; Reports and Analytics &gt; Browse catalog</a:t>
            </a:r>
          </a:p>
          <a:p>
            <a:endParaRPr lang="en-US" dirty="0"/>
          </a:p>
        </p:txBody>
      </p:sp>
      <p:pic>
        <p:nvPicPr>
          <p:cNvPr id="4" name="Picture 3">
            <a:extLst>
              <a:ext uri="{FF2B5EF4-FFF2-40B4-BE49-F238E27FC236}">
                <a16:creationId xmlns:a16="http://schemas.microsoft.com/office/drawing/2014/main" id="{36F72A83-3FB2-431E-9090-869876557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260" y="41203"/>
            <a:ext cx="1895740" cy="314369"/>
          </a:xfrm>
          <a:prstGeom prst="rect">
            <a:avLst/>
          </a:prstGeom>
        </p:spPr>
      </p:pic>
      <p:pic>
        <p:nvPicPr>
          <p:cNvPr id="6" name="Picture 5">
            <a:extLst>
              <a:ext uri="{FF2B5EF4-FFF2-40B4-BE49-F238E27FC236}">
                <a16:creationId xmlns:a16="http://schemas.microsoft.com/office/drawing/2014/main" id="{B1A78F46-E0EA-4758-8F9A-283A671F69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0348" y="139556"/>
            <a:ext cx="1562318" cy="314369"/>
          </a:xfrm>
          <a:prstGeom prst="rect">
            <a:avLst/>
          </a:prstGeom>
        </p:spPr>
      </p:pic>
    </p:spTree>
    <p:extLst>
      <p:ext uri="{BB962C8B-B14F-4D97-AF65-F5344CB8AC3E}">
        <p14:creationId xmlns:p14="http://schemas.microsoft.com/office/powerpoint/2010/main" val="142300635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Fusion Reporting (cont.)</a:t>
            </a:r>
          </a:p>
        </p:txBody>
      </p:sp>
      <p:sp>
        <p:nvSpPr>
          <p:cNvPr id="4" name="Slide Number Placeholder 3"/>
          <p:cNvSpPr>
            <a:spLocks noGrp="1"/>
          </p:cNvSpPr>
          <p:nvPr>
            <p:ph type="sldNum" sz="quarter" idx="12"/>
          </p:nvPr>
        </p:nvSpPr>
        <p:spPr/>
        <p:txBody>
          <a:bodyPr/>
          <a:lstStyle/>
          <a:p>
            <a:fld id="{C51EAA63-D034-42AE-91FA-B13B9518C7BE}" type="slidenum">
              <a:rPr lang="en-US" smtClean="0"/>
              <a:t>15</a:t>
            </a:fld>
            <a:endParaRPr lang="en-US"/>
          </a:p>
        </p:txBody>
      </p:sp>
      <p:sp>
        <p:nvSpPr>
          <p:cNvPr id="5" name="Text Placeholder 4"/>
          <p:cNvSpPr>
            <a:spLocks noGrp="1"/>
          </p:cNvSpPr>
          <p:nvPr>
            <p:ph type="body" sz="quarter" idx="13"/>
          </p:nvPr>
        </p:nvSpPr>
        <p:spPr>
          <a:xfrm>
            <a:off x="531812" y="1295401"/>
            <a:ext cx="6653054" cy="4648200"/>
          </a:xfrm>
        </p:spPr>
        <p:txBody>
          <a:bodyPr/>
          <a:lstStyle/>
          <a:p>
            <a:r>
              <a:rPr lang="en-US" dirty="0"/>
              <a:t>Folder Structure:</a:t>
            </a:r>
          </a:p>
          <a:p>
            <a:pPr marL="344488" indent="-342900">
              <a:buFont typeface="Arial" panose="020B0604020202020204" pitchFamily="34" charset="0"/>
              <a:buChar char="•"/>
            </a:pPr>
            <a:r>
              <a:rPr lang="en-US" sz="2000" dirty="0"/>
              <a:t>My Folders – User specific folder for draft development.</a:t>
            </a:r>
          </a:p>
          <a:p>
            <a:pPr marL="344488" indent="-342900">
              <a:buFont typeface="Arial" panose="020B0604020202020204" pitchFamily="34" charset="0"/>
              <a:buChar char="•"/>
            </a:pPr>
            <a:r>
              <a:rPr lang="en-US" sz="2000" dirty="0"/>
              <a:t>Shared Folders –Can be accessed by all the users and contains both standard and custom report</a:t>
            </a:r>
          </a:p>
          <a:p>
            <a:pPr marL="344488" indent="-342900">
              <a:buFont typeface="Arial" panose="020B0604020202020204" pitchFamily="34" charset="0"/>
              <a:buChar char="•"/>
            </a:pPr>
            <a:r>
              <a:rPr lang="en-US" sz="2000" dirty="0"/>
              <a:t>Custom – Contains both custom and customized standard reports.</a:t>
            </a:r>
          </a:p>
        </p:txBody>
      </p:sp>
      <p:pic>
        <p:nvPicPr>
          <p:cNvPr id="7" name="Picture 6"/>
          <p:cNvPicPr>
            <a:picLocks noChangeAspect="1"/>
          </p:cNvPicPr>
          <p:nvPr/>
        </p:nvPicPr>
        <p:blipFill>
          <a:blip r:embed="rId2"/>
          <a:stretch>
            <a:fillRect/>
          </a:stretch>
        </p:blipFill>
        <p:spPr>
          <a:xfrm>
            <a:off x="7184866" y="1295400"/>
            <a:ext cx="4139051" cy="4743375"/>
          </a:xfrm>
          <a:prstGeom prst="rect">
            <a:avLst/>
          </a:prstGeom>
        </p:spPr>
      </p:pic>
      <p:pic>
        <p:nvPicPr>
          <p:cNvPr id="8" name="Picture 7">
            <a:extLst>
              <a:ext uri="{FF2B5EF4-FFF2-40B4-BE49-F238E27FC236}">
                <a16:creationId xmlns:a16="http://schemas.microsoft.com/office/drawing/2014/main" id="{AD73FFD8-FC41-4687-BBF1-72C71C2F1E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2" y="50757"/>
            <a:ext cx="1895740" cy="314369"/>
          </a:xfrm>
          <a:prstGeom prst="rect">
            <a:avLst/>
          </a:prstGeom>
        </p:spPr>
      </p:pic>
      <p:pic>
        <p:nvPicPr>
          <p:cNvPr id="10" name="Picture 9">
            <a:extLst>
              <a:ext uri="{FF2B5EF4-FFF2-40B4-BE49-F238E27FC236}">
                <a16:creationId xmlns:a16="http://schemas.microsoft.com/office/drawing/2014/main" id="{CD91A323-BB5B-4A57-81E6-3715F8745F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5859" y="50757"/>
            <a:ext cx="1562318" cy="314369"/>
          </a:xfrm>
          <a:prstGeom prst="rect">
            <a:avLst/>
          </a:prstGeom>
        </p:spPr>
      </p:pic>
    </p:spTree>
    <p:extLst>
      <p:ext uri="{BB962C8B-B14F-4D97-AF65-F5344CB8AC3E}">
        <p14:creationId xmlns:p14="http://schemas.microsoft.com/office/powerpoint/2010/main" val="3707345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cstate="print"/>
          <a:srcRect/>
          <a:stretch>
            <a:fillRect/>
          </a:stretch>
        </p:blipFill>
        <p:spPr bwMode="auto">
          <a:xfrm>
            <a:off x="704461" y="1145628"/>
            <a:ext cx="4875079" cy="3182664"/>
          </a:xfrm>
          <a:prstGeom prst="rect">
            <a:avLst/>
          </a:prstGeom>
          <a:noFill/>
          <a:ln w="9525">
            <a:noFill/>
            <a:miter lim="800000"/>
            <a:headEnd/>
            <a:tailEnd/>
          </a:ln>
        </p:spPr>
      </p:pic>
      <p:sp>
        <p:nvSpPr>
          <p:cNvPr id="9" name="Rectangle 8"/>
          <p:cNvSpPr/>
          <p:nvPr/>
        </p:nvSpPr>
        <p:spPr>
          <a:xfrm>
            <a:off x="1057898" y="-17628"/>
            <a:ext cx="9080401"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7" name="Rounded Rectangular Callout 5"/>
          <p:cNvSpPr>
            <a:spLocks noChangeArrowheads="1"/>
          </p:cNvSpPr>
          <p:nvPr/>
        </p:nvSpPr>
        <p:spPr bwMode="auto">
          <a:xfrm flipH="1">
            <a:off x="851116" y="3932619"/>
            <a:ext cx="2643978" cy="627501"/>
          </a:xfrm>
          <a:prstGeom prst="wedgeRoundRectCallout">
            <a:avLst>
              <a:gd name="adj1" fmla="val -64941"/>
              <a:gd name="adj2" fmla="val -233395"/>
              <a:gd name="adj3" fmla="val 16667"/>
            </a:avLst>
          </a:prstGeom>
          <a:noFill/>
          <a:ln w="9525" algn="ctr">
            <a:solidFill>
              <a:schemeClr val="tx1"/>
            </a:solidFill>
            <a:round/>
            <a:headEnd/>
            <a:tailEnd/>
          </a:ln>
        </p:spPr>
        <p:txBody>
          <a:bodyPr wrap="square" lIns="122745" tIns="61373" rIns="122745" bIns="61373">
            <a:spAutoFit/>
          </a:bodyPr>
          <a:lstStyle/>
          <a:p>
            <a:pPr marL="158723" indent="-158723" algn="ctr">
              <a:lnSpc>
                <a:spcPct val="90000"/>
              </a:lnSpc>
              <a:spcBef>
                <a:spcPct val="50000"/>
              </a:spcBef>
              <a:buClr>
                <a:schemeClr val="accent1"/>
              </a:buClr>
            </a:pPr>
            <a:r>
              <a:rPr lang="en-US" sz="1600" b="1" dirty="0"/>
              <a:t>Create Report in BI Answers</a:t>
            </a:r>
          </a:p>
        </p:txBody>
      </p:sp>
      <p:pic>
        <p:nvPicPr>
          <p:cNvPr id="3077" name="Picture 5"/>
          <p:cNvPicPr>
            <a:picLocks noChangeAspect="1" noChangeArrowheads="1"/>
          </p:cNvPicPr>
          <p:nvPr/>
        </p:nvPicPr>
        <p:blipFill>
          <a:blip r:embed="rId3" cstate="print"/>
          <a:srcRect/>
          <a:stretch>
            <a:fillRect/>
          </a:stretch>
        </p:blipFill>
        <p:spPr bwMode="auto">
          <a:xfrm>
            <a:off x="6673644" y="1093076"/>
            <a:ext cx="4012592" cy="4851837"/>
          </a:xfrm>
          <a:prstGeom prst="rect">
            <a:avLst/>
          </a:prstGeom>
          <a:noFill/>
          <a:ln w="9525">
            <a:noFill/>
            <a:miter lim="800000"/>
            <a:headEnd/>
            <a:tailEnd/>
          </a:ln>
        </p:spPr>
      </p:pic>
      <p:pic>
        <p:nvPicPr>
          <p:cNvPr id="3" name="Picture 2">
            <a:extLst>
              <a:ext uri="{FF2B5EF4-FFF2-40B4-BE49-F238E27FC236}">
                <a16:creationId xmlns:a16="http://schemas.microsoft.com/office/drawing/2014/main" id="{2BCD6426-13F1-497D-AF7A-8B8ACA5BE8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9897" y="-17628"/>
            <a:ext cx="1895740" cy="314369"/>
          </a:xfrm>
          <a:prstGeom prst="rect">
            <a:avLst/>
          </a:prstGeom>
        </p:spPr>
      </p:pic>
      <p:pic>
        <p:nvPicPr>
          <p:cNvPr id="5" name="Picture 4">
            <a:extLst>
              <a:ext uri="{FF2B5EF4-FFF2-40B4-BE49-F238E27FC236}">
                <a16:creationId xmlns:a16="http://schemas.microsoft.com/office/drawing/2014/main" id="{CC4A2248-9DA7-4824-B4FD-8249B24461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4354" y="46608"/>
            <a:ext cx="1562318" cy="314369"/>
          </a:xfrm>
          <a:prstGeom prst="rect">
            <a:avLst/>
          </a:prstGeom>
        </p:spPr>
      </p:pic>
    </p:spTree>
    <p:extLst>
      <p:ext uri="{BB962C8B-B14F-4D97-AF65-F5344CB8AC3E}">
        <p14:creationId xmlns:p14="http://schemas.microsoft.com/office/powerpoint/2010/main" val="354073321"/>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Analysis</a:t>
            </a:r>
          </a:p>
        </p:txBody>
      </p:sp>
      <p:sp>
        <p:nvSpPr>
          <p:cNvPr id="4" name="Slide Number Placeholder 3"/>
          <p:cNvSpPr>
            <a:spLocks noGrp="1"/>
          </p:cNvSpPr>
          <p:nvPr>
            <p:ph type="sldNum" sz="quarter" idx="12"/>
          </p:nvPr>
        </p:nvSpPr>
        <p:spPr/>
        <p:txBody>
          <a:bodyPr/>
          <a:lstStyle/>
          <a:p>
            <a:fld id="{C51EAA63-D034-42AE-91FA-B13B9518C7BE}" type="slidenum">
              <a:rPr lang="en-US" smtClean="0"/>
              <a:t>17</a:t>
            </a:fld>
            <a:endParaRPr lang="en-US"/>
          </a:p>
        </p:txBody>
      </p:sp>
      <p:sp>
        <p:nvSpPr>
          <p:cNvPr id="5" name="Text Placeholder 4"/>
          <p:cNvSpPr>
            <a:spLocks noGrp="1"/>
          </p:cNvSpPr>
          <p:nvPr>
            <p:ph type="body" sz="quarter" idx="13"/>
          </p:nvPr>
        </p:nvSpPr>
        <p:spPr>
          <a:xfrm>
            <a:off x="531812" y="1524001"/>
            <a:ext cx="11125201" cy="4419600"/>
          </a:xfrm>
        </p:spPr>
        <p:txBody>
          <a:bodyPr/>
          <a:lstStyle/>
          <a:p>
            <a:r>
              <a:rPr lang="en-US" dirty="0">
                <a:solidFill>
                  <a:srgbClr val="222222"/>
                </a:solidFill>
                <a:latin typeface="Calibri" panose="020F0502020204030204" pitchFamily="34" charset="0"/>
                <a:ea typeface="Times New Roman" panose="02020603050405020304" pitchFamily="18" charset="0"/>
                <a:cs typeface="Helvetica" panose="020B0604020202020204" pitchFamily="34" charset="0"/>
              </a:rPr>
              <a:t>Perform the following steps to build an analysis using Analysis editor.</a:t>
            </a:r>
            <a:endParaRPr lang="en-US" sz="3200" dirty="0">
              <a:latin typeface="Times New Roman" panose="02020603050405020304" pitchFamily="18" charset="0"/>
              <a:ea typeface="Times New Roman" panose="02020603050405020304" pitchFamily="18" charset="0"/>
            </a:endParaRPr>
          </a:p>
          <a:p>
            <a:endParaRPr lang="en-US" sz="3200" dirty="0">
              <a:latin typeface="Times New Roman" panose="02020603050405020304" pitchFamily="18" charset="0"/>
              <a:ea typeface="Times New Roman" panose="02020603050405020304" pitchFamily="18" charset="0"/>
            </a:endParaRPr>
          </a:p>
          <a:p>
            <a:pPr marL="457200" marR="0" lvl="0" indent="-457200">
              <a:spcBef>
                <a:spcPts val="0"/>
              </a:spcBef>
              <a:spcAft>
                <a:spcPts val="0"/>
              </a:spcAft>
              <a:buFont typeface="Arial" panose="020B0604020202020204" pitchFamily="34" charset="0"/>
              <a:buChar char="•"/>
              <a:tabLst>
                <a:tab pos="457200" algn="l"/>
              </a:tabLst>
            </a:pPr>
            <a:r>
              <a:rPr lang="en-US" dirty="0">
                <a:solidFill>
                  <a:srgbClr val="000000"/>
                </a:solidFill>
                <a:latin typeface="Calibri" panose="020F0502020204030204" pitchFamily="34" charset="0"/>
                <a:ea typeface="Times New Roman" panose="02020603050405020304" pitchFamily="18" charset="0"/>
                <a:cs typeface="Helvetica" panose="020B0604020202020204" pitchFamily="34" charset="0"/>
              </a:rPr>
              <a:t>Create the analysis.</a:t>
            </a:r>
            <a:endParaRPr lang="en-US" sz="3200" dirty="0">
              <a:latin typeface="Times New Roman" panose="02020603050405020304" pitchFamily="18" charset="0"/>
              <a:ea typeface="Times New Roman" panose="02020603050405020304" pitchFamily="18" charset="0"/>
            </a:endParaRPr>
          </a:p>
          <a:p>
            <a:pPr marL="457200" marR="0" lvl="0" indent="-457200">
              <a:spcBef>
                <a:spcPts val="0"/>
              </a:spcBef>
              <a:spcAft>
                <a:spcPts val="0"/>
              </a:spcAft>
              <a:buFont typeface="Arial" panose="020B0604020202020204" pitchFamily="34" charset="0"/>
              <a:buChar char="•"/>
              <a:tabLst>
                <a:tab pos="457200" algn="l"/>
              </a:tabLst>
            </a:pPr>
            <a:r>
              <a:rPr lang="en-US" dirty="0">
                <a:solidFill>
                  <a:srgbClr val="000000"/>
                </a:solidFill>
                <a:latin typeface="Calibri" panose="020F0502020204030204" pitchFamily="34" charset="0"/>
                <a:ea typeface="Times New Roman" panose="02020603050405020304" pitchFamily="18" charset="0"/>
                <a:cs typeface="Helvetica" panose="020B0604020202020204" pitchFamily="34" charset="0"/>
              </a:rPr>
              <a:t>Specify the criteria for the analysis.</a:t>
            </a:r>
            <a:endParaRPr lang="en-US" sz="3200" dirty="0">
              <a:latin typeface="Times New Roman" panose="02020603050405020304" pitchFamily="18" charset="0"/>
              <a:ea typeface="Times New Roman" panose="02020603050405020304" pitchFamily="18" charset="0"/>
            </a:endParaRPr>
          </a:p>
          <a:p>
            <a:pPr marL="457200" marR="0" lvl="0" indent="-457200">
              <a:spcBef>
                <a:spcPts val="0"/>
              </a:spcBef>
              <a:spcAft>
                <a:spcPts val="0"/>
              </a:spcAft>
              <a:buFont typeface="Arial" panose="020B0604020202020204" pitchFamily="34" charset="0"/>
              <a:buChar char="•"/>
              <a:tabLst>
                <a:tab pos="457200" algn="l"/>
              </a:tabLst>
            </a:pPr>
            <a:r>
              <a:rPr lang="en-US" dirty="0">
                <a:solidFill>
                  <a:srgbClr val="000000"/>
                </a:solidFill>
                <a:latin typeface="Calibri" panose="020F0502020204030204" pitchFamily="34" charset="0"/>
                <a:ea typeface="Times New Roman" panose="02020603050405020304" pitchFamily="18" charset="0"/>
                <a:cs typeface="Helvetica" panose="020B0604020202020204" pitchFamily="34" charset="0"/>
              </a:rPr>
              <a:t>Display the results of the analysis.</a:t>
            </a:r>
            <a:endParaRPr lang="en-US" sz="3200" dirty="0">
              <a:latin typeface="Times New Roman" panose="02020603050405020304" pitchFamily="18" charset="0"/>
              <a:ea typeface="Times New Roman" panose="02020603050405020304" pitchFamily="18" charset="0"/>
            </a:endParaRPr>
          </a:p>
          <a:p>
            <a:pPr marL="457200" marR="0" lvl="0" indent="-457200">
              <a:spcBef>
                <a:spcPts val="0"/>
              </a:spcBef>
              <a:spcAft>
                <a:spcPts val="0"/>
              </a:spcAft>
              <a:buFont typeface="Arial" panose="020B0604020202020204" pitchFamily="34" charset="0"/>
              <a:buChar char="•"/>
              <a:tabLst>
                <a:tab pos="457200" algn="l"/>
              </a:tabLst>
            </a:pPr>
            <a:r>
              <a:rPr lang="en-US" dirty="0">
                <a:solidFill>
                  <a:srgbClr val="000000"/>
                </a:solidFill>
                <a:latin typeface="Calibri" panose="020F0502020204030204" pitchFamily="34" charset="0"/>
                <a:ea typeface="Times New Roman" panose="02020603050405020304" pitchFamily="18" charset="0"/>
                <a:cs typeface="Helvetica" panose="020B0604020202020204" pitchFamily="34" charset="0"/>
              </a:rPr>
              <a:t>Add prompts to the analysis.</a:t>
            </a:r>
            <a:endParaRPr lang="en-US" sz="3200" dirty="0">
              <a:latin typeface="Times New Roman" panose="02020603050405020304" pitchFamily="18" charset="0"/>
              <a:ea typeface="Times New Roman" panose="02020603050405020304" pitchFamily="18" charset="0"/>
            </a:endParaRPr>
          </a:p>
          <a:p>
            <a:pPr marL="457200" marR="0" lvl="0" indent="-457200">
              <a:spcBef>
                <a:spcPts val="0"/>
              </a:spcBef>
              <a:spcAft>
                <a:spcPts val="0"/>
              </a:spcAft>
              <a:buFont typeface="Arial" panose="020B0604020202020204" pitchFamily="34" charset="0"/>
              <a:buChar char="•"/>
              <a:tabLst>
                <a:tab pos="457200" algn="l"/>
              </a:tabLst>
            </a:pPr>
            <a:r>
              <a:rPr lang="en-US" dirty="0">
                <a:solidFill>
                  <a:srgbClr val="000000"/>
                </a:solidFill>
                <a:latin typeface="Calibri" panose="020F0502020204030204" pitchFamily="34" charset="0"/>
                <a:ea typeface="Times New Roman" panose="02020603050405020304" pitchFamily="18" charset="0"/>
                <a:cs typeface="Helvetica" panose="020B0604020202020204" pitchFamily="34" charset="0"/>
              </a:rPr>
              <a:t>Save the analysis.</a:t>
            </a:r>
            <a:endParaRPr lang="en-US" sz="3200" dirty="0">
              <a:latin typeface="Times New Roman" panose="02020603050405020304" pitchFamily="18" charset="0"/>
              <a:ea typeface="Times New Roman" panose="02020603050405020304" pitchFamily="18" charset="0"/>
            </a:endParaRPr>
          </a:p>
          <a:p>
            <a:endParaRPr lang="en-US" dirty="0"/>
          </a:p>
        </p:txBody>
      </p:sp>
      <p:pic>
        <p:nvPicPr>
          <p:cNvPr id="7" name="Picture 6">
            <a:extLst>
              <a:ext uri="{FF2B5EF4-FFF2-40B4-BE49-F238E27FC236}">
                <a16:creationId xmlns:a16="http://schemas.microsoft.com/office/drawing/2014/main" id="{32A8296F-5666-460C-8A77-21AC0B5BD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052" y="0"/>
            <a:ext cx="1895740" cy="314369"/>
          </a:xfrm>
          <a:prstGeom prst="rect">
            <a:avLst/>
          </a:prstGeom>
        </p:spPr>
      </p:pic>
      <p:pic>
        <p:nvPicPr>
          <p:cNvPr id="9" name="Picture 8">
            <a:extLst>
              <a:ext uri="{FF2B5EF4-FFF2-40B4-BE49-F238E27FC236}">
                <a16:creationId xmlns:a16="http://schemas.microsoft.com/office/drawing/2014/main" id="{5B40DB5E-20D8-4A8B-AC3E-9D616DA3E8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226" y="70732"/>
            <a:ext cx="1562318" cy="314369"/>
          </a:xfrm>
          <a:prstGeom prst="rect">
            <a:avLst/>
          </a:prstGeom>
        </p:spPr>
      </p:pic>
    </p:spTree>
    <p:extLst>
      <p:ext uri="{BB962C8B-B14F-4D97-AF65-F5344CB8AC3E}">
        <p14:creationId xmlns:p14="http://schemas.microsoft.com/office/powerpoint/2010/main" val="347845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682" y="239696"/>
            <a:ext cx="10972800" cy="667769"/>
          </a:xfrm>
        </p:spPr>
        <p:txBody>
          <a:bodyPr>
            <a:normAutofit fontScale="90000"/>
          </a:bodyPr>
          <a:lstStyle/>
          <a:p>
            <a:r>
              <a:rPr lang="en-US" dirty="0"/>
              <a:t>Creating Analysis (Cont.)</a:t>
            </a:r>
          </a:p>
        </p:txBody>
      </p:sp>
      <p:sp>
        <p:nvSpPr>
          <p:cNvPr id="4" name="Slide Number Placeholder 3"/>
          <p:cNvSpPr>
            <a:spLocks noGrp="1"/>
          </p:cNvSpPr>
          <p:nvPr>
            <p:ph type="sldNum" sz="quarter" idx="12"/>
          </p:nvPr>
        </p:nvSpPr>
        <p:spPr/>
        <p:txBody>
          <a:bodyPr/>
          <a:lstStyle/>
          <a:p>
            <a:fld id="{C51EAA63-D034-42AE-91FA-B13B9518C7BE}" type="slidenum">
              <a:rPr lang="en-US" smtClean="0"/>
              <a:t>18</a:t>
            </a:fld>
            <a:endParaRPr lang="en-US"/>
          </a:p>
        </p:txBody>
      </p:sp>
      <p:sp>
        <p:nvSpPr>
          <p:cNvPr id="5" name="Text Placeholder 4"/>
          <p:cNvSpPr>
            <a:spLocks noGrp="1"/>
          </p:cNvSpPr>
          <p:nvPr>
            <p:ph type="body" sz="quarter" idx="13"/>
          </p:nvPr>
        </p:nvSpPr>
        <p:spPr>
          <a:xfrm>
            <a:off x="531812" y="907466"/>
            <a:ext cx="11125201" cy="5340934"/>
          </a:xfrm>
        </p:spPr>
        <p:txBody>
          <a:bodyPr/>
          <a:lstStyle/>
          <a:p>
            <a:pPr indent="457200"/>
            <a:r>
              <a:rPr lang="en-US" sz="1800" dirty="0">
                <a:solidFill>
                  <a:srgbClr val="000000"/>
                </a:solidFill>
                <a:latin typeface="Calibri" panose="020F0502020204030204" pitchFamily="34" charset="0"/>
                <a:ea typeface="Times New Roman" panose="02020603050405020304" pitchFamily="18" charset="0"/>
                <a:cs typeface="Helvetica" panose="020B0604020202020204" pitchFamily="34" charset="0"/>
              </a:rPr>
              <a:t>The Analysis editor is technically advanced and contains the following tabs:</a:t>
            </a:r>
            <a:endParaRPr lang="en-US" sz="2000" dirty="0">
              <a:latin typeface="Times New Roman" panose="02020603050405020304" pitchFamily="18" charset="0"/>
              <a:ea typeface="Times New Roman" panose="02020603050405020304" pitchFamily="18" charset="0"/>
            </a:endParaRPr>
          </a:p>
          <a:p>
            <a:pPr marL="612775" marR="0">
              <a:spcBef>
                <a:spcPts val="0"/>
              </a:spcBef>
              <a:spcAft>
                <a:spcPts val="0"/>
              </a:spcAft>
            </a:pPr>
            <a:r>
              <a:rPr lang="en-US" sz="1800" dirty="0">
                <a:solidFill>
                  <a:srgbClr val="000000"/>
                </a:solidFill>
                <a:latin typeface="Calibri" panose="020F0502020204030204" pitchFamily="34" charset="0"/>
                <a:ea typeface="Times New Roman" panose="02020603050405020304" pitchFamily="18" charset="0"/>
                <a:cs typeface="Helvetica" panose="020B0604020202020204" pitchFamily="34"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pPr>
            <a:r>
              <a:rPr lang="en-US" sz="2000" b="1" dirty="0">
                <a:solidFill>
                  <a:srgbClr val="0000FF"/>
                </a:solidFill>
                <a:latin typeface="Calibri" panose="020F0502020204030204" pitchFamily="34" charset="0"/>
                <a:ea typeface="Times New Roman" panose="02020603050405020304" pitchFamily="18" charset="0"/>
                <a:cs typeface="Arial" panose="020B0604020202020204" pitchFamily="34" charset="0"/>
              </a:rPr>
              <a:t> Criteria Tab</a:t>
            </a: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 By using the Criteria Tab you build up a report. It lets you specify the criteria for an analysis, including columns and filters. You can specify the order in which the results should be returned, formatting (such as headings, number of decimal places, styles such as fonts and colors, and conditional formatting), and column formulas (such as adding a Rank or Percentile function).</a:t>
            </a:r>
            <a:endParaRPr lang="en-US" sz="2000" dirty="0">
              <a:latin typeface="Times New Roman" panose="02020603050405020304" pitchFamily="18" charset="0"/>
              <a:ea typeface="Times New Roman" panose="02020603050405020304" pitchFamily="18" charset="0"/>
            </a:endParaRPr>
          </a:p>
          <a:p>
            <a:pPr marL="457200" marR="0">
              <a:spcBef>
                <a:spcPts val="0"/>
              </a:spcBef>
              <a:spcAft>
                <a:spcPts val="0"/>
              </a:spcAft>
            </a:pPr>
            <a:r>
              <a:rPr lang="en-US" sz="1800" dirty="0">
                <a:solidFill>
                  <a:srgbClr val="000000"/>
                </a:solidFill>
                <a:latin typeface="Calibri" panose="020F0502020204030204" pitchFamily="34" charset="0"/>
                <a:ea typeface="Times New Roman" panose="02020603050405020304" pitchFamily="18" charset="0"/>
                <a:cs typeface="Helvetica" panose="020B0604020202020204" pitchFamily="34"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pPr>
            <a:r>
              <a:rPr lang="en-US" sz="2000" b="1" dirty="0">
                <a:solidFill>
                  <a:srgbClr val="0000FF"/>
                </a:solidFill>
                <a:latin typeface="Calibri" panose="020F0502020204030204" pitchFamily="34" charset="0"/>
                <a:ea typeface="Times New Roman" panose="02020603050405020304" pitchFamily="18" charset="0"/>
                <a:cs typeface="Arial" panose="020B0604020202020204" pitchFamily="34" charset="0"/>
              </a:rPr>
              <a:t> Results Tab</a:t>
            </a: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—The Results tab is where you can view the results of the OTBA report based on the columns that were   extracted onto the Criteria tab. It lets you create different views of the analysis results such as graphs, tickers, and pivot tables. You can also add or modify selection steps.</a:t>
            </a:r>
            <a:endParaRPr lang="en-US" sz="2000" dirty="0">
              <a:latin typeface="Times New Roman" panose="02020603050405020304" pitchFamily="18" charset="0"/>
              <a:ea typeface="Times New Roman" panose="02020603050405020304" pitchFamily="18" charset="0"/>
            </a:endParaRPr>
          </a:p>
          <a:p>
            <a:pPr marL="457200" marR="0">
              <a:spcBef>
                <a:spcPts val="0"/>
              </a:spcBef>
              <a:spcAft>
                <a:spcPts val="0"/>
              </a:spcAft>
            </a:pP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pPr>
            <a:r>
              <a:rPr lang="en-US" sz="2000" b="1" dirty="0">
                <a:solidFill>
                  <a:srgbClr val="0000FF"/>
                </a:solidFill>
                <a:latin typeface="Calibri" panose="020F0502020204030204" pitchFamily="34" charset="0"/>
                <a:ea typeface="Times New Roman" panose="02020603050405020304" pitchFamily="18" charset="0"/>
                <a:cs typeface="Arial" panose="020B0604020202020204" pitchFamily="34" charset="0"/>
              </a:rPr>
              <a:t> Prompts Tab</a:t>
            </a: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 The prompts tab is where you can build various kinds of prompts. This tab lets you create prompts that allow users to select values to filter an analysis or analyses on a dashboard. Prompts allow users to select values that dynamically filter all views within the analysis or analyses.</a:t>
            </a:r>
            <a:endParaRPr lang="en-US" sz="2000" dirty="0">
              <a:latin typeface="Times New Roman" panose="02020603050405020304" pitchFamily="18" charset="0"/>
              <a:ea typeface="Times New Roman" panose="02020603050405020304" pitchFamily="18" charset="0"/>
            </a:endParaRPr>
          </a:p>
          <a:p>
            <a:pPr marL="457200" marR="0">
              <a:spcBef>
                <a:spcPts val="0"/>
              </a:spcBef>
              <a:spcAft>
                <a:spcPts val="0"/>
              </a:spcAft>
            </a:pP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pPr>
            <a:r>
              <a:rPr lang="en-US" sz="2000" b="1" dirty="0">
                <a:solidFill>
                  <a:srgbClr val="0000FF"/>
                </a:solidFill>
                <a:latin typeface="Calibri" panose="020F0502020204030204" pitchFamily="34" charset="0"/>
                <a:ea typeface="Times New Roman" panose="02020603050405020304" pitchFamily="18" charset="0"/>
                <a:cs typeface="Arial" panose="020B0604020202020204" pitchFamily="34" charset="0"/>
              </a:rPr>
              <a:t> Advanced Tab</a:t>
            </a:r>
            <a:r>
              <a:rPr lang="en-US" sz="1800" dirty="0">
                <a:solidFill>
                  <a:srgbClr val="000000"/>
                </a:solidFill>
                <a:latin typeface="Calibri" panose="020F0502020204030204" pitchFamily="34" charset="0"/>
                <a:ea typeface="Times New Roman" panose="02020603050405020304" pitchFamily="18" charset="0"/>
                <a:cs typeface="Arial" panose="020B0604020202020204" pitchFamily="34" charset="0"/>
              </a:rPr>
              <a:t> — this tab lets you edit XML code and examine the logical SQL statement that was generated for an analysis. You can use the existing SQL statement as the basis for creating a new analysis. Additional filters for the report can be added in the Advanced Tab. Using this tab, you can generate XML and save into the system. This particular XML can be used as a data source in BI Publisher Report and create complex report and further customization can be done in BI Publisher Report.</a:t>
            </a:r>
            <a:endParaRPr lang="en-US" sz="2000" dirty="0">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420DC7AC-0D06-4285-97F7-69846197E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1" y="18466"/>
            <a:ext cx="1895740" cy="314369"/>
          </a:xfrm>
          <a:prstGeom prst="rect">
            <a:avLst/>
          </a:prstGeom>
        </p:spPr>
      </p:pic>
      <p:pic>
        <p:nvPicPr>
          <p:cNvPr id="9" name="Picture 8">
            <a:extLst>
              <a:ext uri="{FF2B5EF4-FFF2-40B4-BE49-F238E27FC236}">
                <a16:creationId xmlns:a16="http://schemas.microsoft.com/office/drawing/2014/main" id="{18B8D496-C1B3-4D1E-A4DC-A5DB07019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3615" y="18466"/>
            <a:ext cx="1562318" cy="314369"/>
          </a:xfrm>
          <a:prstGeom prst="rect">
            <a:avLst/>
          </a:prstGeom>
        </p:spPr>
      </p:pic>
    </p:spTree>
    <p:extLst>
      <p:ext uri="{BB962C8B-B14F-4D97-AF65-F5344CB8AC3E}">
        <p14:creationId xmlns:p14="http://schemas.microsoft.com/office/powerpoint/2010/main" val="151653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le 1"/>
          <p:cNvSpPr>
            <a:spLocks noGrp="1"/>
          </p:cNvSpPr>
          <p:nvPr>
            <p:ph type="title"/>
          </p:nvPr>
        </p:nvSpPr>
        <p:spPr>
          <a:xfrm>
            <a:off x="981878" y="204185"/>
            <a:ext cx="10852056" cy="786415"/>
          </a:xfrm>
        </p:spPr>
        <p:txBody>
          <a:bodyPr/>
          <a:lstStyle/>
          <a:p>
            <a:r>
              <a:rPr lang="en-US" altLang="en-US" dirty="0"/>
              <a:t>Build of Custom OTBI Report</a:t>
            </a:r>
          </a:p>
        </p:txBody>
      </p:sp>
      <p:sp>
        <p:nvSpPr>
          <p:cNvPr id="23554" name="Content Placeholder 2"/>
          <p:cNvSpPr>
            <a:spLocks noGrp="1"/>
          </p:cNvSpPr>
          <p:nvPr>
            <p:ph idx="1"/>
          </p:nvPr>
        </p:nvSpPr>
        <p:spPr>
          <a:xfrm>
            <a:off x="203147" y="1092200"/>
            <a:ext cx="10047316" cy="3352800"/>
          </a:xfrm>
        </p:spPr>
        <p:txBody>
          <a:bodyPr/>
          <a:lstStyle/>
          <a:p>
            <a:pPr>
              <a:buFontTx/>
              <a:buNone/>
            </a:pPr>
            <a:r>
              <a:rPr lang="en-US" altLang="en-US" sz="2100"/>
              <a:t>Steps to create a new Analysis report:</a:t>
            </a:r>
          </a:p>
          <a:p>
            <a:r>
              <a:rPr lang="en-US" altLang="en-US" sz="2100"/>
              <a:t>Choose the Subject Area</a:t>
            </a:r>
          </a:p>
          <a:p>
            <a:r>
              <a:rPr lang="en-US" altLang="en-US" sz="2100"/>
              <a:t>Drag and Drop/Double click the required columns to appear on the ‘Selected Columns’ workspace</a:t>
            </a:r>
          </a:p>
          <a:p>
            <a:r>
              <a:rPr lang="en-US" altLang="en-US" sz="2100"/>
              <a:t>Add criterias, prompts etc</a:t>
            </a:r>
          </a:p>
          <a:p>
            <a:r>
              <a:rPr lang="en-US" altLang="en-US" sz="2100"/>
              <a:t>Insert the views in result tab ( table, pivot tabl, graph, chart etc)</a:t>
            </a:r>
          </a:p>
          <a:p>
            <a:pPr>
              <a:buFontTx/>
              <a:buNone/>
            </a:pPr>
            <a:endParaRPr lang="en-US" altLang="en-US" sz="2100"/>
          </a:p>
          <a:p>
            <a:pPr>
              <a:buFontTx/>
              <a:buNone/>
            </a:pPr>
            <a:endParaRPr lang="en-US" altLang="en-US" sz="2100"/>
          </a:p>
          <a:p>
            <a:pPr>
              <a:buFontTx/>
              <a:buNone/>
            </a:pPr>
            <a:endParaRPr lang="en-US" altLang="en-US" sz="2100"/>
          </a:p>
          <a:p>
            <a:pPr>
              <a:buFontTx/>
              <a:buNone/>
            </a:pPr>
            <a:endParaRPr lang="en-US" altLang="en-US" sz="2100"/>
          </a:p>
        </p:txBody>
      </p:sp>
      <p:pic>
        <p:nvPicPr>
          <p:cNvPr id="3" name="Picture 2">
            <a:extLst>
              <a:ext uri="{FF2B5EF4-FFF2-40B4-BE49-F238E27FC236}">
                <a16:creationId xmlns:a16="http://schemas.microsoft.com/office/drawing/2014/main" id="{0B875C21-8EBA-47B4-96EB-1382ABDB6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074" y="0"/>
            <a:ext cx="1895740" cy="314369"/>
          </a:xfrm>
          <a:prstGeom prst="rect">
            <a:avLst/>
          </a:prstGeom>
        </p:spPr>
      </p:pic>
      <p:pic>
        <p:nvPicPr>
          <p:cNvPr id="5" name="Picture 4">
            <a:extLst>
              <a:ext uri="{FF2B5EF4-FFF2-40B4-BE49-F238E27FC236}">
                <a16:creationId xmlns:a16="http://schemas.microsoft.com/office/drawing/2014/main" id="{499FD7AC-E098-4CCC-ACFD-941055FF3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5859" y="0"/>
            <a:ext cx="1562318" cy="314369"/>
          </a:xfrm>
          <a:prstGeom prst="rect">
            <a:avLst/>
          </a:prstGeom>
        </p:spPr>
      </p:pic>
    </p:spTree>
    <p:extLst>
      <p:ext uri="{BB962C8B-B14F-4D97-AF65-F5344CB8AC3E}">
        <p14:creationId xmlns:p14="http://schemas.microsoft.com/office/powerpoint/2010/main" val="515895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15735" y="-79900"/>
            <a:ext cx="9229777"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15736" y="965200"/>
            <a:ext cx="10462073" cy="533400"/>
          </a:xfrm>
          <a:prstGeom prst="rect">
            <a:avLst/>
          </a:prstGeom>
        </p:spPr>
        <p:txBody>
          <a:bodyPr>
            <a:normAutofit/>
          </a:bodyPr>
          <a:lstStyle/>
          <a:p>
            <a:pPr>
              <a:buNone/>
            </a:pPr>
            <a:r>
              <a:rPr lang="en-US" sz="2100" dirty="0"/>
              <a:t>Choose the Subject Area. The selected subject area will appear in the left pane. </a:t>
            </a:r>
          </a:p>
          <a:p>
            <a:pPr>
              <a:buFontTx/>
              <a:buNone/>
            </a:pPr>
            <a:endParaRPr lang="en-US" sz="2100" dirty="0"/>
          </a:p>
          <a:p>
            <a:pPr>
              <a:buFontTx/>
              <a:buNone/>
            </a:pPr>
            <a:endParaRPr lang="en-US" sz="2100" dirty="0"/>
          </a:p>
          <a:p>
            <a:pPr>
              <a:buFontTx/>
              <a:buNone/>
            </a:pPr>
            <a:endParaRPr lang="en-US" sz="2100" dirty="0"/>
          </a:p>
          <a:p>
            <a:pPr>
              <a:buFontTx/>
              <a:buNone/>
            </a:pPr>
            <a:endParaRPr lang="en-US" sz="2100" dirty="0"/>
          </a:p>
        </p:txBody>
      </p:sp>
      <p:pic>
        <p:nvPicPr>
          <p:cNvPr id="3074" name="Picture 2"/>
          <p:cNvPicPr>
            <a:picLocks noChangeAspect="1" noChangeArrowheads="1"/>
          </p:cNvPicPr>
          <p:nvPr/>
        </p:nvPicPr>
        <p:blipFill>
          <a:blip r:embed="rId2" cstate="print"/>
          <a:srcRect/>
          <a:stretch>
            <a:fillRect/>
          </a:stretch>
        </p:blipFill>
        <p:spPr bwMode="auto">
          <a:xfrm>
            <a:off x="1193489" y="1498601"/>
            <a:ext cx="4862833" cy="4610100"/>
          </a:xfrm>
          <a:prstGeom prst="rect">
            <a:avLst/>
          </a:prstGeom>
          <a:noFill/>
          <a:ln w="9525">
            <a:noFill/>
            <a:miter lim="800000"/>
            <a:headEnd/>
            <a:tailEnd/>
          </a:ln>
        </p:spPr>
      </p:pic>
      <p:pic>
        <p:nvPicPr>
          <p:cNvPr id="3" name="Picture 2">
            <a:extLst>
              <a:ext uri="{FF2B5EF4-FFF2-40B4-BE49-F238E27FC236}">
                <a16:creationId xmlns:a16="http://schemas.microsoft.com/office/drawing/2014/main" id="{2824D760-D177-4975-BC7C-2723971518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28" y="0"/>
            <a:ext cx="1895740" cy="314369"/>
          </a:xfrm>
          <a:prstGeom prst="rect">
            <a:avLst/>
          </a:prstGeom>
        </p:spPr>
      </p:pic>
      <p:pic>
        <p:nvPicPr>
          <p:cNvPr id="5" name="Picture 4">
            <a:extLst>
              <a:ext uri="{FF2B5EF4-FFF2-40B4-BE49-F238E27FC236}">
                <a16:creationId xmlns:a16="http://schemas.microsoft.com/office/drawing/2014/main" id="{6B632A6A-8E60-496C-9C7A-B771C5233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226" y="0"/>
            <a:ext cx="1562318" cy="314369"/>
          </a:xfrm>
          <a:prstGeom prst="rect">
            <a:avLst/>
          </a:prstGeom>
        </p:spPr>
      </p:pic>
    </p:spTree>
    <p:extLst>
      <p:ext uri="{BB962C8B-B14F-4D97-AF65-F5344CB8AC3E}">
        <p14:creationId xmlns:p14="http://schemas.microsoft.com/office/powerpoint/2010/main" val="134822538"/>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9911" y="-150920"/>
            <a:ext cx="9295602" cy="893926"/>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749105" y="914400"/>
            <a:ext cx="10639828" cy="1651000"/>
          </a:xfrm>
          <a:prstGeom prst="rect">
            <a:avLst/>
          </a:prstGeom>
        </p:spPr>
        <p:txBody>
          <a:bodyPr/>
          <a:lstStyle/>
          <a:p>
            <a:pPr>
              <a:buNone/>
            </a:pPr>
            <a:r>
              <a:rPr lang="en-US" sz="2100" dirty="0"/>
              <a:t>   Drag and Drop/Double click the required columns to appear on the ‘Selected Columns’ workspace</a:t>
            </a:r>
          </a:p>
        </p:txBody>
      </p:sp>
      <p:pic>
        <p:nvPicPr>
          <p:cNvPr id="1027" name="Picture 3"/>
          <p:cNvPicPr>
            <a:picLocks noChangeAspect="1" noChangeArrowheads="1"/>
          </p:cNvPicPr>
          <p:nvPr/>
        </p:nvPicPr>
        <p:blipFill>
          <a:blip r:embed="rId2" cstate="print"/>
          <a:srcRect/>
          <a:stretch>
            <a:fillRect/>
          </a:stretch>
        </p:blipFill>
        <p:spPr bwMode="auto">
          <a:xfrm>
            <a:off x="1225232" y="1746251"/>
            <a:ext cx="5472275" cy="3695700"/>
          </a:xfrm>
          <a:prstGeom prst="rect">
            <a:avLst/>
          </a:prstGeom>
          <a:noFill/>
          <a:ln w="9525">
            <a:noFill/>
            <a:miter lim="800000"/>
            <a:headEnd/>
            <a:tailEnd/>
          </a:ln>
        </p:spPr>
      </p:pic>
      <p:cxnSp>
        <p:nvCxnSpPr>
          <p:cNvPr id="13" name="Straight Arrow Connector 12"/>
          <p:cNvCxnSpPr/>
          <p:nvPr/>
        </p:nvCxnSpPr>
        <p:spPr>
          <a:xfrm>
            <a:off x="2882149" y="3937000"/>
            <a:ext cx="2107651"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36409" y="5588000"/>
            <a:ext cx="10855672" cy="1000252"/>
          </a:xfrm>
          <a:prstGeom prst="rect">
            <a:avLst/>
          </a:prstGeom>
          <a:noFill/>
        </p:spPr>
        <p:txBody>
          <a:bodyPr wrap="square" lIns="121899" tIns="60949" rIns="121899" bIns="60949" rtlCol="0">
            <a:spAutoFit/>
          </a:bodyPr>
          <a:lstStyle/>
          <a:p>
            <a:r>
              <a:rPr lang="en-US" sz="1500" i="1" dirty="0"/>
              <a:t>You can select multiple non-contiguous columns by using the Ctrl key, selecting each column to include, and then dragging the            columns to the Selected Columns pane.</a:t>
            </a:r>
          </a:p>
          <a:p>
            <a:endParaRPr lang="en-US" sz="2700" dirty="0" err="1">
              <a:solidFill>
                <a:schemeClr val="tx2"/>
              </a:solidFill>
            </a:endParaRPr>
          </a:p>
        </p:txBody>
      </p:sp>
      <p:pic>
        <p:nvPicPr>
          <p:cNvPr id="1030" name="Picture 6" descr="C:\Users\dikaur\AppData\Local\Microsoft\Windows\Temporary Internet Files\Content.IE5\9FAOTVI7\glowing-light-bulb-2847-large[1].png"/>
          <p:cNvPicPr>
            <a:picLocks noChangeAspect="1" noChangeArrowheads="1"/>
          </p:cNvPicPr>
          <p:nvPr/>
        </p:nvPicPr>
        <p:blipFill>
          <a:blip r:embed="rId3" cstate="print"/>
          <a:srcRect/>
          <a:stretch>
            <a:fillRect/>
          </a:stretch>
        </p:blipFill>
        <p:spPr bwMode="auto">
          <a:xfrm>
            <a:off x="369504" y="5601200"/>
            <a:ext cx="479875" cy="481600"/>
          </a:xfrm>
          <a:prstGeom prst="rect">
            <a:avLst/>
          </a:prstGeom>
          <a:noFill/>
        </p:spPr>
      </p:pic>
      <p:pic>
        <p:nvPicPr>
          <p:cNvPr id="3" name="Picture 2">
            <a:extLst>
              <a:ext uri="{FF2B5EF4-FFF2-40B4-BE49-F238E27FC236}">
                <a16:creationId xmlns:a16="http://schemas.microsoft.com/office/drawing/2014/main" id="{9EC753D4-A12C-4E44-A3D0-E4D8E2AAD6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105" y="-17628"/>
            <a:ext cx="1895740" cy="314369"/>
          </a:xfrm>
          <a:prstGeom prst="rect">
            <a:avLst/>
          </a:prstGeom>
        </p:spPr>
      </p:pic>
      <p:pic>
        <p:nvPicPr>
          <p:cNvPr id="5" name="Picture 4">
            <a:extLst>
              <a:ext uri="{FF2B5EF4-FFF2-40B4-BE49-F238E27FC236}">
                <a16:creationId xmlns:a16="http://schemas.microsoft.com/office/drawing/2014/main" id="{C80B171A-B70A-4CFD-BFAF-F38E0B66D2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7082" y="41492"/>
            <a:ext cx="1562318" cy="314369"/>
          </a:xfrm>
          <a:prstGeom prst="rect">
            <a:avLst/>
          </a:prstGeom>
        </p:spPr>
      </p:pic>
    </p:spTree>
    <p:extLst>
      <p:ext uri="{BB962C8B-B14F-4D97-AF65-F5344CB8AC3E}">
        <p14:creationId xmlns:p14="http://schemas.microsoft.com/office/powerpoint/2010/main" val="52799561"/>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04721" y="990600"/>
            <a:ext cx="11003800" cy="508000"/>
          </a:xfrm>
          <a:prstGeom prst="rect">
            <a:avLst/>
          </a:prstGeom>
          <a:noFill/>
          <a:ln w="9525">
            <a:noFill/>
            <a:miter lim="800000"/>
            <a:headEnd/>
            <a:tailEnd/>
          </a:ln>
        </p:spPr>
        <p:txBody>
          <a:bodyPr lIns="0" tIns="0" rIns="0" bIns="0"/>
          <a:lstStyle/>
          <a:p>
            <a:pPr>
              <a:defRPr/>
            </a:pPr>
            <a:r>
              <a:rPr lang="en-US" sz="2700" dirty="0"/>
              <a:t>Subject Area: Workforce Management - Worker Assignment Real Time</a:t>
            </a:r>
            <a:endParaRPr lang="en-US" sz="2700" kern="0" dirty="0">
              <a:latin typeface="+mj-lt"/>
              <a:ea typeface="+mj-ea"/>
              <a:cs typeface="+mj-cs"/>
            </a:endParaRPr>
          </a:p>
        </p:txBody>
      </p:sp>
      <p:sp>
        <p:nvSpPr>
          <p:cNvPr id="24579" name="Title 1"/>
          <p:cNvSpPr>
            <a:spLocks noGrp="1"/>
          </p:cNvSpPr>
          <p:nvPr>
            <p:ph type="title"/>
          </p:nvPr>
        </p:nvSpPr>
        <p:spPr>
          <a:xfrm>
            <a:off x="1015734" y="97653"/>
            <a:ext cx="10969944" cy="892947"/>
          </a:xfrm>
        </p:spPr>
        <p:txBody>
          <a:bodyPr/>
          <a:lstStyle/>
          <a:p>
            <a:r>
              <a:rPr lang="en-US" altLang="en-US" dirty="0"/>
              <a:t>Build of Custom OTBI Report</a:t>
            </a:r>
          </a:p>
        </p:txBody>
      </p:sp>
      <p:pic>
        <p:nvPicPr>
          <p:cNvPr id="2458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507867" y="1507478"/>
            <a:ext cx="10969943"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9284922-FABC-4B2C-B191-6DA34065E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829" y="0"/>
            <a:ext cx="1895740" cy="314369"/>
          </a:xfrm>
          <a:prstGeom prst="rect">
            <a:avLst/>
          </a:prstGeom>
        </p:spPr>
      </p:pic>
      <p:pic>
        <p:nvPicPr>
          <p:cNvPr id="6" name="Picture 5">
            <a:extLst>
              <a:ext uri="{FF2B5EF4-FFF2-40B4-BE49-F238E27FC236}">
                <a16:creationId xmlns:a16="http://schemas.microsoft.com/office/drawing/2014/main" id="{78C7FBA2-9422-4F91-9567-1F68BF9C3D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3715" y="19975"/>
            <a:ext cx="1562318" cy="314369"/>
          </a:xfrm>
          <a:prstGeom prst="rect">
            <a:avLst/>
          </a:prstGeom>
        </p:spPr>
      </p:pic>
    </p:spTree>
    <p:extLst>
      <p:ext uri="{BB962C8B-B14F-4D97-AF65-F5344CB8AC3E}">
        <p14:creationId xmlns:p14="http://schemas.microsoft.com/office/powerpoint/2010/main" val="297311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04721" y="990600"/>
            <a:ext cx="11003800" cy="508000"/>
          </a:xfrm>
          <a:prstGeom prst="rect">
            <a:avLst/>
          </a:prstGeom>
          <a:noFill/>
          <a:ln w="9525">
            <a:noFill/>
            <a:miter lim="800000"/>
            <a:headEnd/>
            <a:tailEnd/>
          </a:ln>
        </p:spPr>
        <p:txBody>
          <a:bodyPr lIns="0" tIns="0" rIns="0" bIns="0"/>
          <a:lstStyle/>
          <a:p>
            <a:pPr>
              <a:defRPr/>
            </a:pPr>
            <a:r>
              <a:rPr lang="en-US" sz="2700" dirty="0"/>
              <a:t>Change the column label in the “Column Properties”</a:t>
            </a:r>
            <a:endParaRPr lang="en-US" sz="2700" kern="0" dirty="0">
              <a:latin typeface="+mj-lt"/>
              <a:ea typeface="+mj-ea"/>
              <a:cs typeface="+mj-cs"/>
            </a:endParaRPr>
          </a:p>
        </p:txBody>
      </p:sp>
      <p:sp>
        <p:nvSpPr>
          <p:cNvPr id="25603" name="Title 1"/>
          <p:cNvSpPr>
            <a:spLocks noGrp="1"/>
          </p:cNvSpPr>
          <p:nvPr>
            <p:ph type="title"/>
          </p:nvPr>
        </p:nvSpPr>
        <p:spPr>
          <a:xfrm>
            <a:off x="1015734" y="204185"/>
            <a:ext cx="10969944" cy="786415"/>
          </a:xfrm>
        </p:spPr>
        <p:txBody>
          <a:bodyPr/>
          <a:lstStyle/>
          <a:p>
            <a:r>
              <a:rPr lang="en-US" altLang="en-US" dirty="0"/>
              <a:t>Build of Custom OTBI Report</a:t>
            </a:r>
          </a:p>
        </p:txBody>
      </p:sp>
      <p:pic>
        <p:nvPicPr>
          <p:cNvPr id="2560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507867" y="1498600"/>
            <a:ext cx="10969943"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CEC86A48-C8BA-4023-BEB1-14AA398D95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86" y="24271"/>
            <a:ext cx="1895740" cy="314369"/>
          </a:xfrm>
          <a:prstGeom prst="rect">
            <a:avLst/>
          </a:prstGeom>
        </p:spPr>
      </p:pic>
      <p:pic>
        <p:nvPicPr>
          <p:cNvPr id="6" name="Picture 5">
            <a:extLst>
              <a:ext uri="{FF2B5EF4-FFF2-40B4-BE49-F238E27FC236}">
                <a16:creationId xmlns:a16="http://schemas.microsoft.com/office/drawing/2014/main" id="{65C55A90-156D-4A4C-A66F-BFC9ADF8C0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0349" y="48684"/>
            <a:ext cx="1562318" cy="314369"/>
          </a:xfrm>
          <a:prstGeom prst="rect">
            <a:avLst/>
          </a:prstGeom>
        </p:spPr>
      </p:pic>
    </p:spTree>
    <p:extLst>
      <p:ext uri="{BB962C8B-B14F-4D97-AF65-F5344CB8AC3E}">
        <p14:creationId xmlns:p14="http://schemas.microsoft.com/office/powerpoint/2010/main" val="1683223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711015" y="1600200"/>
            <a:ext cx="804970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itle 1"/>
          <p:cNvSpPr>
            <a:spLocks noGrp="1"/>
          </p:cNvSpPr>
          <p:nvPr>
            <p:ph type="title"/>
          </p:nvPr>
        </p:nvSpPr>
        <p:spPr>
          <a:xfrm>
            <a:off x="981878" y="314369"/>
            <a:ext cx="10887567" cy="676232"/>
          </a:xfrm>
        </p:spPr>
        <p:txBody>
          <a:bodyPr>
            <a:normAutofit fontScale="90000"/>
          </a:bodyPr>
          <a:lstStyle/>
          <a:p>
            <a:r>
              <a:rPr lang="en-US" altLang="en-US" dirty="0"/>
              <a:t>Build of Custom OTBI Report</a:t>
            </a:r>
          </a:p>
        </p:txBody>
      </p:sp>
      <p:pic>
        <p:nvPicPr>
          <p:cNvPr id="3" name="Picture 2">
            <a:extLst>
              <a:ext uri="{FF2B5EF4-FFF2-40B4-BE49-F238E27FC236}">
                <a16:creationId xmlns:a16="http://schemas.microsoft.com/office/drawing/2014/main" id="{15CFA114-8328-4D42-8626-E3B6792E05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276" y="0"/>
            <a:ext cx="1895740" cy="314369"/>
          </a:xfrm>
          <a:prstGeom prst="rect">
            <a:avLst/>
          </a:prstGeom>
        </p:spPr>
      </p:pic>
      <p:pic>
        <p:nvPicPr>
          <p:cNvPr id="5" name="Picture 4">
            <a:extLst>
              <a:ext uri="{FF2B5EF4-FFF2-40B4-BE49-F238E27FC236}">
                <a16:creationId xmlns:a16="http://schemas.microsoft.com/office/drawing/2014/main" id="{0FF9BDAC-CE75-44D2-8357-D5AD15FC0C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6981" y="37730"/>
            <a:ext cx="1562318" cy="314369"/>
          </a:xfrm>
          <a:prstGeom prst="rect">
            <a:avLst/>
          </a:prstGeom>
        </p:spPr>
      </p:pic>
    </p:spTree>
    <p:extLst>
      <p:ext uri="{BB962C8B-B14F-4D97-AF65-F5344CB8AC3E}">
        <p14:creationId xmlns:p14="http://schemas.microsoft.com/office/powerpoint/2010/main" val="367856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609442" y="2006600"/>
            <a:ext cx="8530062"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bwMode="auto">
          <a:xfrm>
            <a:off x="304721" y="1397000"/>
            <a:ext cx="11003800" cy="508000"/>
          </a:xfrm>
          <a:prstGeom prst="rect">
            <a:avLst/>
          </a:prstGeom>
          <a:noFill/>
          <a:ln w="9525">
            <a:noFill/>
            <a:miter lim="800000"/>
            <a:headEnd/>
            <a:tailEnd/>
          </a:ln>
        </p:spPr>
        <p:txBody>
          <a:bodyPr lIns="0" tIns="0" rIns="0" bIns="0"/>
          <a:lstStyle/>
          <a:p>
            <a:pPr>
              <a:defRPr/>
            </a:pPr>
            <a:r>
              <a:rPr lang="en-US" sz="2700" dirty="0"/>
              <a:t>Apply the filter on the “Department” column</a:t>
            </a:r>
            <a:endParaRPr lang="en-US" sz="2700" kern="0" dirty="0">
              <a:latin typeface="+mj-lt"/>
              <a:ea typeface="+mj-ea"/>
              <a:cs typeface="+mj-cs"/>
            </a:endParaRPr>
          </a:p>
        </p:txBody>
      </p:sp>
      <p:sp>
        <p:nvSpPr>
          <p:cNvPr id="27652" name="Title 1"/>
          <p:cNvSpPr>
            <a:spLocks noGrp="1"/>
          </p:cNvSpPr>
          <p:nvPr>
            <p:ph type="title"/>
          </p:nvPr>
        </p:nvSpPr>
        <p:spPr>
          <a:xfrm>
            <a:off x="981878" y="314369"/>
            <a:ext cx="10798790" cy="676232"/>
          </a:xfrm>
        </p:spPr>
        <p:txBody>
          <a:bodyPr>
            <a:normAutofit fontScale="90000"/>
          </a:bodyPr>
          <a:lstStyle/>
          <a:p>
            <a:r>
              <a:rPr lang="en-US" altLang="en-US" dirty="0"/>
              <a:t>Build of Custom OTBI Report</a:t>
            </a:r>
          </a:p>
        </p:txBody>
      </p:sp>
      <p:pic>
        <p:nvPicPr>
          <p:cNvPr id="3" name="Picture 2">
            <a:extLst>
              <a:ext uri="{FF2B5EF4-FFF2-40B4-BE49-F238E27FC236}">
                <a16:creationId xmlns:a16="http://schemas.microsoft.com/office/drawing/2014/main" id="{E99957D5-1B34-4F4F-8236-A13AFD1E0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97" y="0"/>
            <a:ext cx="1895740" cy="314369"/>
          </a:xfrm>
          <a:prstGeom prst="rect">
            <a:avLst/>
          </a:prstGeom>
        </p:spPr>
      </p:pic>
      <p:pic>
        <p:nvPicPr>
          <p:cNvPr id="6" name="Picture 5">
            <a:extLst>
              <a:ext uri="{FF2B5EF4-FFF2-40B4-BE49-F238E27FC236}">
                <a16:creationId xmlns:a16="http://schemas.microsoft.com/office/drawing/2014/main" id="{4906DE0A-9728-4048-87F7-A587AA3735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5859" y="104170"/>
            <a:ext cx="1562318" cy="314369"/>
          </a:xfrm>
          <a:prstGeom prst="rect">
            <a:avLst/>
          </a:prstGeom>
        </p:spPr>
      </p:pic>
    </p:spTree>
    <p:extLst>
      <p:ext uri="{BB962C8B-B14F-4D97-AF65-F5344CB8AC3E}">
        <p14:creationId xmlns:p14="http://schemas.microsoft.com/office/powerpoint/2010/main" val="24425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68149" y="11224"/>
            <a:ext cx="9277363"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685621" y="901700"/>
            <a:ext cx="10449377" cy="1651000"/>
          </a:xfrm>
          <a:prstGeom prst="rect">
            <a:avLst/>
          </a:prstGeom>
        </p:spPr>
        <p:txBody>
          <a:bodyPr/>
          <a:lstStyle/>
          <a:p>
            <a:pPr>
              <a:buNone/>
            </a:pPr>
            <a:r>
              <a:rPr lang="en-US" sz="2100" dirty="0"/>
              <a:t>   You can edit column properties to control the look and feel of the column. For example, you can specify that values in the Revenue column are displayed with two decimal places and a dollar sign.</a:t>
            </a:r>
          </a:p>
          <a:p>
            <a:pPr>
              <a:buFontTx/>
              <a:buNone/>
            </a:pPr>
            <a:endParaRPr lang="en-US" sz="2100" dirty="0"/>
          </a:p>
          <a:p>
            <a:pPr>
              <a:buFontTx/>
              <a:buNone/>
            </a:pPr>
            <a:endParaRPr lang="en-US" sz="2100" dirty="0"/>
          </a:p>
          <a:p>
            <a:pPr>
              <a:buFontTx/>
              <a:buNone/>
            </a:pPr>
            <a:endParaRPr lang="en-US" sz="2100" dirty="0"/>
          </a:p>
        </p:txBody>
      </p:sp>
      <p:pic>
        <p:nvPicPr>
          <p:cNvPr id="2" name="Picture 2"/>
          <p:cNvPicPr>
            <a:picLocks noChangeAspect="1" noChangeArrowheads="1"/>
          </p:cNvPicPr>
          <p:nvPr/>
        </p:nvPicPr>
        <p:blipFill>
          <a:blip r:embed="rId2" cstate="print"/>
          <a:srcRect/>
          <a:stretch>
            <a:fillRect/>
          </a:stretch>
        </p:blipFill>
        <p:spPr bwMode="auto">
          <a:xfrm>
            <a:off x="968150" y="1968500"/>
            <a:ext cx="5989638" cy="4114800"/>
          </a:xfrm>
          <a:prstGeom prst="rect">
            <a:avLst/>
          </a:prstGeom>
          <a:noFill/>
          <a:ln w="9525">
            <a:noFill/>
            <a:miter lim="800000"/>
            <a:headEnd/>
            <a:tailEnd/>
          </a:ln>
        </p:spPr>
      </p:pic>
      <p:pic>
        <p:nvPicPr>
          <p:cNvPr id="4" name="Picture 3">
            <a:extLst>
              <a:ext uri="{FF2B5EF4-FFF2-40B4-BE49-F238E27FC236}">
                <a16:creationId xmlns:a16="http://schemas.microsoft.com/office/drawing/2014/main" id="{04533804-3F08-448F-AAA1-7C0D12F130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239" y="-17628"/>
            <a:ext cx="1895740" cy="314369"/>
          </a:xfrm>
          <a:prstGeom prst="rect">
            <a:avLst/>
          </a:prstGeom>
        </p:spPr>
      </p:pic>
      <p:pic>
        <p:nvPicPr>
          <p:cNvPr id="6" name="Picture 5">
            <a:extLst>
              <a:ext uri="{FF2B5EF4-FFF2-40B4-BE49-F238E27FC236}">
                <a16:creationId xmlns:a16="http://schemas.microsoft.com/office/drawing/2014/main" id="{B55A383A-5FCE-4199-822B-E87A8FB3C4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1471" y="11224"/>
            <a:ext cx="1562318" cy="314369"/>
          </a:xfrm>
          <a:prstGeom prst="rect">
            <a:avLst/>
          </a:prstGeom>
        </p:spPr>
      </p:pic>
    </p:spTree>
    <p:extLst>
      <p:ext uri="{BB962C8B-B14F-4D97-AF65-F5344CB8AC3E}">
        <p14:creationId xmlns:p14="http://schemas.microsoft.com/office/powerpoint/2010/main" val="38437425"/>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981878" y="195309"/>
            <a:ext cx="10692258" cy="592092"/>
          </a:xfrm>
        </p:spPr>
        <p:txBody>
          <a:bodyPr>
            <a:normAutofit fontScale="90000"/>
          </a:bodyPr>
          <a:lstStyle/>
          <a:p>
            <a:r>
              <a:rPr lang="en-US" altLang="en-US" dirty="0"/>
              <a:t>Build of Custom OTBI Report</a:t>
            </a:r>
          </a:p>
        </p:txBody>
      </p:sp>
      <p:sp>
        <p:nvSpPr>
          <p:cNvPr id="7" name="Title 1"/>
          <p:cNvSpPr txBox="1">
            <a:spLocks/>
          </p:cNvSpPr>
          <p:nvPr/>
        </p:nvSpPr>
        <p:spPr bwMode="auto">
          <a:xfrm>
            <a:off x="101574" y="1092200"/>
            <a:ext cx="11003800" cy="508000"/>
          </a:xfrm>
          <a:prstGeom prst="rect">
            <a:avLst/>
          </a:prstGeom>
          <a:noFill/>
          <a:ln w="9525">
            <a:noFill/>
            <a:miter lim="800000"/>
            <a:headEnd/>
            <a:tailEnd/>
          </a:ln>
        </p:spPr>
        <p:txBody>
          <a:bodyPr lIns="0" tIns="0" rIns="0" bIns="0"/>
          <a:lstStyle/>
          <a:p>
            <a:pPr>
              <a:defRPr/>
            </a:pPr>
            <a:r>
              <a:rPr lang="en-US" sz="2700" dirty="0"/>
              <a:t>Conditional Formatting:</a:t>
            </a:r>
            <a:endParaRPr lang="en-US" sz="2700" kern="0" dirty="0">
              <a:latin typeface="+mj-lt"/>
              <a:ea typeface="+mj-ea"/>
              <a:cs typeface="+mj-cs"/>
            </a:endParaRPr>
          </a:p>
        </p:txBody>
      </p:sp>
      <p:pic>
        <p:nvPicPr>
          <p:cNvPr id="2867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304721" y="1905001"/>
            <a:ext cx="11680957"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6B5DFDC5-617A-4C63-8F63-A5540B1EA4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319" y="-15536"/>
            <a:ext cx="1895740" cy="314369"/>
          </a:xfrm>
          <a:prstGeom prst="rect">
            <a:avLst/>
          </a:prstGeom>
        </p:spPr>
      </p:pic>
      <p:pic>
        <p:nvPicPr>
          <p:cNvPr id="5" name="Picture 4">
            <a:extLst>
              <a:ext uri="{FF2B5EF4-FFF2-40B4-BE49-F238E27FC236}">
                <a16:creationId xmlns:a16="http://schemas.microsoft.com/office/drawing/2014/main" id="{DA46479D-06BB-49CC-80A4-CC767E30E6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5960" y="61847"/>
            <a:ext cx="1562318" cy="314369"/>
          </a:xfrm>
          <a:prstGeom prst="rect">
            <a:avLst/>
          </a:prstGeom>
        </p:spPr>
      </p:pic>
    </p:spTree>
    <p:extLst>
      <p:ext uri="{BB962C8B-B14F-4D97-AF65-F5344CB8AC3E}">
        <p14:creationId xmlns:p14="http://schemas.microsoft.com/office/powerpoint/2010/main" val="831654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981878" y="279399"/>
            <a:ext cx="10763279" cy="508001"/>
          </a:xfrm>
        </p:spPr>
        <p:txBody>
          <a:bodyPr>
            <a:normAutofit fontScale="90000"/>
          </a:bodyPr>
          <a:lstStyle/>
          <a:p>
            <a:r>
              <a:rPr lang="en-US" altLang="en-US" dirty="0"/>
              <a:t>Build of Custom OTBI Report</a:t>
            </a:r>
          </a:p>
        </p:txBody>
      </p:sp>
      <p:sp>
        <p:nvSpPr>
          <p:cNvPr id="4" name="Title 1"/>
          <p:cNvSpPr txBox="1">
            <a:spLocks/>
          </p:cNvSpPr>
          <p:nvPr/>
        </p:nvSpPr>
        <p:spPr bwMode="auto">
          <a:xfrm>
            <a:off x="101574" y="889000"/>
            <a:ext cx="11003800" cy="508000"/>
          </a:xfrm>
          <a:prstGeom prst="rect">
            <a:avLst/>
          </a:prstGeom>
          <a:noFill/>
          <a:ln w="9525">
            <a:noFill/>
            <a:miter lim="800000"/>
            <a:headEnd/>
            <a:tailEnd/>
          </a:ln>
        </p:spPr>
        <p:txBody>
          <a:bodyPr lIns="0" tIns="0" rIns="0" bIns="0"/>
          <a:lstStyle/>
          <a:p>
            <a:pPr>
              <a:defRPr/>
            </a:pPr>
            <a:r>
              <a:rPr lang="en-US" sz="2700" dirty="0"/>
              <a:t>Result of Analysis:</a:t>
            </a:r>
            <a:endParaRPr lang="en-US" sz="2700" kern="0" dirty="0">
              <a:latin typeface="+mj-lt"/>
              <a:ea typeface="+mj-ea"/>
              <a:cs typeface="+mj-cs"/>
            </a:endParaRPr>
          </a:p>
        </p:txBody>
      </p:sp>
      <p:pic>
        <p:nvPicPr>
          <p:cNvPr id="2970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609441" y="1479551"/>
            <a:ext cx="10969943"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66A9E28-819D-4E05-8160-F7D0DA7BD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41" y="0"/>
            <a:ext cx="1895740" cy="314369"/>
          </a:xfrm>
          <a:prstGeom prst="rect">
            <a:avLst/>
          </a:prstGeom>
        </p:spPr>
      </p:pic>
      <p:pic>
        <p:nvPicPr>
          <p:cNvPr id="6" name="Picture 5">
            <a:extLst>
              <a:ext uri="{FF2B5EF4-FFF2-40B4-BE49-F238E27FC236}">
                <a16:creationId xmlns:a16="http://schemas.microsoft.com/office/drawing/2014/main" id="{CFEFF26B-027A-4C38-A3B5-E696F76316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3715" y="48685"/>
            <a:ext cx="1562318" cy="314369"/>
          </a:xfrm>
          <a:prstGeom prst="rect">
            <a:avLst/>
          </a:prstGeom>
        </p:spPr>
      </p:pic>
    </p:spTree>
    <p:extLst>
      <p:ext uri="{BB962C8B-B14F-4D97-AF65-F5344CB8AC3E}">
        <p14:creationId xmlns:p14="http://schemas.microsoft.com/office/powerpoint/2010/main" val="30071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981878" y="279399"/>
            <a:ext cx="10745524" cy="508001"/>
          </a:xfrm>
        </p:spPr>
        <p:txBody>
          <a:bodyPr>
            <a:normAutofit fontScale="90000"/>
          </a:bodyPr>
          <a:lstStyle/>
          <a:p>
            <a:r>
              <a:rPr lang="en-US" altLang="en-US"/>
              <a:t>Build of Custom OTBI Report</a:t>
            </a:r>
          </a:p>
        </p:txBody>
      </p:sp>
      <p:sp>
        <p:nvSpPr>
          <p:cNvPr id="4" name="Title 1"/>
          <p:cNvSpPr txBox="1">
            <a:spLocks/>
          </p:cNvSpPr>
          <p:nvPr/>
        </p:nvSpPr>
        <p:spPr bwMode="auto">
          <a:xfrm>
            <a:off x="101574" y="889000"/>
            <a:ext cx="11003800" cy="508000"/>
          </a:xfrm>
          <a:prstGeom prst="rect">
            <a:avLst/>
          </a:prstGeom>
          <a:noFill/>
          <a:ln w="9525">
            <a:noFill/>
            <a:miter lim="800000"/>
            <a:headEnd/>
            <a:tailEnd/>
          </a:ln>
        </p:spPr>
        <p:txBody>
          <a:bodyPr lIns="0" tIns="0" rIns="0" bIns="0"/>
          <a:lstStyle/>
          <a:p>
            <a:pPr>
              <a:defRPr/>
            </a:pPr>
            <a:r>
              <a:rPr lang="en-US" sz="2700" dirty="0"/>
              <a:t>Editing the View:</a:t>
            </a:r>
            <a:endParaRPr lang="en-US" sz="2700" kern="0" dirty="0">
              <a:latin typeface="+mj-lt"/>
              <a:ea typeface="+mj-ea"/>
              <a:cs typeface="+mj-cs"/>
            </a:endParaRPr>
          </a:p>
        </p:txBody>
      </p:sp>
      <p:pic>
        <p:nvPicPr>
          <p:cNvPr id="3072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147" y="1498600"/>
            <a:ext cx="10495933"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6C06BCCE-7275-473F-B902-280D8BEC2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829" y="0"/>
            <a:ext cx="1895740" cy="314369"/>
          </a:xfrm>
          <a:prstGeom prst="rect">
            <a:avLst/>
          </a:prstGeom>
        </p:spPr>
      </p:pic>
      <p:pic>
        <p:nvPicPr>
          <p:cNvPr id="6" name="Picture 5">
            <a:extLst>
              <a:ext uri="{FF2B5EF4-FFF2-40B4-BE49-F238E27FC236}">
                <a16:creationId xmlns:a16="http://schemas.microsoft.com/office/drawing/2014/main" id="{7593DAC8-F09F-4F3B-8B4D-DD8F8F37C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2592" y="0"/>
            <a:ext cx="1562318" cy="314369"/>
          </a:xfrm>
          <a:prstGeom prst="rect">
            <a:avLst/>
          </a:prstGeom>
        </p:spPr>
      </p:pic>
    </p:spTree>
    <p:extLst>
      <p:ext uri="{BB962C8B-B14F-4D97-AF65-F5344CB8AC3E}">
        <p14:creationId xmlns:p14="http://schemas.microsoft.com/office/powerpoint/2010/main" val="3346739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981878" y="314369"/>
            <a:ext cx="10800653" cy="473032"/>
          </a:xfrm>
        </p:spPr>
        <p:txBody>
          <a:bodyPr>
            <a:normAutofit fontScale="90000"/>
          </a:bodyPr>
          <a:lstStyle/>
          <a:p>
            <a:r>
              <a:rPr lang="en-US" altLang="en-US" dirty="0"/>
              <a:t>Build of Custom OTBI Report</a:t>
            </a:r>
          </a:p>
        </p:txBody>
      </p:sp>
      <p:pic>
        <p:nvPicPr>
          <p:cNvPr id="3174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868" y="1701800"/>
            <a:ext cx="9344766"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a:spLocks/>
          </p:cNvSpPr>
          <p:nvPr/>
        </p:nvSpPr>
        <p:spPr bwMode="auto">
          <a:xfrm>
            <a:off x="101574" y="889000"/>
            <a:ext cx="11680957" cy="711200"/>
          </a:xfrm>
          <a:prstGeom prst="rect">
            <a:avLst/>
          </a:prstGeom>
          <a:noFill/>
          <a:ln w="9525">
            <a:noFill/>
            <a:miter lim="800000"/>
            <a:headEnd/>
            <a:tailEnd/>
          </a:ln>
        </p:spPr>
        <p:txBody>
          <a:bodyPr lIns="0" tIns="0" rIns="0" bIns="0"/>
          <a:lstStyle/>
          <a:p>
            <a:pPr eaLnBrk="1" hangingPunct="1">
              <a:defRPr/>
            </a:pPr>
            <a:r>
              <a:rPr lang="en-US" dirty="0"/>
              <a:t>Drag the “Department” column onto the “Table Prompts” area (</a:t>
            </a:r>
            <a:r>
              <a:rPr lang="en-US" dirty="0">
                <a:latin typeface="Arial" pitchFamily="34" charset="0"/>
                <a:cs typeface="Arial" pitchFamily="34" charset="0"/>
              </a:rPr>
              <a:t>use the crosshairs on the column to drag and drop the column to a different position)</a:t>
            </a:r>
            <a:r>
              <a:rPr lang="en-US" dirty="0"/>
              <a:t>.</a:t>
            </a:r>
            <a:endParaRPr lang="en-US" kern="0" dirty="0">
              <a:latin typeface="+mj-lt"/>
              <a:ea typeface="+mj-ea"/>
              <a:cs typeface="+mj-cs"/>
            </a:endParaRPr>
          </a:p>
        </p:txBody>
      </p:sp>
      <p:pic>
        <p:nvPicPr>
          <p:cNvPr id="3" name="Picture 2">
            <a:extLst>
              <a:ext uri="{FF2B5EF4-FFF2-40B4-BE49-F238E27FC236}">
                <a16:creationId xmlns:a16="http://schemas.microsoft.com/office/drawing/2014/main" id="{2064AB19-A701-4574-926D-6BC607158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563" y="0"/>
            <a:ext cx="1895740" cy="314369"/>
          </a:xfrm>
          <a:prstGeom prst="rect">
            <a:avLst/>
          </a:prstGeom>
        </p:spPr>
      </p:pic>
      <p:pic>
        <p:nvPicPr>
          <p:cNvPr id="5" name="Picture 4">
            <a:extLst>
              <a:ext uri="{FF2B5EF4-FFF2-40B4-BE49-F238E27FC236}">
                <a16:creationId xmlns:a16="http://schemas.microsoft.com/office/drawing/2014/main" id="{251606A0-8FEA-40E3-8B5E-50ABCA00E3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8104" y="50904"/>
            <a:ext cx="1562318" cy="314369"/>
          </a:xfrm>
          <a:prstGeom prst="rect">
            <a:avLst/>
          </a:prstGeom>
        </p:spPr>
      </p:pic>
    </p:spTree>
    <p:extLst>
      <p:ext uri="{BB962C8B-B14F-4D97-AF65-F5344CB8AC3E}">
        <p14:creationId xmlns:p14="http://schemas.microsoft.com/office/powerpoint/2010/main" val="110992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981878" y="358117"/>
            <a:ext cx="10425928" cy="429283"/>
          </a:xfrm>
        </p:spPr>
        <p:txBody>
          <a:bodyPr>
            <a:normAutofit fontScale="90000"/>
          </a:bodyPr>
          <a:lstStyle/>
          <a:p>
            <a:r>
              <a:rPr lang="en-US" altLang="en-US" dirty="0"/>
              <a:t>Build of Custom OTBI Report</a:t>
            </a:r>
          </a:p>
        </p:txBody>
      </p:sp>
      <p:pic>
        <p:nvPicPr>
          <p:cNvPr id="3277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868" y="990600"/>
            <a:ext cx="1066522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1835178E-9AC4-4AA5-B81D-31AE2219C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563" y="43750"/>
            <a:ext cx="1895740" cy="314369"/>
          </a:xfrm>
          <a:prstGeom prst="rect">
            <a:avLst/>
          </a:prstGeom>
        </p:spPr>
      </p:pic>
      <p:pic>
        <p:nvPicPr>
          <p:cNvPr id="5" name="Picture 4">
            <a:extLst>
              <a:ext uri="{FF2B5EF4-FFF2-40B4-BE49-F238E27FC236}">
                <a16:creationId xmlns:a16="http://schemas.microsoft.com/office/drawing/2014/main" id="{142ABBA3-F20F-43FE-B6F9-F4B633C63C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6981" y="43749"/>
            <a:ext cx="1562318" cy="314369"/>
          </a:xfrm>
          <a:prstGeom prst="rect">
            <a:avLst/>
          </a:prstGeom>
        </p:spPr>
      </p:pic>
    </p:spTree>
    <p:extLst>
      <p:ext uri="{BB962C8B-B14F-4D97-AF65-F5344CB8AC3E}">
        <p14:creationId xmlns:p14="http://schemas.microsoft.com/office/powerpoint/2010/main" val="216566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981878" y="334343"/>
            <a:ext cx="10800653" cy="453057"/>
          </a:xfrm>
        </p:spPr>
        <p:txBody>
          <a:bodyPr>
            <a:normAutofit fontScale="90000"/>
          </a:bodyPr>
          <a:lstStyle/>
          <a:p>
            <a:r>
              <a:rPr lang="en-US" altLang="en-US" dirty="0"/>
              <a:t>Build of Custom OTBI Report</a:t>
            </a:r>
          </a:p>
        </p:txBody>
      </p:sp>
      <p:pic>
        <p:nvPicPr>
          <p:cNvPr id="3379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294" y="1701800"/>
            <a:ext cx="10360501"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bwMode="auto">
          <a:xfrm>
            <a:off x="101574" y="889000"/>
            <a:ext cx="11680957" cy="711200"/>
          </a:xfrm>
          <a:prstGeom prst="rect">
            <a:avLst/>
          </a:prstGeom>
          <a:noFill/>
          <a:ln w="9525">
            <a:noFill/>
            <a:miter lim="800000"/>
            <a:headEnd/>
            <a:tailEnd/>
          </a:ln>
        </p:spPr>
        <p:txBody>
          <a:bodyPr lIns="0" tIns="0" rIns="0" bIns="0"/>
          <a:lstStyle/>
          <a:p>
            <a:pPr eaLnBrk="1" hangingPunct="1">
              <a:defRPr/>
            </a:pPr>
            <a:r>
              <a:rPr lang="en-US" dirty="0"/>
              <a:t>Click on “Done” to close view editor.</a:t>
            </a:r>
            <a:endParaRPr lang="en-US" kern="0" dirty="0">
              <a:latin typeface="+mj-lt"/>
              <a:ea typeface="+mj-ea"/>
              <a:cs typeface="+mj-cs"/>
            </a:endParaRPr>
          </a:p>
        </p:txBody>
      </p:sp>
      <p:pic>
        <p:nvPicPr>
          <p:cNvPr id="3" name="Picture 2">
            <a:extLst>
              <a:ext uri="{FF2B5EF4-FFF2-40B4-BE49-F238E27FC236}">
                <a16:creationId xmlns:a16="http://schemas.microsoft.com/office/drawing/2014/main" id="{7CDCC0BF-EDF3-47E1-AC00-C6E73F0EE4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85" y="19975"/>
            <a:ext cx="1895740" cy="314369"/>
          </a:xfrm>
          <a:prstGeom prst="rect">
            <a:avLst/>
          </a:prstGeom>
        </p:spPr>
      </p:pic>
      <p:pic>
        <p:nvPicPr>
          <p:cNvPr id="6" name="Picture 5">
            <a:extLst>
              <a:ext uri="{FF2B5EF4-FFF2-40B4-BE49-F238E27FC236}">
                <a16:creationId xmlns:a16="http://schemas.microsoft.com/office/drawing/2014/main" id="{2AC6A152-34A5-4380-9FC2-1C21F98DF8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3715" y="48685"/>
            <a:ext cx="1562318" cy="314369"/>
          </a:xfrm>
          <a:prstGeom prst="rect">
            <a:avLst/>
          </a:prstGeom>
        </p:spPr>
      </p:pic>
    </p:spTree>
    <p:extLst>
      <p:ext uri="{BB962C8B-B14F-4D97-AF65-F5344CB8AC3E}">
        <p14:creationId xmlns:p14="http://schemas.microsoft.com/office/powerpoint/2010/main" val="311631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23277" y="-124288"/>
            <a:ext cx="9322235"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723711" y="901700"/>
            <a:ext cx="10449377" cy="1651000"/>
          </a:xfrm>
          <a:prstGeom prst="rect">
            <a:avLst/>
          </a:prstGeom>
        </p:spPr>
        <p:txBody>
          <a:bodyPr/>
          <a:lstStyle/>
          <a:p>
            <a:pPr>
              <a:buNone/>
            </a:pPr>
            <a:r>
              <a:rPr lang="en-US" sz="2100" dirty="0"/>
              <a:t>Various Formula like Concatenate, Year, Month etc can be added to column.</a:t>
            </a:r>
          </a:p>
          <a:p>
            <a:pPr>
              <a:buNone/>
            </a:pPr>
            <a:r>
              <a:rPr lang="en-US" sz="2100" dirty="0"/>
              <a:t>Click Options beside the column name, select ‘Edit Formula’</a:t>
            </a:r>
          </a:p>
          <a:p>
            <a:pPr>
              <a:buNone/>
            </a:pPr>
            <a:endParaRPr lang="en-US" sz="2100" dirty="0"/>
          </a:p>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634835" y="2844800"/>
            <a:ext cx="10449377" cy="1651000"/>
          </a:xfrm>
          <a:prstGeom prst="rect">
            <a:avLst/>
          </a:prstGeom>
        </p:spPr>
        <p:txBody>
          <a:bodyPr/>
          <a:lstStyle/>
          <a:p>
            <a:pPr>
              <a:buNone/>
            </a:pPr>
            <a:r>
              <a:rPr lang="en-US" sz="2100" dirty="0"/>
              <a:t>   </a:t>
            </a:r>
          </a:p>
          <a:p>
            <a:pPr>
              <a:buFontTx/>
              <a:buNone/>
            </a:pPr>
            <a:endParaRPr lang="en-US" sz="2100" dirty="0"/>
          </a:p>
          <a:p>
            <a:pPr>
              <a:buFontTx/>
              <a:buNone/>
            </a:pPr>
            <a:endParaRPr lang="en-US" sz="2100" dirty="0"/>
          </a:p>
          <a:p>
            <a:pPr>
              <a:buFontTx/>
              <a:buNone/>
            </a:pPr>
            <a:endParaRPr lang="en-US" sz="2100" dirty="0"/>
          </a:p>
        </p:txBody>
      </p:sp>
      <p:pic>
        <p:nvPicPr>
          <p:cNvPr id="1026" name="Picture 2"/>
          <p:cNvPicPr>
            <a:picLocks noChangeAspect="1" noChangeArrowheads="1"/>
          </p:cNvPicPr>
          <p:nvPr/>
        </p:nvPicPr>
        <p:blipFill>
          <a:blip r:embed="rId2" cstate="print"/>
          <a:srcRect/>
          <a:stretch>
            <a:fillRect/>
          </a:stretch>
        </p:blipFill>
        <p:spPr bwMode="auto">
          <a:xfrm>
            <a:off x="812589" y="1739929"/>
            <a:ext cx="8767067" cy="4292572"/>
          </a:xfrm>
          <a:prstGeom prst="rect">
            <a:avLst/>
          </a:prstGeom>
          <a:noFill/>
          <a:ln w="9525">
            <a:noFill/>
            <a:miter lim="800000"/>
            <a:headEnd/>
            <a:tailEnd/>
          </a:ln>
        </p:spPr>
      </p:pic>
      <p:sp>
        <p:nvSpPr>
          <p:cNvPr id="8" name="Rectangle 7"/>
          <p:cNvSpPr/>
          <p:nvPr/>
        </p:nvSpPr>
        <p:spPr>
          <a:xfrm>
            <a:off x="6500707" y="5207001"/>
            <a:ext cx="2894846"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sp>
        <p:nvSpPr>
          <p:cNvPr id="10" name="Rectangle 9"/>
          <p:cNvSpPr/>
          <p:nvPr/>
        </p:nvSpPr>
        <p:spPr>
          <a:xfrm>
            <a:off x="3224961" y="5181601"/>
            <a:ext cx="74910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DB28C7C3-A4D0-4D1A-A16A-9A87C5BAD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589" y="0"/>
            <a:ext cx="1895740" cy="314369"/>
          </a:xfrm>
          <a:prstGeom prst="rect">
            <a:avLst/>
          </a:prstGeom>
        </p:spPr>
      </p:pic>
      <p:pic>
        <p:nvPicPr>
          <p:cNvPr id="5" name="Picture 4">
            <a:extLst>
              <a:ext uri="{FF2B5EF4-FFF2-40B4-BE49-F238E27FC236}">
                <a16:creationId xmlns:a16="http://schemas.microsoft.com/office/drawing/2014/main" id="{C7A0AAC1-4635-4979-A88F-37A5C8EEB5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5553" y="58714"/>
            <a:ext cx="1562318" cy="314369"/>
          </a:xfrm>
          <a:prstGeom prst="rect">
            <a:avLst/>
          </a:prstGeom>
        </p:spPr>
      </p:pic>
    </p:spTree>
    <p:extLst>
      <p:ext uri="{BB962C8B-B14F-4D97-AF65-F5344CB8AC3E}">
        <p14:creationId xmlns:p14="http://schemas.microsoft.com/office/powerpoint/2010/main" val="3078568476"/>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17628"/>
            <a:ext cx="9267285"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914162" y="1066800"/>
            <a:ext cx="10449377" cy="1651000"/>
          </a:xfrm>
          <a:prstGeom prst="rect">
            <a:avLst/>
          </a:prstGeom>
        </p:spPr>
        <p:txBody>
          <a:bodyPr/>
          <a:lstStyle/>
          <a:p>
            <a:pPr>
              <a:buNone/>
            </a:pPr>
            <a:r>
              <a:rPr lang="en-US" sz="2100" dirty="0"/>
              <a:t>To adding filter on column added, click Options beside the column name </a:t>
            </a:r>
          </a:p>
          <a:p>
            <a:pPr>
              <a:buFontTx/>
              <a:buNone/>
            </a:pPr>
            <a:endParaRPr lang="en-US" sz="2100" dirty="0"/>
          </a:p>
          <a:p>
            <a:pPr>
              <a:buFontTx/>
              <a:buNone/>
            </a:pPr>
            <a:endParaRPr lang="en-US" sz="2100" dirty="0"/>
          </a:p>
          <a:p>
            <a:pPr>
              <a:buFontTx/>
              <a:buNone/>
            </a:pPr>
            <a:endParaRPr lang="en-US" sz="2100" dirty="0"/>
          </a:p>
        </p:txBody>
      </p:sp>
      <p:pic>
        <p:nvPicPr>
          <p:cNvPr id="2051" name="Picture 3"/>
          <p:cNvPicPr>
            <a:picLocks noChangeAspect="1" noChangeArrowheads="1"/>
          </p:cNvPicPr>
          <p:nvPr/>
        </p:nvPicPr>
        <p:blipFill>
          <a:blip r:embed="rId2" cstate="print"/>
          <a:srcRect/>
          <a:stretch>
            <a:fillRect/>
          </a:stretch>
        </p:blipFill>
        <p:spPr bwMode="auto">
          <a:xfrm>
            <a:off x="1161750" y="2082800"/>
            <a:ext cx="2825013" cy="2273112"/>
          </a:xfrm>
          <a:prstGeom prst="rect">
            <a:avLst/>
          </a:prstGeom>
          <a:noFill/>
          <a:ln w="9525">
            <a:noFill/>
            <a:miter lim="800000"/>
            <a:headEnd/>
            <a:tailEnd/>
          </a:ln>
        </p:spPr>
      </p:pic>
      <p:sp>
        <p:nvSpPr>
          <p:cNvPr id="7" name="Rectangle 6"/>
          <p:cNvSpPr/>
          <p:nvPr/>
        </p:nvSpPr>
        <p:spPr>
          <a:xfrm>
            <a:off x="2348888" y="3657601"/>
            <a:ext cx="1879111"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5332D363-E9B1-45C3-ADEE-453D65D7D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62" y="-17628"/>
            <a:ext cx="1895740" cy="314369"/>
          </a:xfrm>
          <a:prstGeom prst="rect">
            <a:avLst/>
          </a:prstGeom>
        </p:spPr>
      </p:pic>
      <p:pic>
        <p:nvPicPr>
          <p:cNvPr id="5" name="Picture 4">
            <a:extLst>
              <a:ext uri="{FF2B5EF4-FFF2-40B4-BE49-F238E27FC236}">
                <a16:creationId xmlns:a16="http://schemas.microsoft.com/office/drawing/2014/main" id="{4AEC3AEC-CC18-4D26-B01D-D84710E48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226" y="25399"/>
            <a:ext cx="1562318" cy="314369"/>
          </a:xfrm>
          <a:prstGeom prst="rect">
            <a:avLst/>
          </a:prstGeom>
        </p:spPr>
      </p:pic>
    </p:spTree>
    <p:extLst>
      <p:ext uri="{BB962C8B-B14F-4D97-AF65-F5344CB8AC3E}">
        <p14:creationId xmlns:p14="http://schemas.microsoft.com/office/powerpoint/2010/main" val="64227386"/>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71022"/>
            <a:ext cx="9329429"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914161" y="1066800"/>
            <a:ext cx="10982639" cy="1651000"/>
          </a:xfrm>
          <a:prstGeom prst="rect">
            <a:avLst/>
          </a:prstGeom>
        </p:spPr>
        <p:txBody>
          <a:bodyPr/>
          <a:lstStyle/>
          <a:p>
            <a:pPr>
              <a:buNone/>
            </a:pPr>
            <a:r>
              <a:rPr lang="en-US" sz="2100" dirty="0"/>
              <a:t>To adding filter on column other than the columns added, click on “Add filter” icon in filters .</a:t>
            </a:r>
          </a:p>
          <a:p>
            <a:pPr>
              <a:buNone/>
            </a:pPr>
            <a:r>
              <a:rPr lang="en-US" sz="2100" dirty="0"/>
              <a:t>This will give option to add filter on selected columns or to pick columns from Subject area. </a:t>
            </a:r>
          </a:p>
          <a:p>
            <a:pPr>
              <a:buFontTx/>
              <a:buNone/>
            </a:pPr>
            <a:endParaRPr lang="en-US" sz="2100" dirty="0"/>
          </a:p>
          <a:p>
            <a:pPr>
              <a:buFontTx/>
              <a:buNone/>
            </a:pPr>
            <a:endParaRPr lang="en-US" sz="2100" dirty="0"/>
          </a:p>
          <a:p>
            <a:pPr>
              <a:buFontTx/>
              <a:buNone/>
            </a:pPr>
            <a:endParaRPr lang="en-US" sz="2100" dirty="0"/>
          </a:p>
        </p:txBody>
      </p:sp>
      <p:pic>
        <p:nvPicPr>
          <p:cNvPr id="4098" name="Picture 2"/>
          <p:cNvPicPr>
            <a:picLocks noChangeAspect="1" noChangeArrowheads="1"/>
          </p:cNvPicPr>
          <p:nvPr/>
        </p:nvPicPr>
        <p:blipFill>
          <a:blip r:embed="rId2" cstate="print"/>
          <a:srcRect/>
          <a:stretch>
            <a:fillRect/>
          </a:stretch>
        </p:blipFill>
        <p:spPr bwMode="auto">
          <a:xfrm>
            <a:off x="888769" y="2520951"/>
            <a:ext cx="9001955" cy="2120900"/>
          </a:xfrm>
          <a:prstGeom prst="rect">
            <a:avLst/>
          </a:prstGeom>
          <a:noFill/>
          <a:ln w="9525">
            <a:noFill/>
            <a:miter lim="800000"/>
            <a:headEnd/>
            <a:tailEnd/>
          </a:ln>
        </p:spPr>
      </p:pic>
      <p:sp>
        <p:nvSpPr>
          <p:cNvPr id="7" name="Rectangle 6"/>
          <p:cNvSpPr/>
          <p:nvPr/>
        </p:nvSpPr>
        <p:spPr>
          <a:xfrm>
            <a:off x="8252851" y="4114801"/>
            <a:ext cx="105382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sp>
        <p:nvSpPr>
          <p:cNvPr id="8" name="Rectangle 7"/>
          <p:cNvSpPr/>
          <p:nvPr/>
        </p:nvSpPr>
        <p:spPr>
          <a:xfrm>
            <a:off x="9141619" y="2832101"/>
            <a:ext cx="342811"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85C23C1B-C6C2-4E26-B1BB-4F3C0BE3F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606" y="20102"/>
            <a:ext cx="1895740" cy="314369"/>
          </a:xfrm>
          <a:prstGeom prst="rect">
            <a:avLst/>
          </a:prstGeom>
        </p:spPr>
      </p:pic>
      <p:pic>
        <p:nvPicPr>
          <p:cNvPr id="5" name="Picture 4">
            <a:extLst>
              <a:ext uri="{FF2B5EF4-FFF2-40B4-BE49-F238E27FC236}">
                <a16:creationId xmlns:a16="http://schemas.microsoft.com/office/drawing/2014/main" id="{5BD1B68C-630A-4705-8656-5164CE678C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8103" y="22321"/>
            <a:ext cx="1562318" cy="314369"/>
          </a:xfrm>
          <a:prstGeom prst="rect">
            <a:avLst/>
          </a:prstGeom>
        </p:spPr>
      </p:pic>
    </p:spTree>
    <p:extLst>
      <p:ext uri="{BB962C8B-B14F-4D97-AF65-F5344CB8AC3E}">
        <p14:creationId xmlns:p14="http://schemas.microsoft.com/office/powerpoint/2010/main" val="372027316"/>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142044"/>
            <a:ext cx="9240652" cy="885049"/>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914161" y="1066800"/>
            <a:ext cx="10982639" cy="1651000"/>
          </a:xfrm>
          <a:prstGeom prst="rect">
            <a:avLst/>
          </a:prstGeom>
        </p:spPr>
        <p:txBody>
          <a:bodyPr/>
          <a:lstStyle/>
          <a:p>
            <a:pPr>
              <a:buNone/>
            </a:pPr>
            <a:r>
              <a:rPr lang="en-US" sz="2100" dirty="0"/>
              <a:t>In the New Filter dialog, select the appropriate operator such as is equal to / is in. </a:t>
            </a:r>
          </a:p>
          <a:p>
            <a:pPr>
              <a:buFontTx/>
              <a:buNone/>
            </a:pPr>
            <a:endParaRPr lang="en-US" sz="2100" dirty="0"/>
          </a:p>
          <a:p>
            <a:pPr>
              <a:buFontTx/>
              <a:buNone/>
            </a:pPr>
            <a:endParaRPr lang="en-US" sz="2100" dirty="0"/>
          </a:p>
          <a:p>
            <a:pPr>
              <a:buFontTx/>
              <a:buNone/>
            </a:pPr>
            <a:endParaRPr lang="en-US" sz="2100" dirty="0"/>
          </a:p>
        </p:txBody>
      </p:sp>
      <p:pic>
        <p:nvPicPr>
          <p:cNvPr id="5122" name="Picture 2"/>
          <p:cNvPicPr>
            <a:picLocks noChangeAspect="1" noChangeArrowheads="1"/>
          </p:cNvPicPr>
          <p:nvPr/>
        </p:nvPicPr>
        <p:blipFill>
          <a:blip r:embed="rId2" cstate="print"/>
          <a:srcRect/>
          <a:stretch>
            <a:fillRect/>
          </a:stretch>
        </p:blipFill>
        <p:spPr bwMode="auto">
          <a:xfrm>
            <a:off x="1091916" y="2057400"/>
            <a:ext cx="4456539" cy="4127499"/>
          </a:xfrm>
          <a:prstGeom prst="rect">
            <a:avLst/>
          </a:prstGeom>
          <a:noFill/>
          <a:ln w="9525">
            <a:noFill/>
            <a:miter lim="800000"/>
            <a:headEnd/>
            <a:tailEnd/>
          </a:ln>
        </p:spPr>
      </p:pic>
      <p:pic>
        <p:nvPicPr>
          <p:cNvPr id="3" name="Picture 2">
            <a:extLst>
              <a:ext uri="{FF2B5EF4-FFF2-40B4-BE49-F238E27FC236}">
                <a16:creationId xmlns:a16="http://schemas.microsoft.com/office/drawing/2014/main" id="{5CF6EE43-40A5-4388-9FBF-67B683BE4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28" y="-17628"/>
            <a:ext cx="1895740" cy="314369"/>
          </a:xfrm>
          <a:prstGeom prst="rect">
            <a:avLst/>
          </a:prstGeom>
        </p:spPr>
      </p:pic>
      <p:pic>
        <p:nvPicPr>
          <p:cNvPr id="5" name="Picture 4">
            <a:extLst>
              <a:ext uri="{FF2B5EF4-FFF2-40B4-BE49-F238E27FC236}">
                <a16:creationId xmlns:a16="http://schemas.microsoft.com/office/drawing/2014/main" id="{A0FBB46C-AC1F-4214-B6FC-15820FA33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226" y="0"/>
            <a:ext cx="1562318" cy="314369"/>
          </a:xfrm>
          <a:prstGeom prst="rect">
            <a:avLst/>
          </a:prstGeom>
        </p:spPr>
      </p:pic>
    </p:spTree>
    <p:extLst>
      <p:ext uri="{BB962C8B-B14F-4D97-AF65-F5344CB8AC3E}">
        <p14:creationId xmlns:p14="http://schemas.microsoft.com/office/powerpoint/2010/main" val="61291949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22085" y="-17628"/>
            <a:ext cx="9223428"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914161" y="1066800"/>
            <a:ext cx="10982639" cy="1651000"/>
          </a:xfrm>
          <a:prstGeom prst="rect">
            <a:avLst/>
          </a:prstGeom>
        </p:spPr>
        <p:txBody>
          <a:bodyPr/>
          <a:lstStyle/>
          <a:p>
            <a:pPr>
              <a:buNone/>
            </a:pPr>
            <a:r>
              <a:rPr lang="en-US" sz="2100" dirty="0"/>
              <a:t>Select values from the list or click the Search icon to find more values from which to select.</a:t>
            </a:r>
          </a:p>
          <a:p>
            <a:pPr>
              <a:buFontTx/>
              <a:buNone/>
            </a:pPr>
            <a:endParaRPr lang="en-US" sz="2100" dirty="0"/>
          </a:p>
          <a:p>
            <a:pPr>
              <a:buFontTx/>
              <a:buNone/>
            </a:pPr>
            <a:endParaRPr lang="en-US" sz="2100" dirty="0"/>
          </a:p>
        </p:txBody>
      </p:sp>
      <p:pic>
        <p:nvPicPr>
          <p:cNvPr id="6146" name="Picture 2"/>
          <p:cNvPicPr>
            <a:picLocks noChangeAspect="1" noChangeArrowheads="1"/>
          </p:cNvPicPr>
          <p:nvPr/>
        </p:nvPicPr>
        <p:blipFill>
          <a:blip r:embed="rId2" cstate="print"/>
          <a:srcRect/>
          <a:stretch>
            <a:fillRect/>
          </a:stretch>
        </p:blipFill>
        <p:spPr bwMode="auto">
          <a:xfrm>
            <a:off x="1022085" y="1689100"/>
            <a:ext cx="4405752" cy="3378200"/>
          </a:xfrm>
          <a:prstGeom prst="rect">
            <a:avLst/>
          </a:prstGeom>
          <a:noFill/>
          <a:ln w="9525">
            <a:noFill/>
            <a:miter lim="800000"/>
            <a:headEnd/>
            <a:tailEnd/>
          </a:ln>
        </p:spPr>
      </p:pic>
      <p:sp>
        <p:nvSpPr>
          <p:cNvPr id="7" name="Rectangle 6"/>
          <p:cNvSpPr/>
          <p:nvPr/>
        </p:nvSpPr>
        <p:spPr>
          <a:xfrm>
            <a:off x="1879111" y="4140201"/>
            <a:ext cx="105382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52B86DC5-7BC0-49F4-A1C8-738A7E13F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217" y="-17628"/>
            <a:ext cx="1895740" cy="314369"/>
          </a:xfrm>
          <a:prstGeom prst="rect">
            <a:avLst/>
          </a:prstGeom>
        </p:spPr>
      </p:pic>
      <p:pic>
        <p:nvPicPr>
          <p:cNvPr id="5" name="Picture 4">
            <a:extLst>
              <a:ext uri="{FF2B5EF4-FFF2-40B4-BE49-F238E27FC236}">
                <a16:creationId xmlns:a16="http://schemas.microsoft.com/office/drawing/2014/main" id="{A25D24EE-6B73-40FB-B60A-1E5ADEF4EF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6981" y="0"/>
            <a:ext cx="1562318" cy="314369"/>
          </a:xfrm>
          <a:prstGeom prst="rect">
            <a:avLst/>
          </a:prstGeom>
        </p:spPr>
      </p:pic>
    </p:spTree>
    <p:extLst>
      <p:ext uri="{BB962C8B-B14F-4D97-AF65-F5344CB8AC3E}">
        <p14:creationId xmlns:p14="http://schemas.microsoft.com/office/powerpoint/2010/main" val="3439661088"/>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47580"/>
            <a:ext cx="9142998"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914161" y="1066800"/>
            <a:ext cx="10982639" cy="1651000"/>
          </a:xfrm>
          <a:prstGeom prst="rect">
            <a:avLst/>
          </a:prstGeom>
        </p:spPr>
        <p:txBody>
          <a:bodyPr/>
          <a:lstStyle/>
          <a:p>
            <a:pPr>
              <a:buNone/>
            </a:pPr>
            <a:r>
              <a:rPr lang="en-US" sz="2100" dirty="0"/>
              <a:t>Filter can be added on multiple columns and logical operator can be defined as “And” or “Or”</a:t>
            </a:r>
          </a:p>
          <a:p>
            <a:pPr>
              <a:buFontTx/>
              <a:buNone/>
            </a:pPr>
            <a:endParaRPr lang="en-US" sz="2100" dirty="0"/>
          </a:p>
          <a:p>
            <a:pPr>
              <a:buFontTx/>
              <a:buNone/>
            </a:pPr>
            <a:endParaRPr lang="en-US" sz="2100" dirty="0"/>
          </a:p>
        </p:txBody>
      </p:sp>
      <p:pic>
        <p:nvPicPr>
          <p:cNvPr id="7170" name="Picture 2"/>
          <p:cNvPicPr>
            <a:picLocks noChangeAspect="1" noChangeArrowheads="1"/>
          </p:cNvPicPr>
          <p:nvPr/>
        </p:nvPicPr>
        <p:blipFill>
          <a:blip r:embed="rId2" cstate="print"/>
          <a:srcRect/>
          <a:stretch>
            <a:fillRect/>
          </a:stretch>
        </p:blipFill>
        <p:spPr bwMode="auto">
          <a:xfrm>
            <a:off x="1371243" y="2476500"/>
            <a:ext cx="9446339" cy="1905000"/>
          </a:xfrm>
          <a:prstGeom prst="rect">
            <a:avLst/>
          </a:prstGeom>
          <a:noFill/>
          <a:ln w="9525">
            <a:noFill/>
            <a:miter lim="800000"/>
            <a:headEnd/>
            <a:tailEnd/>
          </a:ln>
        </p:spPr>
      </p:pic>
      <p:sp>
        <p:nvSpPr>
          <p:cNvPr id="7" name="Rectangle 6"/>
          <p:cNvSpPr/>
          <p:nvPr/>
        </p:nvSpPr>
        <p:spPr>
          <a:xfrm>
            <a:off x="1041130" y="3810001"/>
            <a:ext cx="105382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FC27F2A0-E22F-4C85-9965-AFA7C0BB5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484" y="3451"/>
            <a:ext cx="1895740" cy="314369"/>
          </a:xfrm>
          <a:prstGeom prst="rect">
            <a:avLst/>
          </a:prstGeom>
        </p:spPr>
      </p:pic>
      <p:pic>
        <p:nvPicPr>
          <p:cNvPr id="5" name="Picture 4">
            <a:extLst>
              <a:ext uri="{FF2B5EF4-FFF2-40B4-BE49-F238E27FC236}">
                <a16:creationId xmlns:a16="http://schemas.microsoft.com/office/drawing/2014/main" id="{9B9F35F3-C17E-4861-8258-2BC4BEB6B4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5264" y="47581"/>
            <a:ext cx="1562318" cy="314369"/>
          </a:xfrm>
          <a:prstGeom prst="rect">
            <a:avLst/>
          </a:prstGeom>
        </p:spPr>
      </p:pic>
    </p:spTree>
    <p:extLst>
      <p:ext uri="{BB962C8B-B14F-4D97-AF65-F5344CB8AC3E}">
        <p14:creationId xmlns:p14="http://schemas.microsoft.com/office/powerpoint/2010/main" val="2968975988"/>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6296"/>
            <a:ext cx="9134120"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pic>
        <p:nvPicPr>
          <p:cNvPr id="8194" name="Picture 2"/>
          <p:cNvPicPr>
            <a:picLocks noChangeAspect="1" noChangeArrowheads="1"/>
          </p:cNvPicPr>
          <p:nvPr/>
        </p:nvPicPr>
        <p:blipFill>
          <a:blip r:embed="rId2" cstate="print"/>
          <a:srcRect/>
          <a:stretch>
            <a:fillRect/>
          </a:stretch>
        </p:blipFill>
        <p:spPr bwMode="auto">
          <a:xfrm>
            <a:off x="990343" y="1892300"/>
            <a:ext cx="7783073" cy="4191000"/>
          </a:xfrm>
          <a:prstGeom prst="rect">
            <a:avLst/>
          </a:prstGeom>
          <a:noFill/>
          <a:ln w="9525">
            <a:noFill/>
            <a:miter lim="800000"/>
            <a:headEnd/>
            <a:tailEnd/>
          </a:ln>
        </p:spPr>
      </p:pic>
      <p:sp>
        <p:nvSpPr>
          <p:cNvPr id="6" name="Content Placeholder 2"/>
          <p:cNvSpPr>
            <a:spLocks noGrp="1"/>
          </p:cNvSpPr>
          <p:nvPr>
            <p:ph sz="quarter" idx="12"/>
          </p:nvPr>
        </p:nvSpPr>
        <p:spPr>
          <a:xfrm>
            <a:off x="647532" y="1066801"/>
            <a:ext cx="11249268" cy="749300"/>
          </a:xfrm>
          <a:prstGeom prst="rect">
            <a:avLst/>
          </a:prstGeom>
        </p:spPr>
        <p:txBody>
          <a:bodyPr>
            <a:normAutofit/>
          </a:bodyPr>
          <a:lstStyle/>
          <a:p>
            <a:pPr>
              <a:buNone/>
            </a:pPr>
            <a:r>
              <a:rPr lang="en-US" sz="2100" dirty="0"/>
              <a:t>   To view the results, click on results tab. The analysis is displayed in the default Compound Layout, which includes a Title view and a Table view</a:t>
            </a:r>
          </a:p>
          <a:p>
            <a:pPr>
              <a:buFontTx/>
              <a:buNone/>
            </a:pPr>
            <a:endParaRPr lang="en-US" sz="2100" dirty="0"/>
          </a:p>
        </p:txBody>
      </p:sp>
      <p:sp>
        <p:nvSpPr>
          <p:cNvPr id="7" name="Rectangle 6"/>
          <p:cNvSpPr/>
          <p:nvPr/>
        </p:nvSpPr>
        <p:spPr>
          <a:xfrm>
            <a:off x="1269670" y="1841501"/>
            <a:ext cx="105382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D08E1131-E4E2-4018-8808-73A05E258C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29" y="0"/>
            <a:ext cx="1895740" cy="314369"/>
          </a:xfrm>
          <a:prstGeom prst="rect">
            <a:avLst/>
          </a:prstGeom>
        </p:spPr>
      </p:pic>
      <p:pic>
        <p:nvPicPr>
          <p:cNvPr id="5" name="Picture 4">
            <a:extLst>
              <a:ext uri="{FF2B5EF4-FFF2-40B4-BE49-F238E27FC236}">
                <a16:creationId xmlns:a16="http://schemas.microsoft.com/office/drawing/2014/main" id="{FECD0769-E0D2-4102-8552-7E54A483C7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4837" y="46608"/>
            <a:ext cx="1562318" cy="314369"/>
          </a:xfrm>
          <a:prstGeom prst="rect">
            <a:avLst/>
          </a:prstGeom>
        </p:spPr>
      </p:pic>
    </p:spTree>
    <p:extLst>
      <p:ext uri="{BB962C8B-B14F-4D97-AF65-F5344CB8AC3E}">
        <p14:creationId xmlns:p14="http://schemas.microsoft.com/office/powerpoint/2010/main" val="3923798018"/>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58787" y="-133166"/>
            <a:ext cx="9286725" cy="892530"/>
          </a:xfrm>
          <a:prstGeom prst="rect">
            <a:avLst/>
          </a:prstGeom>
        </p:spPr>
        <p:txBody>
          <a:bodyPr wrap="square" lIns="121899" tIns="60949" rIns="121899" bIns="60949">
            <a:spAutoFit/>
          </a:bodyPr>
          <a:lstStyle/>
          <a:p>
            <a:endParaRPr lang="en-US" dirty="0"/>
          </a:p>
          <a:p>
            <a:r>
              <a:rPr lang="en-US" sz="3200" b="1" dirty="0"/>
              <a:t>Creating OTBI Reports</a:t>
            </a:r>
            <a:endParaRPr lang="en-US" sz="2700" dirty="0"/>
          </a:p>
        </p:txBody>
      </p:sp>
      <p:sp>
        <p:nvSpPr>
          <p:cNvPr id="6" name="Content Placeholder 2"/>
          <p:cNvSpPr>
            <a:spLocks noGrp="1"/>
          </p:cNvSpPr>
          <p:nvPr>
            <p:ph sz="quarter" idx="12"/>
          </p:nvPr>
        </p:nvSpPr>
        <p:spPr>
          <a:xfrm>
            <a:off x="647532" y="1066801"/>
            <a:ext cx="11249268" cy="1358900"/>
          </a:xfrm>
          <a:prstGeom prst="rect">
            <a:avLst/>
          </a:prstGeom>
        </p:spPr>
        <p:txBody>
          <a:bodyPr/>
          <a:lstStyle/>
          <a:p>
            <a:pPr>
              <a:buNone/>
            </a:pPr>
            <a:r>
              <a:rPr lang="en-US" sz="2100" dirty="0"/>
              <a:t>   To view the save the analysis, click the Save Analysis button to open the Save As dialog box.</a:t>
            </a:r>
          </a:p>
          <a:p>
            <a:pPr>
              <a:buNone/>
            </a:pPr>
            <a:r>
              <a:rPr lang="en-US" sz="2100" dirty="0"/>
              <a:t>   To make the report accessible to other user, save it under “Shared folder”. </a:t>
            </a:r>
          </a:p>
          <a:p>
            <a:pPr>
              <a:buNone/>
            </a:pPr>
            <a:endParaRPr lang="en-US" sz="2100" dirty="0"/>
          </a:p>
          <a:p>
            <a:pPr>
              <a:buNone/>
            </a:pPr>
            <a:endParaRPr lang="en-US" sz="2100" dirty="0"/>
          </a:p>
          <a:p>
            <a:pPr>
              <a:buFontTx/>
              <a:buNone/>
            </a:pPr>
            <a:endParaRPr lang="en-US" sz="2100" dirty="0"/>
          </a:p>
        </p:txBody>
      </p:sp>
      <p:pic>
        <p:nvPicPr>
          <p:cNvPr id="9218" name="Picture 2"/>
          <p:cNvPicPr>
            <a:picLocks noChangeAspect="1" noChangeArrowheads="1"/>
          </p:cNvPicPr>
          <p:nvPr/>
        </p:nvPicPr>
        <p:blipFill>
          <a:blip r:embed="rId2" cstate="print"/>
          <a:srcRect/>
          <a:stretch>
            <a:fillRect/>
          </a:stretch>
        </p:blipFill>
        <p:spPr bwMode="auto">
          <a:xfrm>
            <a:off x="1650570" y="2514600"/>
            <a:ext cx="2869453" cy="1905000"/>
          </a:xfrm>
          <a:prstGeom prst="rect">
            <a:avLst/>
          </a:prstGeom>
          <a:noFill/>
          <a:ln w="9525">
            <a:noFill/>
            <a:miter lim="800000"/>
            <a:headEnd/>
            <a:tailEnd/>
          </a:ln>
        </p:spPr>
      </p:pic>
      <p:sp>
        <p:nvSpPr>
          <p:cNvPr id="7" name="Rectangle 6"/>
          <p:cNvSpPr/>
          <p:nvPr/>
        </p:nvSpPr>
        <p:spPr>
          <a:xfrm>
            <a:off x="2488553" y="3327401"/>
            <a:ext cx="1053825" cy="393700"/>
          </a:xfrm>
          <a:prstGeom prst="rect">
            <a:avLst/>
          </a:prstGeom>
          <a:noFill/>
          <a:ln>
            <a:solidFill>
              <a:schemeClr val="accent1">
                <a:shade val="95000"/>
                <a:satMod val="10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pic>
        <p:nvPicPr>
          <p:cNvPr id="3" name="Picture 2">
            <a:extLst>
              <a:ext uri="{FF2B5EF4-FFF2-40B4-BE49-F238E27FC236}">
                <a16:creationId xmlns:a16="http://schemas.microsoft.com/office/drawing/2014/main" id="{CB59F0A1-2359-49F0-A305-047FB605C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606" y="-17628"/>
            <a:ext cx="1895740" cy="314369"/>
          </a:xfrm>
          <a:prstGeom prst="rect">
            <a:avLst/>
          </a:prstGeom>
        </p:spPr>
      </p:pic>
      <p:pic>
        <p:nvPicPr>
          <p:cNvPr id="5" name="Picture 4">
            <a:extLst>
              <a:ext uri="{FF2B5EF4-FFF2-40B4-BE49-F238E27FC236}">
                <a16:creationId xmlns:a16="http://schemas.microsoft.com/office/drawing/2014/main" id="{ADADA025-7D9D-4CC7-87F9-E9EEF9686A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226" y="0"/>
            <a:ext cx="1562318" cy="314369"/>
          </a:xfrm>
          <a:prstGeom prst="rect">
            <a:avLst/>
          </a:prstGeom>
        </p:spPr>
      </p:pic>
    </p:spTree>
    <p:extLst>
      <p:ext uri="{BB962C8B-B14F-4D97-AF65-F5344CB8AC3E}">
        <p14:creationId xmlns:p14="http://schemas.microsoft.com/office/powerpoint/2010/main" val="3372574561"/>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Cross Subject Area Reports</a:t>
            </a:r>
            <a:endParaRPr lang="en-US" dirty="0"/>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pic>
        <p:nvPicPr>
          <p:cNvPr id="4" name="Picture 3">
            <a:extLst>
              <a:ext uri="{FF2B5EF4-FFF2-40B4-BE49-F238E27FC236}">
                <a16:creationId xmlns:a16="http://schemas.microsoft.com/office/drawing/2014/main" id="{770C006C-7519-457D-B55E-FD99DDDBE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2" y="550416"/>
            <a:ext cx="2469851" cy="426128"/>
          </a:xfrm>
          <a:prstGeom prst="rect">
            <a:avLst/>
          </a:prstGeom>
        </p:spPr>
      </p:pic>
    </p:spTree>
    <p:extLst>
      <p:ext uri="{BB962C8B-B14F-4D97-AF65-F5344CB8AC3E}">
        <p14:creationId xmlns:p14="http://schemas.microsoft.com/office/powerpoint/2010/main" val="536805610"/>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OTBI</a:t>
            </a:r>
          </a:p>
        </p:txBody>
      </p:sp>
      <p:sp>
        <p:nvSpPr>
          <p:cNvPr id="13" name="Content Placeholder 8"/>
          <p:cNvSpPr>
            <a:spLocks noGrp="1"/>
          </p:cNvSpPr>
          <p:nvPr>
            <p:ph sz="quarter" idx="12"/>
          </p:nvPr>
        </p:nvSpPr>
        <p:spPr>
          <a:xfrm>
            <a:off x="711015" y="1295400"/>
            <a:ext cx="10157354" cy="4140200"/>
          </a:xfrm>
          <a:prstGeom prst="rect">
            <a:avLst/>
          </a:prstGeom>
        </p:spPr>
        <p:txBody>
          <a:bodyPr/>
          <a:lstStyle/>
          <a:p>
            <a:pPr>
              <a:buFont typeface="Arial" pitchFamily="34" charset="0"/>
              <a:buChar char="•"/>
            </a:pPr>
            <a:endParaRPr lang="en-US" sz="1900" dirty="0"/>
          </a:p>
          <a:p>
            <a:pPr>
              <a:buFont typeface="Arial" pitchFamily="34" charset="0"/>
              <a:buChar char="•"/>
            </a:pPr>
            <a:r>
              <a:rPr lang="en-US" sz="1900" dirty="0"/>
              <a:t>A report that combines data from more than one Subject Area. Such a query would be referred to as a Cross Subject Area query in this document. </a:t>
            </a:r>
          </a:p>
          <a:p>
            <a:pPr>
              <a:buFont typeface="Arial" pitchFamily="34" charset="0"/>
              <a:buChar char="•"/>
            </a:pPr>
            <a:r>
              <a:rPr lang="en-US" sz="1900" dirty="0"/>
              <a:t>Multiple subject areas are joined in report using conformed dimensions. The dimensions common to both subject areas are called as conformed dimensions.</a:t>
            </a:r>
          </a:p>
        </p:txBody>
      </p:sp>
      <p:sp>
        <p:nvSpPr>
          <p:cNvPr id="4" name="Text Placeholder 3"/>
          <p:cNvSpPr>
            <a:spLocks noGrp="1"/>
          </p:cNvSpPr>
          <p:nvPr>
            <p:ph type="body" sz="quarter" idx="13"/>
          </p:nvPr>
        </p:nvSpPr>
        <p:spPr/>
        <p:txBody>
          <a:bodyPr/>
          <a:lstStyle/>
          <a:p>
            <a:r>
              <a:rPr lang="en-US" dirty="0"/>
              <a:t>Cross-Subject Area Reports</a:t>
            </a:r>
          </a:p>
        </p:txBody>
      </p:sp>
      <p:pic>
        <p:nvPicPr>
          <p:cNvPr id="14" name="Picture 9"/>
          <p:cNvPicPr>
            <a:picLocks noChangeAspect="1" noChangeArrowheads="1"/>
          </p:cNvPicPr>
          <p:nvPr/>
        </p:nvPicPr>
        <p:blipFill>
          <a:blip r:embed="rId2" cstate="print"/>
          <a:srcRect/>
          <a:stretch>
            <a:fillRect/>
          </a:stretch>
        </p:blipFill>
        <p:spPr bwMode="auto">
          <a:xfrm>
            <a:off x="6805427" y="2819400"/>
            <a:ext cx="5180251" cy="3149600"/>
          </a:xfrm>
          <a:prstGeom prst="rect">
            <a:avLst/>
          </a:prstGeom>
          <a:noFill/>
          <a:ln w="9525">
            <a:noFill/>
            <a:miter lim="800000"/>
            <a:headEnd/>
            <a:tailEnd/>
          </a:ln>
        </p:spPr>
      </p:pic>
      <p:graphicFrame>
        <p:nvGraphicFramePr>
          <p:cNvPr id="3" name="Object 2"/>
          <p:cNvGraphicFramePr>
            <a:graphicFrameLocks noChangeAspect="1"/>
          </p:cNvGraphicFramePr>
          <p:nvPr>
            <p:extLst>
              <p:ext uri="{D42A27DB-BD31-4B8C-83A1-F6EECF244321}">
                <p14:modId xmlns:p14="http://schemas.microsoft.com/office/powerpoint/2010/main" val="2210148204"/>
              </p:ext>
            </p:extLst>
          </p:nvPr>
        </p:nvGraphicFramePr>
        <p:xfrm>
          <a:off x="2151805" y="4108532"/>
          <a:ext cx="1219200" cy="1028700"/>
        </p:xfrm>
        <a:graphic>
          <a:graphicData uri="http://schemas.openxmlformats.org/presentationml/2006/ole">
            <mc:AlternateContent xmlns:mc="http://schemas.openxmlformats.org/markup-compatibility/2006">
              <mc:Choice xmlns:v="urn:schemas-microsoft-com:vml" Requires="v">
                <p:oleObj name="Acrobat Document" showAsIcon="1" r:id="rId3" imgW="914400" imgH="771480" progId="AcroExch.Document.DC">
                  <p:embed/>
                </p:oleObj>
              </mc:Choice>
              <mc:Fallback>
                <p:oleObj name="Acrobat Document" showAsIcon="1" r:id="rId3" imgW="914400" imgH="771480" progId="AcroExch.Document.DC">
                  <p:embed/>
                  <p:pic>
                    <p:nvPicPr>
                      <p:cNvPr id="3" name="Object 2"/>
                      <p:cNvPicPr>
                        <a:picLocks noChangeAspect="1" noChangeArrowheads="1"/>
                      </p:cNvPicPr>
                      <p:nvPr/>
                    </p:nvPicPr>
                    <p:blipFill>
                      <a:blip r:embed="rId4"/>
                      <a:srcRect/>
                      <a:stretch>
                        <a:fillRect/>
                      </a:stretch>
                    </p:blipFill>
                    <p:spPr bwMode="auto">
                      <a:xfrm>
                        <a:off x="2151805" y="4108532"/>
                        <a:ext cx="12192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5">
            <a:extLst>
              <a:ext uri="{FF2B5EF4-FFF2-40B4-BE49-F238E27FC236}">
                <a16:creationId xmlns:a16="http://schemas.microsoft.com/office/drawing/2014/main" id="{E46DB8F5-9D92-40DD-B55C-5A8AB35EF0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665" y="29017"/>
            <a:ext cx="1895740" cy="314369"/>
          </a:xfrm>
          <a:prstGeom prst="rect">
            <a:avLst/>
          </a:prstGeom>
        </p:spPr>
      </p:pic>
      <p:pic>
        <p:nvPicPr>
          <p:cNvPr id="8" name="Picture 7">
            <a:extLst>
              <a:ext uri="{FF2B5EF4-FFF2-40B4-BE49-F238E27FC236}">
                <a16:creationId xmlns:a16="http://schemas.microsoft.com/office/drawing/2014/main" id="{D05D636A-D5AC-42FD-A51F-6A4A735BDF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5552" y="21017"/>
            <a:ext cx="1562318" cy="314369"/>
          </a:xfrm>
          <a:prstGeom prst="rect">
            <a:avLst/>
          </a:prstGeom>
        </p:spPr>
      </p:pic>
    </p:spTree>
    <p:extLst>
      <p:ext uri="{BB962C8B-B14F-4D97-AF65-F5344CB8AC3E}">
        <p14:creationId xmlns:p14="http://schemas.microsoft.com/office/powerpoint/2010/main" val="2271629319"/>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182" y="357841"/>
            <a:ext cx="10969943" cy="511404"/>
          </a:xfrm>
        </p:spPr>
        <p:txBody>
          <a:bodyPr>
            <a:normAutofit fontScale="90000"/>
          </a:bodyPr>
          <a:lstStyle/>
          <a:p>
            <a:r>
              <a:rPr lang="en-US" dirty="0"/>
              <a:t>Cross Subject Area</a:t>
            </a:r>
          </a:p>
        </p:txBody>
      </p:sp>
      <p:sp>
        <p:nvSpPr>
          <p:cNvPr id="3" name="Content Placeholder 2"/>
          <p:cNvSpPr>
            <a:spLocks noGrp="1"/>
          </p:cNvSpPr>
          <p:nvPr>
            <p:ph sz="quarter" idx="12"/>
          </p:nvPr>
        </p:nvSpPr>
        <p:spPr>
          <a:xfrm>
            <a:off x="953430" y="1554455"/>
            <a:ext cx="10969943" cy="4083475"/>
          </a:xfrm>
        </p:spPr>
        <p:txBody>
          <a:bodyPr>
            <a:normAutofit/>
          </a:bodyPr>
          <a:lstStyle/>
          <a:p>
            <a:r>
              <a:rPr lang="en-US" sz="2400" dirty="0"/>
              <a:t>Cross Subject Area report on Worker Assignments and Assignment Events to fetch a count of Assignments, and # of hire and promotion events for a worker.</a:t>
            </a:r>
          </a:p>
          <a:p>
            <a:r>
              <a:rPr lang="en-US" sz="2400" dirty="0"/>
              <a:t>Subject area 1: Workforce Management - Worker Assignment Real Time</a:t>
            </a:r>
          </a:p>
          <a:p>
            <a:r>
              <a:rPr lang="en-US" sz="2400" dirty="0"/>
              <a:t>Subject area 2: Workforce Management – Worker Assignment Events Real Time</a:t>
            </a:r>
          </a:p>
          <a:p>
            <a:r>
              <a:rPr lang="en-US" sz="2400" dirty="0"/>
              <a:t>Common Dimension: Worker</a:t>
            </a:r>
          </a:p>
          <a:p>
            <a:r>
              <a:rPr lang="en-US" sz="2400" dirty="0"/>
              <a:t>Metrics (measures): Assignment Count comes from first subject area and # of Hires and Promotions from the second subject area.</a:t>
            </a:r>
          </a:p>
        </p:txBody>
      </p:sp>
      <p:sp>
        <p:nvSpPr>
          <p:cNvPr id="4" name="Text Placeholder 3"/>
          <p:cNvSpPr>
            <a:spLocks noGrp="1"/>
          </p:cNvSpPr>
          <p:nvPr>
            <p:ph type="body" sz="quarter" idx="13"/>
          </p:nvPr>
        </p:nvSpPr>
        <p:spPr/>
        <p:txBody>
          <a:bodyPr/>
          <a:lstStyle/>
          <a:p>
            <a:r>
              <a:rPr lang="en-US" b="1" dirty="0"/>
              <a:t>Report 1. </a:t>
            </a:r>
            <a:endParaRPr lang="en-US" dirty="0"/>
          </a:p>
        </p:txBody>
      </p:sp>
      <p:pic>
        <p:nvPicPr>
          <p:cNvPr id="6" name="Picture 5">
            <a:extLst>
              <a:ext uri="{FF2B5EF4-FFF2-40B4-BE49-F238E27FC236}">
                <a16:creationId xmlns:a16="http://schemas.microsoft.com/office/drawing/2014/main" id="{CD0736E1-FC69-4553-BD66-A90AFDAD05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484" y="13016"/>
            <a:ext cx="1895740" cy="314369"/>
          </a:xfrm>
          <a:prstGeom prst="rect">
            <a:avLst/>
          </a:prstGeom>
        </p:spPr>
      </p:pic>
      <p:pic>
        <p:nvPicPr>
          <p:cNvPr id="8" name="Picture 7">
            <a:extLst>
              <a:ext uri="{FF2B5EF4-FFF2-40B4-BE49-F238E27FC236}">
                <a16:creationId xmlns:a16="http://schemas.microsoft.com/office/drawing/2014/main" id="{B3A3B982-9A52-4528-B845-9CF53928C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3715" y="43472"/>
            <a:ext cx="1562318" cy="314369"/>
          </a:xfrm>
          <a:prstGeom prst="rect">
            <a:avLst/>
          </a:prstGeom>
        </p:spPr>
      </p:pic>
    </p:spTree>
    <p:extLst>
      <p:ext uri="{BB962C8B-B14F-4D97-AF65-F5344CB8AC3E}">
        <p14:creationId xmlns:p14="http://schemas.microsoft.com/office/powerpoint/2010/main" val="3708262994"/>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 Subject Area</a:t>
            </a:r>
          </a:p>
        </p:txBody>
      </p:sp>
      <p:sp>
        <p:nvSpPr>
          <p:cNvPr id="3" name="Content Placeholder 2"/>
          <p:cNvSpPr>
            <a:spLocks noGrp="1"/>
          </p:cNvSpPr>
          <p:nvPr>
            <p:ph sz="quarter" idx="12"/>
          </p:nvPr>
        </p:nvSpPr>
        <p:spPr>
          <a:xfrm>
            <a:off x="929680" y="1459451"/>
            <a:ext cx="10969943" cy="4083475"/>
          </a:xfrm>
        </p:spPr>
        <p:txBody>
          <a:bodyPr/>
          <a:lstStyle/>
          <a:p>
            <a:pPr marL="0" indent="0">
              <a:buNone/>
            </a:pPr>
            <a:r>
              <a:rPr lang="en-US" sz="1400" dirty="0"/>
              <a:t>SELECT</a:t>
            </a:r>
          </a:p>
          <a:p>
            <a:pPr marL="0" indent="0">
              <a:buNone/>
            </a:pPr>
            <a:r>
              <a:rPr lang="en-US" sz="1400" dirty="0"/>
              <a:t>0 s_0,</a:t>
            </a:r>
          </a:p>
          <a:p>
            <a:pPr marL="0" indent="0">
              <a:buNone/>
            </a:pPr>
            <a:r>
              <a:rPr lang="en-US" sz="1400" dirty="0"/>
              <a:t>"Workforce Management - Worker Assignment Real </a:t>
            </a:r>
            <a:r>
              <a:rPr lang="en-US" sz="1400" dirty="0" err="1"/>
              <a:t>Time"."Worker"."Employee</a:t>
            </a:r>
            <a:r>
              <a:rPr lang="en-US" sz="1400" dirty="0"/>
              <a:t> First Name" s_1,</a:t>
            </a:r>
          </a:p>
          <a:p>
            <a:pPr marL="0" indent="0">
              <a:buNone/>
            </a:pPr>
            <a:r>
              <a:rPr lang="en-US" sz="1400" dirty="0"/>
              <a:t>"Workforce Management - Worker Assignment Real </a:t>
            </a:r>
            <a:r>
              <a:rPr lang="en-US" sz="1400" dirty="0" err="1"/>
              <a:t>Time"."Worker"."Employee</a:t>
            </a:r>
            <a:r>
              <a:rPr lang="en-US" sz="1400" dirty="0"/>
              <a:t> Last Name" s_2,</a:t>
            </a:r>
          </a:p>
          <a:p>
            <a:pPr marL="0" indent="0">
              <a:buNone/>
            </a:pPr>
            <a:r>
              <a:rPr lang="en-US" sz="1400" dirty="0"/>
              <a:t>"Workforce Management - Worker Assignment Event Real </a:t>
            </a:r>
            <a:r>
              <a:rPr lang="en-US" sz="1400" dirty="0" err="1"/>
              <a:t>Time"."Assignment</a:t>
            </a:r>
            <a:r>
              <a:rPr lang="en-US" sz="1400" dirty="0"/>
              <a:t> Event"."# Of Hires" s_3,</a:t>
            </a:r>
          </a:p>
          <a:p>
            <a:pPr marL="0" indent="0">
              <a:buNone/>
            </a:pPr>
            <a:r>
              <a:rPr lang="en-US" sz="1400" dirty="0"/>
              <a:t>"Workforce Management - Worker Assignment Event Real </a:t>
            </a:r>
            <a:r>
              <a:rPr lang="en-US" sz="1400" dirty="0" err="1"/>
              <a:t>Time"."Assignment</a:t>
            </a:r>
            <a:r>
              <a:rPr lang="en-US" sz="1400" dirty="0"/>
              <a:t> Event"."# Of Promotions" s_4,</a:t>
            </a:r>
          </a:p>
          <a:p>
            <a:pPr marL="0" indent="0">
              <a:buNone/>
            </a:pPr>
            <a:r>
              <a:rPr lang="en-US" sz="1400" dirty="0"/>
              <a:t>"Workforce Management - Worker Assignment Real </a:t>
            </a:r>
            <a:r>
              <a:rPr lang="en-US" sz="1400" dirty="0" err="1"/>
              <a:t>Time"."Worker</a:t>
            </a:r>
            <a:r>
              <a:rPr lang="en-US" sz="1400" dirty="0"/>
              <a:t> </a:t>
            </a:r>
            <a:r>
              <a:rPr lang="en-US" sz="1400" dirty="0" err="1"/>
              <a:t>Assignment"."Assignment</a:t>
            </a:r>
            <a:r>
              <a:rPr lang="en-US" sz="1400" dirty="0"/>
              <a:t> Count" s_5</a:t>
            </a:r>
          </a:p>
          <a:p>
            <a:pPr marL="0" indent="0">
              <a:buNone/>
            </a:pPr>
            <a:r>
              <a:rPr lang="en-US" sz="1400" dirty="0"/>
              <a:t>FROM "Workforce Management - Worker Assignment Real Time"</a:t>
            </a:r>
          </a:p>
          <a:p>
            <a:pPr marL="0" indent="0">
              <a:buNone/>
            </a:pPr>
            <a:r>
              <a:rPr lang="en-US" sz="1400" dirty="0"/>
              <a:t>WHERE</a:t>
            </a:r>
          </a:p>
          <a:p>
            <a:pPr marL="0" indent="0">
              <a:buNone/>
            </a:pPr>
            <a:r>
              <a:rPr lang="en-US" sz="1400" dirty="0"/>
              <a:t>(("</a:t>
            </a:r>
            <a:r>
              <a:rPr lang="en-US" sz="1400" dirty="0" err="1"/>
              <a:t>Worker"."Employee</a:t>
            </a:r>
            <a:r>
              <a:rPr lang="en-US" sz="1400" dirty="0"/>
              <a:t> First Name" = 'George') AND ("</a:t>
            </a:r>
            <a:r>
              <a:rPr lang="en-US" sz="1400" dirty="0" err="1"/>
              <a:t>Worker"."Employee</a:t>
            </a:r>
            <a:r>
              <a:rPr lang="en-US" sz="1400" dirty="0"/>
              <a:t> Last Name" = '</a:t>
            </a:r>
            <a:r>
              <a:rPr lang="en-US" sz="1400" dirty="0" err="1"/>
              <a:t>Weasley</a:t>
            </a:r>
            <a:r>
              <a:rPr lang="en-US" sz="1400" dirty="0"/>
              <a:t>'))</a:t>
            </a:r>
          </a:p>
          <a:p>
            <a:pPr marL="0" indent="0">
              <a:buNone/>
            </a:pPr>
            <a:r>
              <a:rPr lang="en-US" sz="1400" dirty="0"/>
              <a:t>ORDER BY 1, 2 ASC NULLS LAST, 3 ASC NULLS LAST</a:t>
            </a:r>
          </a:p>
          <a:p>
            <a:pPr marL="0" indent="0">
              <a:buNone/>
            </a:pPr>
            <a:r>
              <a:rPr lang="en-US" sz="1400" dirty="0"/>
              <a:t>FETCH FIRST 65001 ROWS ONLY</a:t>
            </a:r>
          </a:p>
        </p:txBody>
      </p:sp>
      <p:sp>
        <p:nvSpPr>
          <p:cNvPr id="4" name="Text Placeholder 3"/>
          <p:cNvSpPr>
            <a:spLocks noGrp="1"/>
          </p:cNvSpPr>
          <p:nvPr>
            <p:ph type="body" sz="quarter" idx="13"/>
          </p:nvPr>
        </p:nvSpPr>
        <p:spPr/>
        <p:txBody>
          <a:bodyPr/>
          <a:lstStyle/>
          <a:p>
            <a:r>
              <a:rPr lang="en-US" dirty="0"/>
              <a:t>Query</a:t>
            </a:r>
          </a:p>
        </p:txBody>
      </p:sp>
      <p:pic>
        <p:nvPicPr>
          <p:cNvPr id="6" name="Picture 5">
            <a:extLst>
              <a:ext uri="{FF2B5EF4-FFF2-40B4-BE49-F238E27FC236}">
                <a16:creationId xmlns:a16="http://schemas.microsoft.com/office/drawing/2014/main" id="{20964631-A614-4E3D-AC73-421631C69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606" y="-18563"/>
            <a:ext cx="1895740" cy="314369"/>
          </a:xfrm>
          <a:prstGeom prst="rect">
            <a:avLst/>
          </a:prstGeom>
        </p:spPr>
      </p:pic>
      <p:pic>
        <p:nvPicPr>
          <p:cNvPr id="8" name="Picture 7">
            <a:extLst>
              <a:ext uri="{FF2B5EF4-FFF2-40B4-BE49-F238E27FC236}">
                <a16:creationId xmlns:a16="http://schemas.microsoft.com/office/drawing/2014/main" id="{DA6E39F8-24FF-4D63-9F80-58F03199C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9327" y="24113"/>
            <a:ext cx="1562318" cy="314369"/>
          </a:xfrm>
          <a:prstGeom prst="rect">
            <a:avLst/>
          </a:prstGeom>
        </p:spPr>
      </p:pic>
    </p:spTree>
    <p:extLst>
      <p:ext uri="{BB962C8B-B14F-4D97-AF65-F5344CB8AC3E}">
        <p14:creationId xmlns:p14="http://schemas.microsoft.com/office/powerpoint/2010/main" val="4249639054"/>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72164" y="399495"/>
            <a:ext cx="10969943" cy="469750"/>
          </a:xfrm>
        </p:spPr>
        <p:txBody>
          <a:bodyPr>
            <a:normAutofit fontScale="90000"/>
          </a:bodyPr>
          <a:lstStyle/>
          <a:p>
            <a:r>
              <a:rPr lang="en-US" dirty="0"/>
              <a:t>Cross Subject Area</a:t>
            </a:r>
          </a:p>
        </p:txBody>
      </p:sp>
      <p:pic>
        <p:nvPicPr>
          <p:cNvPr id="9218" name="Picture 2"/>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rcRect/>
          <a:stretch>
            <a:fillRect/>
          </a:stretch>
        </p:blipFill>
        <p:spPr bwMode="auto">
          <a:xfrm>
            <a:off x="1464634" y="1955665"/>
            <a:ext cx="7513284" cy="2438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3"/>
          <p:cNvSpPr>
            <a:spLocks noGrp="1"/>
          </p:cNvSpPr>
          <p:nvPr>
            <p:ph type="body" sz="quarter" idx="13"/>
          </p:nvPr>
        </p:nvSpPr>
        <p:spPr/>
        <p:txBody>
          <a:bodyPr/>
          <a:lstStyle/>
          <a:p>
            <a:r>
              <a:rPr lang="en-US" dirty="0"/>
              <a:t>Result</a:t>
            </a:r>
          </a:p>
        </p:txBody>
      </p:sp>
      <p:pic>
        <p:nvPicPr>
          <p:cNvPr id="3" name="Picture 2">
            <a:extLst>
              <a:ext uri="{FF2B5EF4-FFF2-40B4-BE49-F238E27FC236}">
                <a16:creationId xmlns:a16="http://schemas.microsoft.com/office/drawing/2014/main" id="{75D175E3-F021-4496-9186-49AAA0615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62" y="22126"/>
            <a:ext cx="1895740" cy="314369"/>
          </a:xfrm>
          <a:prstGeom prst="rect">
            <a:avLst/>
          </a:prstGeom>
        </p:spPr>
      </p:pic>
      <p:pic>
        <p:nvPicPr>
          <p:cNvPr id="7" name="Picture 6">
            <a:extLst>
              <a:ext uri="{FF2B5EF4-FFF2-40B4-BE49-F238E27FC236}">
                <a16:creationId xmlns:a16="http://schemas.microsoft.com/office/drawing/2014/main" id="{F62C9CBB-E9E7-4EFC-9688-6374499F7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225" y="22126"/>
            <a:ext cx="1562318" cy="314369"/>
          </a:xfrm>
          <a:prstGeom prst="rect">
            <a:avLst/>
          </a:prstGeom>
        </p:spPr>
      </p:pic>
    </p:spTree>
    <p:extLst>
      <p:ext uri="{BB962C8B-B14F-4D97-AF65-F5344CB8AC3E}">
        <p14:creationId xmlns:p14="http://schemas.microsoft.com/office/powerpoint/2010/main" val="492266456"/>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Cross Subject Area</a:t>
            </a:r>
          </a:p>
        </p:txBody>
      </p:sp>
      <p:sp>
        <p:nvSpPr>
          <p:cNvPr id="3" name="Content Placeholder 2"/>
          <p:cNvSpPr>
            <a:spLocks noGrp="1"/>
          </p:cNvSpPr>
          <p:nvPr>
            <p:ph sz="quarter" idx="12"/>
          </p:nvPr>
        </p:nvSpPr>
        <p:spPr>
          <a:xfrm>
            <a:off x="953430" y="1554455"/>
            <a:ext cx="10969943" cy="4083475"/>
          </a:xfrm>
        </p:spPr>
        <p:txBody>
          <a:bodyPr>
            <a:normAutofit/>
          </a:bodyPr>
          <a:lstStyle/>
          <a:p>
            <a:r>
              <a:rPr lang="en-US" sz="2400" dirty="0"/>
              <a:t>Cross Subject Area query to fetch worker assignment and salary information. </a:t>
            </a:r>
          </a:p>
          <a:p>
            <a:r>
              <a:rPr lang="en-US" sz="2400" dirty="0"/>
              <a:t>Subject area 1: Workforce Management - Worker Assignment Real Time </a:t>
            </a:r>
          </a:p>
          <a:p>
            <a:r>
              <a:rPr lang="en-US" sz="2400" dirty="0"/>
              <a:t>Subject area 2: Workforce Compensation - Salary Details Real Time </a:t>
            </a:r>
          </a:p>
          <a:p>
            <a:r>
              <a:rPr lang="en-US" sz="2400" dirty="0"/>
              <a:t>Common Dimensions: Worker, Grade, and Location </a:t>
            </a:r>
          </a:p>
          <a:p>
            <a:r>
              <a:rPr lang="en-US" sz="2400" dirty="0"/>
              <a:t>Metrics: </a:t>
            </a:r>
          </a:p>
          <a:p>
            <a:r>
              <a:rPr lang="en-US" sz="2400" dirty="0"/>
              <a:t>“Worker Assignment Real Time” subject area: Headcount </a:t>
            </a:r>
          </a:p>
          <a:p>
            <a:r>
              <a:rPr lang="en-US" sz="2400" dirty="0"/>
              <a:t>“Salary Details Real Time” subject area: Current Salary, Annualized Salary, Previous Salary, Days Since Last Salary Change. </a:t>
            </a:r>
          </a:p>
        </p:txBody>
      </p:sp>
      <p:sp>
        <p:nvSpPr>
          <p:cNvPr id="4" name="Text Placeholder 3"/>
          <p:cNvSpPr>
            <a:spLocks noGrp="1"/>
          </p:cNvSpPr>
          <p:nvPr>
            <p:ph type="body" sz="quarter" idx="13"/>
          </p:nvPr>
        </p:nvSpPr>
        <p:spPr/>
        <p:txBody>
          <a:bodyPr/>
          <a:lstStyle/>
          <a:p>
            <a:r>
              <a:rPr lang="en-US" b="1" dirty="0"/>
              <a:t>Report 2. </a:t>
            </a:r>
            <a:endParaRPr lang="en-US" dirty="0"/>
          </a:p>
        </p:txBody>
      </p:sp>
      <p:pic>
        <p:nvPicPr>
          <p:cNvPr id="6" name="Picture 5">
            <a:extLst>
              <a:ext uri="{FF2B5EF4-FFF2-40B4-BE49-F238E27FC236}">
                <a16:creationId xmlns:a16="http://schemas.microsoft.com/office/drawing/2014/main" id="{1643FE2B-F64C-4AF8-8D5A-9334FC99D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606" y="3903"/>
            <a:ext cx="1895740" cy="314369"/>
          </a:xfrm>
          <a:prstGeom prst="rect">
            <a:avLst/>
          </a:prstGeom>
        </p:spPr>
      </p:pic>
      <p:pic>
        <p:nvPicPr>
          <p:cNvPr id="8" name="Picture 7">
            <a:extLst>
              <a:ext uri="{FF2B5EF4-FFF2-40B4-BE49-F238E27FC236}">
                <a16:creationId xmlns:a16="http://schemas.microsoft.com/office/drawing/2014/main" id="{7736FB7E-0CC4-41F9-AF0A-E9AC2F8FC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3715" y="0"/>
            <a:ext cx="1562318" cy="314369"/>
          </a:xfrm>
          <a:prstGeom prst="rect">
            <a:avLst/>
          </a:prstGeom>
        </p:spPr>
      </p:pic>
    </p:spTree>
    <p:extLst>
      <p:ext uri="{BB962C8B-B14F-4D97-AF65-F5344CB8AC3E}">
        <p14:creationId xmlns:p14="http://schemas.microsoft.com/office/powerpoint/2010/main" val="3390905739"/>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183" y="409269"/>
            <a:ext cx="10832772" cy="459975"/>
          </a:xfrm>
        </p:spPr>
        <p:txBody>
          <a:bodyPr>
            <a:normAutofit fontScale="90000"/>
          </a:bodyPr>
          <a:lstStyle/>
          <a:p>
            <a:r>
              <a:rPr lang="en-US" dirty="0"/>
              <a:t>Cross Subject Area</a:t>
            </a:r>
          </a:p>
        </p:txBody>
      </p:sp>
      <p:sp>
        <p:nvSpPr>
          <p:cNvPr id="3" name="Content Placeholder 2"/>
          <p:cNvSpPr>
            <a:spLocks noGrp="1"/>
          </p:cNvSpPr>
          <p:nvPr>
            <p:ph sz="quarter" idx="12"/>
          </p:nvPr>
        </p:nvSpPr>
        <p:spPr>
          <a:xfrm>
            <a:off x="2627852" y="1352573"/>
            <a:ext cx="10969943" cy="4083475"/>
          </a:xfrm>
        </p:spPr>
        <p:txBody>
          <a:bodyPr>
            <a:normAutofit fontScale="85000" lnSpcReduction="20000"/>
          </a:bodyPr>
          <a:lstStyle/>
          <a:p>
            <a:pPr marL="0" indent="0">
              <a:buNone/>
            </a:pPr>
            <a:r>
              <a:rPr lang="en-US" sz="1400" dirty="0"/>
              <a:t>SELECT </a:t>
            </a:r>
          </a:p>
          <a:p>
            <a:pPr marL="0" indent="0">
              <a:buNone/>
            </a:pPr>
            <a:r>
              <a:rPr lang="en-US" sz="1400" dirty="0"/>
              <a:t>0 s_0,</a:t>
            </a:r>
          </a:p>
          <a:p>
            <a:pPr marL="0" indent="0">
              <a:buNone/>
            </a:pPr>
            <a:r>
              <a:rPr lang="en-US" sz="1400" dirty="0"/>
              <a:t>"Compensation - Salary Details Real </a:t>
            </a:r>
            <a:r>
              <a:rPr lang="en-US" sz="1400" dirty="0" err="1"/>
              <a:t>Time"."HR</a:t>
            </a:r>
            <a:r>
              <a:rPr lang="en-US" sz="1400" dirty="0"/>
              <a:t> </a:t>
            </a:r>
            <a:r>
              <a:rPr lang="en-US" sz="1400" dirty="0" err="1"/>
              <a:t>Grade"."Grade</a:t>
            </a:r>
            <a:r>
              <a:rPr lang="en-US" sz="1400" dirty="0"/>
              <a:t> Name" s_1,</a:t>
            </a:r>
          </a:p>
          <a:p>
            <a:pPr marL="0" indent="0">
              <a:buNone/>
            </a:pPr>
            <a:r>
              <a:rPr lang="en-US" sz="1400" dirty="0"/>
              <a:t>"Compensation - Salary Details Real </a:t>
            </a:r>
            <a:r>
              <a:rPr lang="en-US" sz="1400" dirty="0" err="1"/>
              <a:t>Time"."Worker</a:t>
            </a:r>
            <a:r>
              <a:rPr lang="en-US" sz="1400" dirty="0"/>
              <a:t> </a:t>
            </a:r>
            <a:r>
              <a:rPr lang="en-US" sz="1400" dirty="0" err="1"/>
              <a:t>Location"."Worker</a:t>
            </a:r>
            <a:r>
              <a:rPr lang="en-US" sz="1400" dirty="0"/>
              <a:t> Location Name" s_2,</a:t>
            </a:r>
          </a:p>
          <a:p>
            <a:pPr marL="0" indent="0">
              <a:buNone/>
            </a:pPr>
            <a:r>
              <a:rPr lang="en-US" sz="1400" dirty="0"/>
              <a:t>"Compensation - Salary Details Real </a:t>
            </a:r>
            <a:r>
              <a:rPr lang="en-US" sz="1400" dirty="0" err="1"/>
              <a:t>Time"."Worker"."Employee</a:t>
            </a:r>
            <a:r>
              <a:rPr lang="en-US" sz="1400" dirty="0"/>
              <a:t> Full Name" s_3,</a:t>
            </a:r>
          </a:p>
          <a:p>
            <a:pPr marL="0" indent="0">
              <a:buNone/>
            </a:pPr>
            <a:r>
              <a:rPr lang="en-US" sz="1400" dirty="0"/>
              <a:t>"Workforce Management - Worker Assignment Real </a:t>
            </a:r>
            <a:r>
              <a:rPr lang="en-US" sz="1400" dirty="0" err="1"/>
              <a:t>Time"."Location"."Location</a:t>
            </a:r>
            <a:r>
              <a:rPr lang="en-US" sz="1400" dirty="0"/>
              <a:t> Address" s_4,</a:t>
            </a:r>
          </a:p>
          <a:p>
            <a:pPr marL="0" indent="0">
              <a:buNone/>
            </a:pPr>
            <a:r>
              <a:rPr lang="en-US" sz="1400" dirty="0"/>
              <a:t>"Compensation - Salary Details Real </a:t>
            </a:r>
            <a:r>
              <a:rPr lang="en-US" sz="1400" dirty="0" err="1"/>
              <a:t>Time"."Salary"."Annualized</a:t>
            </a:r>
            <a:r>
              <a:rPr lang="en-US" sz="1400" dirty="0"/>
              <a:t> Salary" s_5,</a:t>
            </a:r>
          </a:p>
          <a:p>
            <a:pPr marL="0" indent="0">
              <a:buNone/>
            </a:pPr>
            <a:r>
              <a:rPr lang="en-US" sz="1400" dirty="0"/>
              <a:t>"Compensation - Salary Details Real </a:t>
            </a:r>
            <a:r>
              <a:rPr lang="en-US" sz="1400" dirty="0" err="1"/>
              <a:t>Time"."Salary"."Current</a:t>
            </a:r>
            <a:r>
              <a:rPr lang="en-US" sz="1400" dirty="0"/>
              <a:t> Salary" s_6,</a:t>
            </a:r>
          </a:p>
          <a:p>
            <a:pPr marL="0" indent="0">
              <a:buNone/>
            </a:pPr>
            <a:r>
              <a:rPr lang="en-US" sz="1400" dirty="0"/>
              <a:t>"Compensation - Salary Details Real </a:t>
            </a:r>
            <a:r>
              <a:rPr lang="en-US" sz="1400" dirty="0" err="1"/>
              <a:t>Time"."Salary"."Days</a:t>
            </a:r>
            <a:r>
              <a:rPr lang="en-US" sz="1400" dirty="0"/>
              <a:t> Since Last Salary Change" s_7,</a:t>
            </a:r>
          </a:p>
          <a:p>
            <a:pPr marL="0" indent="0">
              <a:buNone/>
            </a:pPr>
            <a:r>
              <a:rPr lang="en-US" sz="1400" dirty="0"/>
              <a:t>"Compensation - Salary Details Real </a:t>
            </a:r>
            <a:r>
              <a:rPr lang="en-US" sz="1400" dirty="0" err="1"/>
              <a:t>Time"."Salary"."Previous</a:t>
            </a:r>
            <a:r>
              <a:rPr lang="en-US" sz="1400" dirty="0"/>
              <a:t> Salary" s_8,</a:t>
            </a:r>
          </a:p>
          <a:p>
            <a:pPr marL="0" indent="0">
              <a:buNone/>
            </a:pPr>
            <a:r>
              <a:rPr lang="en-US" sz="1400" dirty="0"/>
              <a:t>"Workforce Management - Worker Assignment Real </a:t>
            </a:r>
            <a:r>
              <a:rPr lang="en-US" sz="1400" dirty="0" err="1"/>
              <a:t>Time"."Worker</a:t>
            </a:r>
            <a:r>
              <a:rPr lang="en-US" sz="1400" dirty="0"/>
              <a:t> </a:t>
            </a:r>
            <a:r>
              <a:rPr lang="en-US" sz="1400" dirty="0" err="1"/>
              <a:t>Assignment"."Head</a:t>
            </a:r>
            <a:r>
              <a:rPr lang="en-US" sz="1400" dirty="0"/>
              <a:t> Count" s_9</a:t>
            </a:r>
          </a:p>
          <a:p>
            <a:pPr marL="0" indent="0">
              <a:buNone/>
            </a:pPr>
            <a:r>
              <a:rPr lang="en-US" sz="1400" dirty="0"/>
              <a:t>FROM "Compensation - Salary Details Real Time"</a:t>
            </a:r>
          </a:p>
          <a:p>
            <a:pPr marL="0" indent="0">
              <a:buNone/>
            </a:pPr>
            <a:r>
              <a:rPr lang="en-US" sz="1400" dirty="0"/>
              <a:t>WHERE</a:t>
            </a:r>
          </a:p>
          <a:p>
            <a:pPr marL="0" indent="0">
              <a:buNone/>
            </a:pPr>
            <a:r>
              <a:rPr lang="en-US" sz="1400" dirty="0"/>
              <a:t>("</a:t>
            </a:r>
            <a:r>
              <a:rPr lang="en-US" sz="1400" dirty="0" err="1"/>
              <a:t>Salary"."Current</a:t>
            </a:r>
            <a:r>
              <a:rPr lang="en-US" sz="1400" dirty="0"/>
              <a:t> Salary" IS NOT NULL)</a:t>
            </a:r>
          </a:p>
          <a:p>
            <a:pPr marL="0" indent="0">
              <a:buNone/>
            </a:pPr>
            <a:r>
              <a:rPr lang="en-US" sz="1400" dirty="0"/>
              <a:t>ORDER BY 1, 4 ASC NULLS LAST, 2 ASC NULLS LAST, 3 ASC NULLS LAST, 5 ASC NULLS LAST</a:t>
            </a:r>
          </a:p>
          <a:p>
            <a:pPr marL="0" indent="0">
              <a:buNone/>
            </a:pPr>
            <a:r>
              <a:rPr lang="en-US" sz="1400" dirty="0"/>
              <a:t>FETCH FIRST 65001 ROWS ONLY</a:t>
            </a:r>
          </a:p>
        </p:txBody>
      </p:sp>
      <p:sp>
        <p:nvSpPr>
          <p:cNvPr id="4" name="Text Placeholder 3"/>
          <p:cNvSpPr>
            <a:spLocks noGrp="1"/>
          </p:cNvSpPr>
          <p:nvPr>
            <p:ph type="body" sz="quarter" idx="13"/>
          </p:nvPr>
        </p:nvSpPr>
        <p:spPr/>
        <p:txBody>
          <a:bodyPr/>
          <a:lstStyle/>
          <a:p>
            <a:r>
              <a:rPr lang="en-US" dirty="0"/>
              <a:t>Query</a:t>
            </a:r>
          </a:p>
        </p:txBody>
      </p:sp>
      <p:pic>
        <p:nvPicPr>
          <p:cNvPr id="6" name="Picture 5">
            <a:extLst>
              <a:ext uri="{FF2B5EF4-FFF2-40B4-BE49-F238E27FC236}">
                <a16:creationId xmlns:a16="http://schemas.microsoft.com/office/drawing/2014/main" id="{5ECC22C3-DFF2-4DC9-83B7-AEC1E8ECB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117" y="13016"/>
            <a:ext cx="1895740" cy="314369"/>
          </a:xfrm>
          <a:prstGeom prst="rect">
            <a:avLst/>
          </a:prstGeom>
        </p:spPr>
      </p:pic>
      <p:pic>
        <p:nvPicPr>
          <p:cNvPr id="8" name="Picture 7">
            <a:extLst>
              <a:ext uri="{FF2B5EF4-FFF2-40B4-BE49-F238E27FC236}">
                <a16:creationId xmlns:a16="http://schemas.microsoft.com/office/drawing/2014/main" id="{E65B8EF6-0FA2-42DC-B19E-32DA6028B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8640" y="13016"/>
            <a:ext cx="1562318" cy="314369"/>
          </a:xfrm>
          <a:prstGeom prst="rect">
            <a:avLst/>
          </a:prstGeom>
        </p:spPr>
      </p:pic>
    </p:spTree>
    <p:extLst>
      <p:ext uri="{BB962C8B-B14F-4D97-AF65-F5344CB8AC3E}">
        <p14:creationId xmlns:p14="http://schemas.microsoft.com/office/powerpoint/2010/main" val="4273760183"/>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fontScale="90000"/>
          </a:bodyPr>
          <a:lstStyle/>
          <a:p>
            <a:r>
              <a:rPr lang="en-US" dirty="0"/>
              <a:t>Cross Subject Area</a:t>
            </a:r>
          </a:p>
        </p:txBody>
      </p:sp>
      <p:pic>
        <p:nvPicPr>
          <p:cNvPr id="10242" name="Picture 2"/>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rcRect/>
          <a:stretch>
            <a:fillRect/>
          </a:stretch>
        </p:blipFill>
        <p:spPr bwMode="auto">
          <a:xfrm>
            <a:off x="947067" y="1327634"/>
            <a:ext cx="10434185" cy="43725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3"/>
          <p:cNvSpPr>
            <a:spLocks noGrp="1"/>
          </p:cNvSpPr>
          <p:nvPr>
            <p:ph type="body" sz="quarter" idx="13"/>
          </p:nvPr>
        </p:nvSpPr>
        <p:spPr/>
        <p:txBody>
          <a:bodyPr/>
          <a:lstStyle/>
          <a:p>
            <a:r>
              <a:rPr lang="en-US" dirty="0"/>
              <a:t>Result</a:t>
            </a:r>
          </a:p>
        </p:txBody>
      </p:sp>
      <p:pic>
        <p:nvPicPr>
          <p:cNvPr id="3" name="Picture 2">
            <a:extLst>
              <a:ext uri="{FF2B5EF4-FFF2-40B4-BE49-F238E27FC236}">
                <a16:creationId xmlns:a16="http://schemas.microsoft.com/office/drawing/2014/main" id="{5E66C738-636E-4CCC-8372-9494CCA0B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29" y="0"/>
            <a:ext cx="1895740" cy="314369"/>
          </a:xfrm>
          <a:prstGeom prst="rect">
            <a:avLst/>
          </a:prstGeom>
        </p:spPr>
      </p:pic>
      <p:pic>
        <p:nvPicPr>
          <p:cNvPr id="7" name="Picture 6">
            <a:extLst>
              <a:ext uri="{FF2B5EF4-FFF2-40B4-BE49-F238E27FC236}">
                <a16:creationId xmlns:a16="http://schemas.microsoft.com/office/drawing/2014/main" id="{A0ED1A26-C556-478C-8401-B35A05C98E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5859" y="0"/>
            <a:ext cx="1562318" cy="314369"/>
          </a:xfrm>
          <a:prstGeom prst="rect">
            <a:avLst/>
          </a:prstGeom>
        </p:spPr>
      </p:pic>
    </p:spTree>
    <p:extLst>
      <p:ext uri="{BB962C8B-B14F-4D97-AF65-F5344CB8AC3E}">
        <p14:creationId xmlns:p14="http://schemas.microsoft.com/office/powerpoint/2010/main" val="4028464732"/>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Cross-Subject Area Reports</a:t>
            </a:r>
          </a:p>
        </p:txBody>
      </p:sp>
      <p:sp>
        <p:nvSpPr>
          <p:cNvPr id="13" name="Content Placeholder 8"/>
          <p:cNvSpPr>
            <a:spLocks noGrp="1"/>
          </p:cNvSpPr>
          <p:nvPr>
            <p:ph sz="quarter" idx="12"/>
          </p:nvPr>
        </p:nvSpPr>
        <p:spPr>
          <a:xfrm>
            <a:off x="711015" y="1295400"/>
            <a:ext cx="10157354" cy="4140200"/>
          </a:xfrm>
          <a:prstGeom prst="rect">
            <a:avLst/>
          </a:prstGeom>
        </p:spPr>
        <p:txBody>
          <a:bodyPr/>
          <a:lstStyle/>
          <a:p>
            <a:pPr>
              <a:buNone/>
            </a:pPr>
            <a:r>
              <a:rPr lang="en-US" sz="1900" dirty="0"/>
              <a:t>    </a:t>
            </a:r>
          </a:p>
        </p:txBody>
      </p:sp>
      <p:sp>
        <p:nvSpPr>
          <p:cNvPr id="4" name="Text Placeholder 3"/>
          <p:cNvSpPr>
            <a:spLocks noGrp="1"/>
          </p:cNvSpPr>
          <p:nvPr>
            <p:ph type="body" sz="quarter" idx="13"/>
          </p:nvPr>
        </p:nvSpPr>
        <p:spPr/>
        <p:txBody>
          <a:bodyPr/>
          <a:lstStyle/>
          <a:p>
            <a:r>
              <a:rPr lang="en-US" sz="2400" dirty="0"/>
              <a:t>Example</a:t>
            </a:r>
          </a:p>
        </p:txBody>
      </p:sp>
      <p:pic>
        <p:nvPicPr>
          <p:cNvPr id="11266" name="Picture 2"/>
          <p:cNvPicPr>
            <a:picLocks noChangeAspect="1" noChangeArrowheads="1"/>
          </p:cNvPicPr>
          <p:nvPr/>
        </p:nvPicPr>
        <p:blipFill>
          <a:blip r:embed="rId2" cstate="print"/>
          <a:srcRect/>
          <a:stretch>
            <a:fillRect/>
          </a:stretch>
        </p:blipFill>
        <p:spPr bwMode="auto">
          <a:xfrm>
            <a:off x="901466" y="1486810"/>
            <a:ext cx="6741944" cy="4355191"/>
          </a:xfrm>
          <a:prstGeom prst="rect">
            <a:avLst/>
          </a:prstGeom>
          <a:noFill/>
          <a:ln w="9525">
            <a:noFill/>
            <a:miter lim="800000"/>
            <a:headEnd/>
            <a:tailEnd/>
          </a:ln>
        </p:spPr>
      </p:pic>
      <p:pic>
        <p:nvPicPr>
          <p:cNvPr id="5" name="Picture 4">
            <a:extLst>
              <a:ext uri="{FF2B5EF4-FFF2-40B4-BE49-F238E27FC236}">
                <a16:creationId xmlns:a16="http://schemas.microsoft.com/office/drawing/2014/main" id="{EDD3FD40-B014-4CDF-AE03-5E23BE061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484" y="13016"/>
            <a:ext cx="1895740" cy="314369"/>
          </a:xfrm>
          <a:prstGeom prst="rect">
            <a:avLst/>
          </a:prstGeom>
        </p:spPr>
      </p:pic>
      <p:pic>
        <p:nvPicPr>
          <p:cNvPr id="7" name="Picture 6">
            <a:extLst>
              <a:ext uri="{FF2B5EF4-FFF2-40B4-BE49-F238E27FC236}">
                <a16:creationId xmlns:a16="http://schemas.microsoft.com/office/drawing/2014/main" id="{DDF80632-DDEC-4671-9D47-6A97A334E9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6051" y="5001"/>
            <a:ext cx="1562318" cy="314369"/>
          </a:xfrm>
          <a:prstGeom prst="rect">
            <a:avLst/>
          </a:prstGeom>
        </p:spPr>
      </p:pic>
    </p:spTree>
    <p:extLst>
      <p:ext uri="{BB962C8B-B14F-4D97-AF65-F5344CB8AC3E}">
        <p14:creationId xmlns:p14="http://schemas.microsoft.com/office/powerpoint/2010/main" val="1658875125"/>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Accessing Flexfield</a:t>
            </a:r>
            <a:endParaRPr lang="en-US" dirty="0"/>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pic>
        <p:nvPicPr>
          <p:cNvPr id="4" name="Picture 3">
            <a:extLst>
              <a:ext uri="{FF2B5EF4-FFF2-40B4-BE49-F238E27FC236}">
                <a16:creationId xmlns:a16="http://schemas.microsoft.com/office/drawing/2014/main" id="{AAF39261-7E2B-4E6E-ADB8-632D4FBEC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2" y="550416"/>
            <a:ext cx="2558627" cy="435005"/>
          </a:xfrm>
          <a:prstGeom prst="rect">
            <a:avLst/>
          </a:prstGeom>
        </p:spPr>
      </p:pic>
    </p:spTree>
    <p:extLst>
      <p:ext uri="{BB962C8B-B14F-4D97-AF65-F5344CB8AC3E}">
        <p14:creationId xmlns:p14="http://schemas.microsoft.com/office/powerpoint/2010/main" val="2488256875"/>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96484" y="0"/>
            <a:ext cx="9449029" cy="892530"/>
          </a:xfrm>
          <a:prstGeom prst="rect">
            <a:avLst/>
          </a:prstGeom>
        </p:spPr>
        <p:txBody>
          <a:bodyPr wrap="square" lIns="121899" tIns="60949" rIns="121899" bIns="60949">
            <a:spAutoFit/>
          </a:bodyPr>
          <a:lstStyle/>
          <a:p>
            <a:endParaRPr lang="en-US" dirty="0"/>
          </a:p>
          <a:p>
            <a:r>
              <a:rPr lang="en-US" sz="3200" b="1" dirty="0"/>
              <a:t>Accessing Flex fields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609441" y="1104900"/>
            <a:ext cx="10449377" cy="1651000"/>
          </a:xfrm>
          <a:prstGeom prst="rect">
            <a:avLst/>
          </a:prstGeom>
        </p:spPr>
        <p:txBody>
          <a:bodyPr/>
          <a:lstStyle/>
          <a:p>
            <a:pPr>
              <a:buNone/>
            </a:pPr>
            <a:r>
              <a:rPr lang="en-US" sz="1900" dirty="0"/>
              <a:t>To use descriptive flex fields with Transactional Business Intelligence: </a:t>
            </a:r>
          </a:p>
          <a:p>
            <a:r>
              <a:rPr lang="en-US" sz="1900" dirty="0"/>
              <a:t>Define flex field segments.</a:t>
            </a:r>
          </a:p>
          <a:p>
            <a:r>
              <a:rPr lang="en-US" sz="1900" dirty="0"/>
              <a:t>Run the Import Oracle Fusion Data Extensions for Transactional Business Intelligence process. </a:t>
            </a:r>
          </a:p>
          <a:p>
            <a:r>
              <a:rPr lang="en-US" sz="1900" dirty="0"/>
              <a:t>Create an analysis in Transactional Business Intelligence. </a:t>
            </a:r>
          </a:p>
          <a:p>
            <a:pPr>
              <a:buFontTx/>
              <a:buNone/>
            </a:pPr>
            <a:endParaRPr lang="en-US" sz="2100" dirty="0"/>
          </a:p>
        </p:txBody>
      </p:sp>
      <p:pic>
        <p:nvPicPr>
          <p:cNvPr id="3" name="Picture 2">
            <a:extLst>
              <a:ext uri="{FF2B5EF4-FFF2-40B4-BE49-F238E27FC236}">
                <a16:creationId xmlns:a16="http://schemas.microsoft.com/office/drawing/2014/main" id="{EB93539A-63F2-494F-BC79-C996AE29D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484" y="0"/>
            <a:ext cx="1895740" cy="314369"/>
          </a:xfrm>
          <a:prstGeom prst="rect">
            <a:avLst/>
          </a:prstGeom>
        </p:spPr>
      </p:pic>
      <p:pic>
        <p:nvPicPr>
          <p:cNvPr id="5" name="Picture 4">
            <a:extLst>
              <a:ext uri="{FF2B5EF4-FFF2-40B4-BE49-F238E27FC236}">
                <a16:creationId xmlns:a16="http://schemas.microsoft.com/office/drawing/2014/main" id="{008A9965-C2F1-4931-8E03-D54021F07B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226" y="0"/>
            <a:ext cx="1562318" cy="314369"/>
          </a:xfrm>
          <a:prstGeom prst="rect">
            <a:avLst/>
          </a:prstGeom>
        </p:spPr>
      </p:pic>
    </p:spTree>
    <p:extLst>
      <p:ext uri="{BB962C8B-B14F-4D97-AF65-F5344CB8AC3E}">
        <p14:creationId xmlns:p14="http://schemas.microsoft.com/office/powerpoint/2010/main" val="2242149673"/>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8769" y="12700"/>
            <a:ext cx="9116365" cy="892530"/>
          </a:xfrm>
          <a:prstGeom prst="rect">
            <a:avLst/>
          </a:prstGeom>
        </p:spPr>
        <p:txBody>
          <a:bodyPr wrap="square" lIns="121899" tIns="60949" rIns="121899" bIns="60949">
            <a:spAutoFit/>
          </a:bodyPr>
          <a:lstStyle/>
          <a:p>
            <a:endParaRPr lang="en-US" dirty="0"/>
          </a:p>
          <a:p>
            <a:r>
              <a:rPr lang="en-US" sz="3200" b="1" dirty="0"/>
              <a:t>Accessing Flex fields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431688" y="1104899"/>
            <a:ext cx="10627130" cy="1866900"/>
          </a:xfrm>
          <a:prstGeom prst="rect">
            <a:avLst/>
          </a:prstGeom>
        </p:spPr>
        <p:txBody>
          <a:bodyPr/>
          <a:lstStyle/>
          <a:p>
            <a:pPr>
              <a:buNone/>
            </a:pPr>
            <a:r>
              <a:rPr lang="en-US" sz="1900" dirty="0"/>
              <a:t>   Once the flex fields have been deployed, the process can be run from </a:t>
            </a:r>
          </a:p>
          <a:p>
            <a:pPr>
              <a:buNone/>
            </a:pPr>
            <a:r>
              <a:rPr lang="en-US" sz="1900" dirty="0"/>
              <a:t>   Navigation &gt; Tools &gt; Scheduled Processes</a:t>
            </a:r>
          </a:p>
          <a:p>
            <a:pPr>
              <a:buNone/>
            </a:pPr>
            <a:endParaRPr lang="en-US" sz="1900" dirty="0"/>
          </a:p>
          <a:p>
            <a:pPr>
              <a:buNone/>
            </a:pPr>
            <a:r>
              <a:rPr lang="en-US" sz="1900" dirty="0"/>
              <a:t>   Click on “Schedule Process” button and search for “</a:t>
            </a:r>
            <a:r>
              <a:rPr lang="en-US" sz="2100" dirty="0"/>
              <a:t>Import Oracle Fusion Data Extensions for Transactional Business Intelligence”</a:t>
            </a:r>
          </a:p>
        </p:txBody>
      </p:sp>
      <p:pic>
        <p:nvPicPr>
          <p:cNvPr id="6146" name="Picture 2"/>
          <p:cNvPicPr>
            <a:picLocks noChangeAspect="1" noChangeArrowheads="1"/>
          </p:cNvPicPr>
          <p:nvPr/>
        </p:nvPicPr>
        <p:blipFill>
          <a:blip r:embed="rId2" cstate="print"/>
          <a:srcRect/>
          <a:stretch>
            <a:fillRect/>
          </a:stretch>
        </p:blipFill>
        <p:spPr bwMode="auto">
          <a:xfrm>
            <a:off x="596746" y="3568700"/>
            <a:ext cx="11401629" cy="1473200"/>
          </a:xfrm>
          <a:prstGeom prst="rect">
            <a:avLst/>
          </a:prstGeom>
          <a:noFill/>
          <a:ln w="9525">
            <a:noFill/>
            <a:miter lim="800000"/>
            <a:headEnd/>
            <a:tailEnd/>
          </a:ln>
        </p:spPr>
      </p:pic>
      <p:pic>
        <p:nvPicPr>
          <p:cNvPr id="3" name="Picture 2">
            <a:extLst>
              <a:ext uri="{FF2B5EF4-FFF2-40B4-BE49-F238E27FC236}">
                <a16:creationId xmlns:a16="http://schemas.microsoft.com/office/drawing/2014/main" id="{6A80D8AF-D362-41A7-B3D8-FE9FA7B7A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28" y="0"/>
            <a:ext cx="1895740" cy="314369"/>
          </a:xfrm>
          <a:prstGeom prst="rect">
            <a:avLst/>
          </a:prstGeom>
        </p:spPr>
      </p:pic>
      <p:pic>
        <p:nvPicPr>
          <p:cNvPr id="5" name="Picture 4">
            <a:extLst>
              <a:ext uri="{FF2B5EF4-FFF2-40B4-BE49-F238E27FC236}">
                <a16:creationId xmlns:a16="http://schemas.microsoft.com/office/drawing/2014/main" id="{54D15719-4D52-42CE-B1FC-B1E9E2B59A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8104" y="12700"/>
            <a:ext cx="1562318" cy="314369"/>
          </a:xfrm>
          <a:prstGeom prst="rect">
            <a:avLst/>
          </a:prstGeom>
        </p:spPr>
      </p:pic>
    </p:spTree>
    <p:extLst>
      <p:ext uri="{BB962C8B-B14F-4D97-AF65-F5344CB8AC3E}">
        <p14:creationId xmlns:p14="http://schemas.microsoft.com/office/powerpoint/2010/main" val="818932591"/>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87606" y="62144"/>
            <a:ext cx="9457907" cy="892530"/>
          </a:xfrm>
          <a:prstGeom prst="rect">
            <a:avLst/>
          </a:prstGeom>
        </p:spPr>
        <p:txBody>
          <a:bodyPr wrap="square" lIns="121899" tIns="60949" rIns="121899" bIns="60949">
            <a:spAutoFit/>
          </a:bodyPr>
          <a:lstStyle/>
          <a:p>
            <a:endParaRPr lang="en-US" dirty="0"/>
          </a:p>
          <a:p>
            <a:r>
              <a:rPr lang="en-US" sz="3200" b="1" dirty="0"/>
              <a:t>Accessing Flex fields</a:t>
            </a:r>
            <a:endParaRPr lang="en-US" sz="2700" dirty="0"/>
          </a:p>
        </p:txBody>
      </p:sp>
      <p:sp>
        <p:nvSpPr>
          <p:cNvPr id="16" name="Content Placeholder 2"/>
          <p:cNvSpPr>
            <a:spLocks noGrp="1"/>
          </p:cNvSpPr>
          <p:nvPr>
            <p:ph sz="quarter" idx="12"/>
          </p:nvPr>
        </p:nvSpPr>
        <p:spPr>
          <a:xfrm>
            <a:off x="1028432" y="965200"/>
            <a:ext cx="10449377" cy="1651000"/>
          </a:xfrm>
          <a:prstGeom prst="rect">
            <a:avLst/>
          </a:prstGeom>
        </p:spPr>
        <p:txBody>
          <a:bodyPr/>
          <a:lstStyle/>
          <a:p>
            <a:pPr>
              <a:buFontTx/>
              <a:buNone/>
            </a:pPr>
            <a:endParaRPr lang="en-US" sz="2100" dirty="0"/>
          </a:p>
          <a:p>
            <a:pPr>
              <a:buFontTx/>
              <a:buNone/>
            </a:pPr>
            <a:endParaRPr lang="en-US" sz="2100" dirty="0"/>
          </a:p>
          <a:p>
            <a:pPr>
              <a:buFontTx/>
              <a:buNone/>
            </a:pPr>
            <a:endParaRPr lang="en-US" sz="2100" dirty="0"/>
          </a:p>
        </p:txBody>
      </p:sp>
      <p:sp>
        <p:nvSpPr>
          <p:cNvPr id="6" name="Content Placeholder 2"/>
          <p:cNvSpPr>
            <a:spLocks noGrp="1"/>
          </p:cNvSpPr>
          <p:nvPr>
            <p:ph type="body" sz="quarter" idx="13"/>
          </p:nvPr>
        </p:nvSpPr>
        <p:spPr>
          <a:xfrm>
            <a:off x="431688" y="1104899"/>
            <a:ext cx="10627130" cy="1866900"/>
          </a:xfrm>
          <a:prstGeom prst="rect">
            <a:avLst/>
          </a:prstGeom>
        </p:spPr>
        <p:txBody>
          <a:bodyPr/>
          <a:lstStyle/>
          <a:p>
            <a:pPr>
              <a:buNone/>
            </a:pPr>
            <a:r>
              <a:rPr lang="en-US" sz="1900" dirty="0"/>
              <a:t>    After you have successfully run the Import Oracle Fusion Data Extensions for Transactional Business Intelligence process, you can find and select the subject area that contains the </a:t>
            </a:r>
            <a:r>
              <a:rPr lang="en-US" sz="1900" dirty="0" err="1"/>
              <a:t>flexfield</a:t>
            </a:r>
            <a:r>
              <a:rPr lang="en-US" sz="1900" dirty="0"/>
              <a:t> that you deployed and imported.</a:t>
            </a:r>
          </a:p>
          <a:p>
            <a:pPr>
              <a:buNone/>
            </a:pPr>
            <a:r>
              <a:rPr lang="en-US" sz="1900" dirty="0"/>
              <a:t>   </a:t>
            </a:r>
            <a:endParaRPr lang="en-US" sz="2100" dirty="0"/>
          </a:p>
        </p:txBody>
      </p:sp>
      <p:pic>
        <p:nvPicPr>
          <p:cNvPr id="10242" name="Picture 2"/>
          <p:cNvPicPr>
            <a:picLocks noChangeAspect="1" noChangeArrowheads="1"/>
          </p:cNvPicPr>
          <p:nvPr/>
        </p:nvPicPr>
        <p:blipFill>
          <a:blip r:embed="rId2" cstate="print"/>
          <a:srcRect/>
          <a:stretch>
            <a:fillRect/>
          </a:stretch>
        </p:blipFill>
        <p:spPr bwMode="auto">
          <a:xfrm>
            <a:off x="3415411" y="2070100"/>
            <a:ext cx="4888227" cy="4000499"/>
          </a:xfrm>
          <a:prstGeom prst="rect">
            <a:avLst/>
          </a:prstGeom>
          <a:noFill/>
          <a:ln w="9525">
            <a:noFill/>
            <a:miter lim="800000"/>
            <a:headEnd/>
            <a:tailEnd/>
          </a:ln>
        </p:spPr>
      </p:pic>
      <p:pic>
        <p:nvPicPr>
          <p:cNvPr id="3" name="Picture 2">
            <a:extLst>
              <a:ext uri="{FF2B5EF4-FFF2-40B4-BE49-F238E27FC236}">
                <a16:creationId xmlns:a16="http://schemas.microsoft.com/office/drawing/2014/main" id="{246E3560-5D1D-4C24-A008-CC67264FD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606" y="0"/>
            <a:ext cx="1895740" cy="314369"/>
          </a:xfrm>
          <a:prstGeom prst="rect">
            <a:avLst/>
          </a:prstGeom>
        </p:spPr>
      </p:pic>
    </p:spTree>
    <p:extLst>
      <p:ext uri="{BB962C8B-B14F-4D97-AF65-F5344CB8AC3E}">
        <p14:creationId xmlns:p14="http://schemas.microsoft.com/office/powerpoint/2010/main" val="3808519358"/>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a:t>
            </a:r>
          </a:p>
        </p:txBody>
      </p:sp>
      <p:pic>
        <p:nvPicPr>
          <p:cNvPr id="9" name="Picture Placeholder 8" descr="snipeblue_Fotolia_2052847_XS.jpg"/>
          <p:cNvPicPr>
            <a:picLocks noGrp="1" noChangeAspect="1"/>
          </p:cNvPicPr>
          <p:nvPr>
            <p:ph type="pic" sz="quarter" idx="14"/>
          </p:nvPr>
        </p:nvPicPr>
        <p:blipFill>
          <a:blip r:embed="rId2" cstate="print"/>
          <a:srcRect l="21706" r="21706"/>
          <a:stretch>
            <a:fillRect/>
          </a:stretch>
        </p:blipFill>
        <p:spPr>
          <a:xfrm>
            <a:off x="7922736" y="-40640"/>
            <a:ext cx="4266089" cy="5543551"/>
          </a:xfrm>
        </p:spPr>
      </p:pic>
      <p:pic>
        <p:nvPicPr>
          <p:cNvPr id="4" name="Picture 3">
            <a:extLst>
              <a:ext uri="{FF2B5EF4-FFF2-40B4-BE49-F238E27FC236}">
                <a16:creationId xmlns:a16="http://schemas.microsoft.com/office/drawing/2014/main" id="{6BD5CBAB-8439-4BCD-AD1E-369E80A95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2" y="479395"/>
            <a:ext cx="2558627" cy="479000"/>
          </a:xfrm>
          <a:prstGeom prst="rect">
            <a:avLst/>
          </a:prstGeom>
        </p:spPr>
      </p:pic>
    </p:spTree>
    <p:extLst>
      <p:ext uri="{BB962C8B-B14F-4D97-AF65-F5344CB8AC3E}">
        <p14:creationId xmlns:p14="http://schemas.microsoft.com/office/powerpoint/2010/main" val="189180007"/>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29391" y="605641"/>
            <a:ext cx="9937805" cy="2988293"/>
          </a:xfrm>
        </p:spPr>
        <p:txBody>
          <a:bodyPr>
            <a:normAutofit fontScale="90000"/>
          </a:bodyPr>
          <a:lstStyle/>
          <a:p>
            <a:r>
              <a:rPr lang="en-US" altLang="en-US" sz="3700" dirty="0"/>
              <a:t>Historical Reporting with date as parameter</a:t>
            </a:r>
            <a:br>
              <a:rPr lang="en-US" altLang="en-US" sz="3700" dirty="0"/>
            </a:br>
            <a:br>
              <a:rPr lang="en-US" altLang="en-US" sz="3700" dirty="0"/>
            </a:br>
            <a:r>
              <a:rPr lang="en-US" altLang="en-US" sz="2100" dirty="0"/>
              <a:t>This document provides to create date parameter with calendar</a:t>
            </a:r>
            <a:br>
              <a:rPr lang="en-US" altLang="en-US" sz="2100" dirty="0"/>
            </a:br>
            <a:br>
              <a:rPr lang="en-US" altLang="en-US" sz="2100" dirty="0"/>
            </a:br>
            <a:r>
              <a:rPr lang="en-US" altLang="en-US" sz="2100" dirty="0"/>
              <a:t>This document gives subject areas which can support /not support historical reporting.</a:t>
            </a:r>
            <a:br>
              <a:rPr lang="en-US" altLang="en-US" sz="2100" dirty="0"/>
            </a:br>
            <a:br>
              <a:rPr lang="en-US" altLang="en-US" sz="2100" dirty="0"/>
            </a:br>
            <a:br>
              <a:rPr lang="en-US" altLang="en-US" sz="2100" dirty="0"/>
            </a:br>
            <a:br>
              <a:rPr lang="en-US" altLang="en-US" sz="2100" dirty="0"/>
            </a:br>
            <a:endParaRPr lang="en-US" altLang="en-US" sz="2100" dirty="0"/>
          </a:p>
        </p:txBody>
      </p:sp>
      <p:graphicFrame>
        <p:nvGraphicFramePr>
          <p:cNvPr id="52227" name="Content Placeholder 4"/>
          <p:cNvGraphicFramePr>
            <a:graphicFrameLocks noGrp="1" noChangeAspect="1"/>
          </p:cNvGraphicFramePr>
          <p:nvPr>
            <p:ph idx="1"/>
            <p:extLst>
              <p:ext uri="{D42A27DB-BD31-4B8C-83A1-F6EECF244321}">
                <p14:modId xmlns:p14="http://schemas.microsoft.com/office/powerpoint/2010/main" val="3893091749"/>
              </p:ext>
            </p:extLst>
          </p:nvPr>
        </p:nvGraphicFramePr>
        <p:xfrm>
          <a:off x="4140200" y="4340225"/>
          <a:ext cx="914400" cy="771525"/>
        </p:xfrm>
        <a:graphic>
          <a:graphicData uri="http://schemas.openxmlformats.org/presentationml/2006/ole">
            <mc:AlternateContent xmlns:mc="http://schemas.openxmlformats.org/markup-compatibility/2006">
              <mc:Choice xmlns:v="urn:schemas-microsoft-com:vml" Requires="v">
                <p:oleObj name="Document" showAsIcon="1" r:id="rId2" imgW="914400" imgH="771480" progId="Word.Document.12">
                  <p:embed/>
                </p:oleObj>
              </mc:Choice>
              <mc:Fallback>
                <p:oleObj name="Document" showAsIcon="1" r:id="rId2" imgW="914400" imgH="771480" progId="Word.Document.12">
                  <p:embed/>
                  <p:pic>
                    <p:nvPicPr>
                      <p:cNvPr id="52227" name="Content Placeholder 4"/>
                      <p:cNvPicPr>
                        <a:picLocks noGrp="1" noChangeAspect="1" noChangeArrowheads="1"/>
                      </p:cNvPicPr>
                      <p:nvPr/>
                    </p:nvPicPr>
                    <p:blipFill>
                      <a:blip r:embed="rId3"/>
                      <a:srcRect/>
                      <a:stretch>
                        <a:fillRect/>
                      </a:stretch>
                    </p:blipFill>
                    <p:spPr bwMode="auto">
                      <a:xfrm>
                        <a:off x="4140200" y="4340225"/>
                        <a:ext cx="9144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28" name="Object 5"/>
          <p:cNvGraphicFramePr>
            <a:graphicFrameLocks noChangeAspect="1"/>
          </p:cNvGraphicFramePr>
          <p:nvPr>
            <p:extLst>
              <p:ext uri="{D42A27DB-BD31-4B8C-83A1-F6EECF244321}">
                <p14:modId xmlns:p14="http://schemas.microsoft.com/office/powerpoint/2010/main" val="2813324947"/>
              </p:ext>
            </p:extLst>
          </p:nvPr>
        </p:nvGraphicFramePr>
        <p:xfrm>
          <a:off x="1662897" y="4275448"/>
          <a:ext cx="1218883" cy="1028700"/>
        </p:xfrm>
        <a:graphic>
          <a:graphicData uri="http://schemas.openxmlformats.org/presentationml/2006/ole">
            <mc:AlternateContent xmlns:mc="http://schemas.openxmlformats.org/markup-compatibility/2006">
              <mc:Choice xmlns:v="urn:schemas-microsoft-com:vml" Requires="v">
                <p:oleObj name="Acrobat Document" showAsIcon="1" r:id="rId4" imgW="914400" imgH="771480" progId="AcroExch.Document.DC">
                  <p:embed/>
                </p:oleObj>
              </mc:Choice>
              <mc:Fallback>
                <p:oleObj name="Acrobat Document" showAsIcon="1" r:id="rId4" imgW="914400" imgH="771480" progId="AcroExch.Document.DC">
                  <p:embed/>
                  <p:pic>
                    <p:nvPicPr>
                      <p:cNvPr id="52228" name="Object 5"/>
                      <p:cNvPicPr>
                        <a:picLocks noChangeAspect="1" noChangeArrowheads="1"/>
                      </p:cNvPicPr>
                      <p:nvPr/>
                    </p:nvPicPr>
                    <p:blipFill>
                      <a:blip r:embed="rId5"/>
                      <a:srcRect/>
                      <a:stretch>
                        <a:fillRect/>
                      </a:stretch>
                    </p:blipFill>
                    <p:spPr bwMode="auto">
                      <a:xfrm>
                        <a:off x="1662897" y="4275448"/>
                        <a:ext cx="1218883"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2">
            <a:extLst>
              <a:ext uri="{FF2B5EF4-FFF2-40B4-BE49-F238E27FC236}">
                <a16:creationId xmlns:a16="http://schemas.microsoft.com/office/drawing/2014/main" id="{5A053FC2-4E5C-4F52-A947-CCA2A7D958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391" y="65531"/>
            <a:ext cx="1895740" cy="314369"/>
          </a:xfrm>
          <a:prstGeom prst="rect">
            <a:avLst/>
          </a:prstGeom>
        </p:spPr>
      </p:pic>
      <p:pic>
        <p:nvPicPr>
          <p:cNvPr id="5" name="Picture 4">
            <a:extLst>
              <a:ext uri="{FF2B5EF4-FFF2-40B4-BE49-F238E27FC236}">
                <a16:creationId xmlns:a16="http://schemas.microsoft.com/office/drawing/2014/main" id="{3E0646B2-1DCD-432C-BACC-4B5C66BF4B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88104" y="23362"/>
            <a:ext cx="1562318" cy="314369"/>
          </a:xfrm>
          <a:prstGeom prst="rect">
            <a:avLst/>
          </a:prstGeom>
        </p:spPr>
      </p:pic>
    </p:spTree>
    <p:extLst>
      <p:ext uri="{BB962C8B-B14F-4D97-AF65-F5344CB8AC3E}">
        <p14:creationId xmlns:p14="http://schemas.microsoft.com/office/powerpoint/2010/main" val="152758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837982" y="470517"/>
            <a:ext cx="10512862" cy="1220172"/>
          </a:xfrm>
        </p:spPr>
        <p:txBody>
          <a:bodyPr>
            <a:normAutofit fontScale="90000"/>
          </a:bodyPr>
          <a:lstStyle/>
          <a:p>
            <a:r>
              <a:rPr lang="en-US" altLang="en-US" dirty="0"/>
              <a:t>Adding Report on Home page</a:t>
            </a:r>
            <a:br>
              <a:rPr lang="en-US" altLang="en-US" sz="4800" dirty="0"/>
            </a:br>
            <a:endParaRPr lang="en-US" altLang="en-US" dirty="0"/>
          </a:p>
        </p:txBody>
      </p:sp>
      <p:sp>
        <p:nvSpPr>
          <p:cNvPr id="54275" name="Content Placeholder 2"/>
          <p:cNvSpPr>
            <a:spLocks noGrp="1"/>
          </p:cNvSpPr>
          <p:nvPr>
            <p:ph idx="1"/>
          </p:nvPr>
        </p:nvSpPr>
        <p:spPr/>
        <p:txBody>
          <a:bodyPr/>
          <a:lstStyle/>
          <a:p>
            <a:r>
              <a:rPr lang="en-US" altLang="en-US"/>
              <a:t>This document provides the steps to create a folder and add the report link on Home page through sandbox.</a:t>
            </a:r>
          </a:p>
        </p:txBody>
      </p:sp>
      <p:graphicFrame>
        <p:nvGraphicFramePr>
          <p:cNvPr id="54276" name="Object 3"/>
          <p:cNvGraphicFramePr>
            <a:graphicFrameLocks noChangeAspect="1"/>
          </p:cNvGraphicFramePr>
          <p:nvPr>
            <p:extLst>
              <p:ext uri="{D42A27DB-BD31-4B8C-83A1-F6EECF244321}">
                <p14:modId xmlns:p14="http://schemas.microsoft.com/office/powerpoint/2010/main" val="4106131967"/>
              </p:ext>
            </p:extLst>
          </p:nvPr>
        </p:nvGraphicFramePr>
        <p:xfrm>
          <a:off x="1026903" y="3481424"/>
          <a:ext cx="1218883" cy="1028700"/>
        </p:xfrm>
        <a:graphic>
          <a:graphicData uri="http://schemas.openxmlformats.org/presentationml/2006/ole">
            <mc:AlternateContent xmlns:mc="http://schemas.openxmlformats.org/markup-compatibility/2006">
              <mc:Choice xmlns:v="urn:schemas-microsoft-com:vml" Requires="v">
                <p:oleObj name="Document" showAsIcon="1" r:id="rId2" imgW="914400" imgH="771525" progId="Word.Document.12">
                  <p:embed/>
                </p:oleObj>
              </mc:Choice>
              <mc:Fallback>
                <p:oleObj name="Document" showAsIcon="1" r:id="rId2" imgW="914400" imgH="771525" progId="Word.Document.12">
                  <p:embed/>
                  <p:pic>
                    <p:nvPicPr>
                      <p:cNvPr id="5427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903" y="3481424"/>
                        <a:ext cx="1218883"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2">
            <a:extLst>
              <a:ext uri="{FF2B5EF4-FFF2-40B4-BE49-F238E27FC236}">
                <a16:creationId xmlns:a16="http://schemas.microsoft.com/office/drawing/2014/main" id="{72E1E560-2F34-4A94-85A3-9D75B9CE45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474" y="1601"/>
            <a:ext cx="1895740" cy="314369"/>
          </a:xfrm>
          <a:prstGeom prst="rect">
            <a:avLst/>
          </a:prstGeom>
        </p:spPr>
      </p:pic>
      <p:pic>
        <p:nvPicPr>
          <p:cNvPr id="5" name="Picture 4">
            <a:extLst>
              <a:ext uri="{FF2B5EF4-FFF2-40B4-BE49-F238E27FC236}">
                <a16:creationId xmlns:a16="http://schemas.microsoft.com/office/drawing/2014/main" id="{AA953103-EE50-46D0-96F0-28F845D40A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61471" y="50757"/>
            <a:ext cx="1562318" cy="314369"/>
          </a:xfrm>
          <a:prstGeom prst="rect">
            <a:avLst/>
          </a:prstGeom>
        </p:spPr>
      </p:pic>
    </p:spTree>
    <p:extLst>
      <p:ext uri="{BB962C8B-B14F-4D97-AF65-F5344CB8AC3E}">
        <p14:creationId xmlns:p14="http://schemas.microsoft.com/office/powerpoint/2010/main" val="2127936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39555" y="0"/>
            <a:ext cx="9225377" cy="892530"/>
          </a:xfrm>
          <a:prstGeom prst="rect">
            <a:avLst/>
          </a:prstGeom>
        </p:spPr>
        <p:txBody>
          <a:bodyPr wrap="square" lIns="121899" tIns="60949" rIns="121899" bIns="60949">
            <a:spAutoFit/>
          </a:bodyPr>
          <a:lstStyle/>
          <a:p>
            <a:endParaRPr lang="en-US" dirty="0"/>
          </a:p>
          <a:p>
            <a:r>
              <a:rPr lang="en-US" sz="3200" b="1" dirty="0"/>
              <a:t>Documentation</a:t>
            </a:r>
            <a:endParaRPr lang="en-US" sz="2700" dirty="0"/>
          </a:p>
        </p:txBody>
      </p:sp>
      <p:sp>
        <p:nvSpPr>
          <p:cNvPr id="6" name="Text Placeholder 3"/>
          <p:cNvSpPr>
            <a:spLocks noGrp="1"/>
          </p:cNvSpPr>
          <p:nvPr>
            <p:ph type="body" sz="quarter" idx="13"/>
          </p:nvPr>
        </p:nvSpPr>
        <p:spPr>
          <a:xfrm>
            <a:off x="1059486" y="1029386"/>
            <a:ext cx="10138945" cy="3221979"/>
          </a:xfrm>
        </p:spPr>
        <p:txBody>
          <a:bodyPr/>
          <a:lstStyle/>
          <a:p>
            <a:endParaRPr lang="en-US" sz="1900" dirty="0">
              <a:solidFill>
                <a:schemeClr val="tx1"/>
              </a:solidFill>
            </a:endParaRPr>
          </a:p>
          <a:p>
            <a:r>
              <a:rPr lang="en-US" sz="1900" dirty="0">
                <a:solidFill>
                  <a:schemeClr val="tx1"/>
                </a:solidFill>
              </a:rPr>
              <a:t>OTBI Documentation</a:t>
            </a:r>
            <a:endParaRPr lang="en-US" sz="1900" dirty="0">
              <a:solidFill>
                <a:schemeClr val="tx1"/>
              </a:solidFill>
              <a:hlinkClick r:id="" action="ppaction://noaction"/>
            </a:endParaRPr>
          </a:p>
          <a:p>
            <a:r>
              <a:rPr lang="en-US" sz="2000" dirty="0">
                <a:hlinkClick r:id="rId2"/>
              </a:rPr>
              <a:t>https://docs.oracle.com/en/cloud/saas/human-resources/20a/index.html</a:t>
            </a:r>
            <a:endParaRPr lang="en-US" sz="1900" dirty="0">
              <a:solidFill>
                <a:schemeClr val="tx1"/>
              </a:solidFill>
              <a:hlinkClick r:id="" action="ppaction://noaction"/>
            </a:endParaRPr>
          </a:p>
          <a:p>
            <a:endParaRPr lang="en-US" sz="1900" dirty="0">
              <a:solidFill>
                <a:schemeClr val="tx1"/>
              </a:solidFill>
            </a:endParaRPr>
          </a:p>
          <a:p>
            <a:r>
              <a:rPr lang="en-US" sz="2000" dirty="0">
                <a:hlinkClick r:id="rId3"/>
              </a:rPr>
              <a:t>https://docs.oracle.com/en/cloud/saas/human-resources/20a/analyze-and-report.html</a:t>
            </a:r>
            <a:endParaRPr lang="en-US" sz="2000" dirty="0"/>
          </a:p>
          <a:p>
            <a:endParaRPr lang="en-US" sz="2000" dirty="0">
              <a:solidFill>
                <a:schemeClr val="tx1"/>
              </a:solidFill>
            </a:endParaRPr>
          </a:p>
          <a:p>
            <a:r>
              <a:rPr lang="en-US" sz="2000" dirty="0">
                <a:hlinkClick r:id="rId4"/>
              </a:rPr>
              <a:t>https://docs.oracle.com/en/cloud/saas/human-resources/20a/faohb/index.html</a:t>
            </a:r>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a:p>
            <a:endParaRPr lang="en-US" sz="1900" dirty="0">
              <a:solidFill>
                <a:schemeClr val="tx1"/>
              </a:solidFill>
            </a:endParaRPr>
          </a:p>
        </p:txBody>
      </p:sp>
      <p:pic>
        <p:nvPicPr>
          <p:cNvPr id="3" name="Picture 2">
            <a:extLst>
              <a:ext uri="{FF2B5EF4-FFF2-40B4-BE49-F238E27FC236}">
                <a16:creationId xmlns:a16="http://schemas.microsoft.com/office/drawing/2014/main" id="{ED67135F-7355-4F8F-9BBA-F27D20A62D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117" y="0"/>
            <a:ext cx="1895740" cy="314369"/>
          </a:xfrm>
          <a:prstGeom prst="rect">
            <a:avLst/>
          </a:prstGeom>
        </p:spPr>
      </p:pic>
      <p:pic>
        <p:nvPicPr>
          <p:cNvPr id="5" name="Picture 4">
            <a:extLst>
              <a:ext uri="{FF2B5EF4-FFF2-40B4-BE49-F238E27FC236}">
                <a16:creationId xmlns:a16="http://schemas.microsoft.com/office/drawing/2014/main" id="{01308AE1-E13B-4445-8015-567E01D738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99326" y="131896"/>
            <a:ext cx="1562318" cy="314369"/>
          </a:xfrm>
          <a:prstGeom prst="rect">
            <a:avLst/>
          </a:prstGeom>
        </p:spPr>
      </p:pic>
    </p:spTree>
    <p:extLst>
      <p:ext uri="{BB962C8B-B14F-4D97-AF65-F5344CB8AC3E}">
        <p14:creationId xmlns:p14="http://schemas.microsoft.com/office/powerpoint/2010/main" val="2015334751"/>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Footer Placeholder 3"/>
          <p:cNvSpPr txBox="1">
            <a:spLocks noGrp="1"/>
          </p:cNvSpPr>
          <p:nvPr/>
        </p:nvSpPr>
        <p:spPr bwMode="auto">
          <a:xfrm>
            <a:off x="203147" y="6553200"/>
            <a:ext cx="11782531" cy="152400"/>
          </a:xfrm>
          <a:prstGeom prst="rect">
            <a:avLst/>
          </a:prstGeom>
          <a:noFill/>
          <a:ln w="9525">
            <a:noFill/>
            <a:miter lim="800000"/>
            <a:headEnd/>
            <a:tailEnd/>
          </a:ln>
        </p:spPr>
        <p:txBody>
          <a:bodyPr lIns="0" tIns="0" rIns="0" bIns="0" anchor="ctr"/>
          <a:lstStyle/>
          <a:p>
            <a:pPr eaLnBrk="0" hangingPunct="0">
              <a:spcBef>
                <a:spcPct val="0"/>
              </a:spcBef>
              <a:tabLst>
                <a:tab pos="11736979" algn="r"/>
              </a:tabLst>
            </a:pPr>
            <a:r>
              <a:rPr lang="en-US" sz="1200"/>
              <a:t>	</a:t>
            </a:r>
            <a:fld id="{99A1634A-6E4A-4CCC-B4B9-036183198889}" type="slidenum">
              <a:rPr lang="en-US" sz="1200"/>
              <a:pPr eaLnBrk="0" hangingPunct="0">
                <a:spcBef>
                  <a:spcPct val="0"/>
                </a:spcBef>
                <a:tabLst>
                  <a:tab pos="11736979" algn="r"/>
                </a:tabLst>
              </a:pPr>
              <a:t>58</a:t>
            </a:fld>
            <a:endParaRPr lang="en-US" sz="1200"/>
          </a:p>
        </p:txBody>
      </p:sp>
      <p:sp>
        <p:nvSpPr>
          <p:cNvPr id="39940" name="Rectangle 6"/>
          <p:cNvSpPr>
            <a:spLocks noChangeArrowheads="1"/>
          </p:cNvSpPr>
          <p:nvPr/>
        </p:nvSpPr>
        <p:spPr bwMode="invGray">
          <a:xfrm>
            <a:off x="5078677" y="2667001"/>
            <a:ext cx="4418449" cy="4670852"/>
          </a:xfrm>
          <a:prstGeom prst="rect">
            <a:avLst/>
          </a:prstGeom>
          <a:noFill/>
          <a:ln w="9525">
            <a:noFill/>
            <a:miter lim="800000"/>
            <a:headEnd/>
            <a:tailEnd/>
          </a:ln>
        </p:spPr>
        <p:txBody>
          <a:bodyPr lIns="122745" tIns="61373" rIns="122745" bIns="61373">
            <a:spAutoFit/>
          </a:bodyPr>
          <a:lstStyle/>
          <a:p>
            <a:pPr eaLnBrk="0" hangingPunct="0">
              <a:lnSpc>
                <a:spcPct val="80000"/>
              </a:lnSpc>
              <a:buClrTx/>
            </a:pPr>
            <a:r>
              <a:rPr lang="en-US" sz="36900" b="1" i="1">
                <a:solidFill>
                  <a:schemeClr val="bg2"/>
                </a:solidFill>
                <a:latin typeface="Times" pitchFamily="18" charset="0"/>
                <a:cs typeface="Times New Roman" pitchFamily="18" charset="0"/>
              </a:rPr>
              <a:t>A</a:t>
            </a:r>
          </a:p>
        </p:txBody>
      </p:sp>
      <p:sp>
        <p:nvSpPr>
          <p:cNvPr id="39941" name="Rectangle 7"/>
          <p:cNvSpPr>
            <a:spLocks noChangeArrowheads="1"/>
          </p:cNvSpPr>
          <p:nvPr/>
        </p:nvSpPr>
        <p:spPr bwMode="invGray">
          <a:xfrm>
            <a:off x="2133044" y="533401"/>
            <a:ext cx="4418449" cy="4670852"/>
          </a:xfrm>
          <a:prstGeom prst="rect">
            <a:avLst/>
          </a:prstGeom>
          <a:noFill/>
          <a:ln w="9525">
            <a:noFill/>
            <a:miter lim="800000"/>
            <a:headEnd/>
            <a:tailEnd/>
          </a:ln>
        </p:spPr>
        <p:txBody>
          <a:bodyPr lIns="122745" tIns="61373" rIns="122745" bIns="61373">
            <a:spAutoFit/>
          </a:bodyPr>
          <a:lstStyle/>
          <a:p>
            <a:pPr eaLnBrk="0" hangingPunct="0">
              <a:lnSpc>
                <a:spcPct val="80000"/>
              </a:lnSpc>
              <a:buClrTx/>
            </a:pPr>
            <a:r>
              <a:rPr lang="en-US" sz="36900" b="1" i="1">
                <a:solidFill>
                  <a:schemeClr val="bg2"/>
                </a:solidFill>
                <a:latin typeface="Times" pitchFamily="18" charset="0"/>
                <a:cs typeface="Times New Roman" pitchFamily="18" charset="0"/>
              </a:rPr>
              <a:t>Q</a:t>
            </a:r>
          </a:p>
        </p:txBody>
      </p:sp>
      <p:sp>
        <p:nvSpPr>
          <p:cNvPr id="39942" name="Rectangle 8"/>
          <p:cNvSpPr>
            <a:spLocks noChangeArrowheads="1"/>
          </p:cNvSpPr>
          <p:nvPr/>
        </p:nvSpPr>
        <p:spPr bwMode="invGray">
          <a:xfrm>
            <a:off x="3885188" y="1828801"/>
            <a:ext cx="4418449" cy="4670852"/>
          </a:xfrm>
          <a:prstGeom prst="rect">
            <a:avLst/>
          </a:prstGeom>
          <a:noFill/>
          <a:ln w="9525">
            <a:noFill/>
            <a:miter lim="800000"/>
            <a:headEnd/>
            <a:tailEnd/>
          </a:ln>
        </p:spPr>
        <p:txBody>
          <a:bodyPr lIns="122745" tIns="61373" rIns="122745" bIns="61373">
            <a:spAutoFit/>
          </a:bodyPr>
          <a:lstStyle/>
          <a:p>
            <a:pPr eaLnBrk="0" hangingPunct="0">
              <a:lnSpc>
                <a:spcPct val="80000"/>
              </a:lnSpc>
              <a:buClrTx/>
            </a:pPr>
            <a:r>
              <a:rPr lang="en-US" sz="36900" b="1" i="1">
                <a:solidFill>
                  <a:schemeClr val="accent1"/>
                </a:solidFill>
                <a:latin typeface="Times" pitchFamily="18" charset="0"/>
                <a:cs typeface="Times New Roman" pitchFamily="18" charset="0"/>
              </a:rPr>
              <a:t>&amp;</a:t>
            </a:r>
          </a:p>
        </p:txBody>
      </p:sp>
      <p:pic>
        <p:nvPicPr>
          <p:cNvPr id="3" name="Picture 2">
            <a:extLst>
              <a:ext uri="{FF2B5EF4-FFF2-40B4-BE49-F238E27FC236}">
                <a16:creationId xmlns:a16="http://schemas.microsoft.com/office/drawing/2014/main" id="{B46A1C60-983B-437A-AE82-9BE488D75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031" y="-4785"/>
            <a:ext cx="1895740" cy="314369"/>
          </a:xfrm>
          <a:prstGeom prst="rect">
            <a:avLst/>
          </a:prstGeom>
        </p:spPr>
      </p:pic>
      <p:pic>
        <p:nvPicPr>
          <p:cNvPr id="5" name="Picture 4">
            <a:extLst>
              <a:ext uri="{FF2B5EF4-FFF2-40B4-BE49-F238E27FC236}">
                <a16:creationId xmlns:a16="http://schemas.microsoft.com/office/drawing/2014/main" id="{D4822219-1229-4F03-9A66-E03C1390E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6981" y="0"/>
            <a:ext cx="1562318" cy="314369"/>
          </a:xfrm>
          <a:prstGeom prst="rect">
            <a:avLst/>
          </a:prstGeom>
        </p:spPr>
      </p:pic>
    </p:spTree>
    <p:extLst>
      <p:ext uri="{BB962C8B-B14F-4D97-AF65-F5344CB8AC3E}">
        <p14:creationId xmlns:p14="http://schemas.microsoft.com/office/powerpoint/2010/main" val="9208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racle">
      <a:dk1>
        <a:srgbClr val="58595B"/>
      </a:dk1>
      <a:lt1>
        <a:srgbClr val="FFFFFF"/>
      </a:lt1>
      <a:dk2>
        <a:srgbClr val="374A58"/>
      </a:dk2>
      <a:lt2>
        <a:srgbClr val="C8D9DE"/>
      </a:lt2>
      <a:accent1>
        <a:srgbClr val="F80000"/>
      </a:accent1>
      <a:accent2>
        <a:srgbClr val="8EADBF"/>
      </a:accent2>
      <a:accent3>
        <a:srgbClr val="FF8D14"/>
      </a:accent3>
      <a:accent4>
        <a:srgbClr val="007395"/>
      </a:accent4>
      <a:accent5>
        <a:srgbClr val="A52641"/>
      </a:accent5>
      <a:accent6>
        <a:srgbClr val="3A913F"/>
      </a:accent6>
      <a:hlink>
        <a:srgbClr val="1F4F82"/>
      </a:hlink>
      <a:folHlink>
        <a:srgbClr val="8A8C8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8595B"/>
      </a:dk1>
      <a:lt1>
        <a:srgbClr val="FFFFFF"/>
      </a:lt1>
      <a:dk2>
        <a:srgbClr val="374A58"/>
      </a:dk2>
      <a:lt2>
        <a:srgbClr val="C8D9DE"/>
      </a:lt2>
      <a:accent1>
        <a:srgbClr val="F80000"/>
      </a:accent1>
      <a:accent2>
        <a:srgbClr val="8EADBF"/>
      </a:accent2>
      <a:accent3>
        <a:srgbClr val="FF8D14"/>
      </a:accent3>
      <a:accent4>
        <a:srgbClr val="007395"/>
      </a:accent4>
      <a:accent5>
        <a:srgbClr val="A52641"/>
      </a:accent5>
      <a:accent6>
        <a:srgbClr val="3A913F"/>
      </a:accent6>
      <a:hlink>
        <a:srgbClr val="1F4F82"/>
      </a:hlink>
      <a:folHlink>
        <a:srgbClr val="8A8C8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26B6E64B1CBE4AB9F8A850B1198A1B" ma:contentTypeVersion="9" ma:contentTypeDescription="Create a new document." ma:contentTypeScope="" ma:versionID="9641eac376ccf8f5d359f251eea36c9d">
  <xsd:schema xmlns:xsd="http://www.w3.org/2001/XMLSchema" xmlns:xs="http://www.w3.org/2001/XMLSchema" xmlns:p="http://schemas.microsoft.com/office/2006/metadata/properties" xmlns:ns2="00c57201-2a37-43cf-8393-34bffeca4fdf" xmlns:ns3="7b944fbe-7edc-4a10-9808-a42621ea6df8" targetNamespace="http://schemas.microsoft.com/office/2006/metadata/properties" ma:root="true" ma:fieldsID="3d56e6eaf00a3ca16710a90ca6c0d9e4" ns2:_="" ns3:_="">
    <xsd:import namespace="00c57201-2a37-43cf-8393-34bffeca4fdf"/>
    <xsd:import namespace="7b944fbe-7edc-4a10-9808-a42621ea6df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c57201-2a37-43cf-8393-34bffeca4f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944fbe-7edc-4a10-9808-a42621ea6df8"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9B54E5-553C-48E8-A2D3-C7D6DDD2FB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c57201-2a37-43cf-8393-34bffeca4fdf"/>
    <ds:schemaRef ds:uri="7b944fbe-7edc-4a10-9808-a42621ea6d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F06C79-D81B-45AF-9334-90CD55AE22BA}">
  <ds:schemaRefs>
    <ds:schemaRef ds:uri="http://schemas.microsoft.com/sharepoint/v3/contenttype/forms"/>
  </ds:schemaRefs>
</ds:datastoreItem>
</file>

<file path=customXml/itemProps3.xml><?xml version="1.0" encoding="utf-8"?>
<ds:datastoreItem xmlns:ds="http://schemas.openxmlformats.org/officeDocument/2006/customXml" ds:itemID="{17D31A32-3FDC-4AA5-AEFC-5A293A56014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4840</TotalTime>
  <Words>2469</Words>
  <Application>Microsoft Office PowerPoint</Application>
  <PresentationFormat>Custom</PresentationFormat>
  <Paragraphs>331</Paragraphs>
  <Slides>58</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3</vt:i4>
      </vt:variant>
      <vt:variant>
        <vt:lpstr>Slide Titles</vt:lpstr>
      </vt:variant>
      <vt:variant>
        <vt:i4>58</vt:i4>
      </vt:variant>
    </vt:vector>
  </HeadingPairs>
  <TitlesOfParts>
    <vt:vector size="68" baseType="lpstr">
      <vt:lpstr>Arial</vt:lpstr>
      <vt:lpstr>Calibri</vt:lpstr>
      <vt:lpstr>Calibri Light</vt:lpstr>
      <vt:lpstr>Times</vt:lpstr>
      <vt:lpstr>Times New Roman</vt:lpstr>
      <vt:lpstr>Wingdings</vt:lpstr>
      <vt:lpstr>Office Theme</vt:lpstr>
      <vt:lpstr>Acrobat Document</vt:lpstr>
      <vt:lpstr>Microsoft Word Document</vt:lpstr>
      <vt:lpstr>Document</vt:lpstr>
      <vt:lpstr>Fusion HCM Reporting Tool - OTBI</vt:lpstr>
      <vt:lpstr> Agenda</vt:lpstr>
      <vt:lpstr>Introduction</vt:lpstr>
      <vt:lpstr>OTBI</vt:lpstr>
      <vt:lpstr>OTBI</vt:lpstr>
      <vt:lpstr>OTBI</vt:lpstr>
      <vt:lpstr>Subject Area, Presentation Folders, Attributes, and Measures</vt:lpstr>
      <vt:lpstr>Subject Area, Presentation Folders, Attributes, and Measures</vt:lpstr>
      <vt:lpstr>Subject Area, Presentation Folders, Attributes, and Measures</vt:lpstr>
      <vt:lpstr>PowerPoint Presentation</vt:lpstr>
      <vt:lpstr>Real-Time Analysis – Workforce Management</vt:lpstr>
      <vt:lpstr>Getting Started</vt:lpstr>
      <vt:lpstr>PowerPoint Presentation</vt:lpstr>
      <vt:lpstr>PowerPoint Presentation</vt:lpstr>
      <vt:lpstr>Fusion Reporting (cont.)</vt:lpstr>
      <vt:lpstr>PowerPoint Presentation</vt:lpstr>
      <vt:lpstr>Creating Analysis</vt:lpstr>
      <vt:lpstr>Creating Analysis (Cont.)</vt:lpstr>
      <vt:lpstr>Build of Custom OTBI Report</vt:lpstr>
      <vt:lpstr>PowerPoint Presentation</vt:lpstr>
      <vt:lpstr>PowerPoint Presentation</vt:lpstr>
      <vt:lpstr>Build of Custom OTBI Report</vt:lpstr>
      <vt:lpstr>Build of Custom OTBI Report</vt:lpstr>
      <vt:lpstr>Build of Custom OTBI Report</vt:lpstr>
      <vt:lpstr>Build of Custom OTBI Report</vt:lpstr>
      <vt:lpstr>PowerPoint Presentation</vt:lpstr>
      <vt:lpstr>Build of Custom OTBI Report</vt:lpstr>
      <vt:lpstr>Build of Custom OTBI Report</vt:lpstr>
      <vt:lpstr>Build of Custom OTBI Report</vt:lpstr>
      <vt:lpstr>Build of Custom OTBI Report</vt:lpstr>
      <vt:lpstr>Build of Custom OTBI Report</vt:lpstr>
      <vt:lpstr>Build of Custom OTBI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Cross Subject Area Reports</vt:lpstr>
      <vt:lpstr>OTBI</vt:lpstr>
      <vt:lpstr>Cross Subject Area</vt:lpstr>
      <vt:lpstr>Cross Subject Area</vt:lpstr>
      <vt:lpstr>Cross Subject Area</vt:lpstr>
      <vt:lpstr>Cross Subject Area</vt:lpstr>
      <vt:lpstr>Cross Subject Area</vt:lpstr>
      <vt:lpstr>Cross Subject Area</vt:lpstr>
      <vt:lpstr>Cross-Subject Area Reports</vt:lpstr>
      <vt:lpstr>Accessing Flexfield</vt:lpstr>
      <vt:lpstr>PowerPoint Presentation</vt:lpstr>
      <vt:lpstr>PowerPoint Presentation</vt:lpstr>
      <vt:lpstr>PowerPoint Presentation</vt:lpstr>
      <vt:lpstr>Documentation</vt:lpstr>
      <vt:lpstr>Historical Reporting with date as parameter  This document provides to create date parameter with calendar  This document gives subject areas which can support /not support historical reporting.    </vt:lpstr>
      <vt:lpstr>Adding Report on Home page </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the PowerPoint Template</dc:title>
  <dc:creator>Manivignesh Kuppusamy;Kishor Maligachary</dc:creator>
  <cp:lastModifiedBy>Kotha kasi Viswanadh</cp:lastModifiedBy>
  <cp:revision>571</cp:revision>
  <cp:lastPrinted>2014-07-16T02:22:57Z</cp:lastPrinted>
  <dcterms:created xsi:type="dcterms:W3CDTF">2018-01-22T04:56:18Z</dcterms:created>
  <dcterms:modified xsi:type="dcterms:W3CDTF">2023-05-04T16:02:17Z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4753136</vt:lpwstr>
  </property>
  <property fmtid="{D5CDD505-2E9C-101B-9397-08002B2CF9AE}" pid="3" name="NXPowerLiteSettings">
    <vt:lpwstr>F98007B004F000</vt:lpwstr>
  </property>
  <property fmtid="{D5CDD505-2E9C-101B-9397-08002B2CF9AE}" pid="4" name="NXPowerLiteVersion">
    <vt:lpwstr>D6.2.10</vt:lpwstr>
  </property>
  <property fmtid="{D5CDD505-2E9C-101B-9397-08002B2CF9AE}" pid="5" name="ContentTypeId">
    <vt:lpwstr>0x0101001B26B6E64B1CBE4AB9F8A850B1198A1B</vt:lpwstr>
  </property>
  <property fmtid="{D5CDD505-2E9C-101B-9397-08002B2CF9AE}" pid="6" name="MSIP_Label_6ff5c69e-9d09-4250-825e-b99a9d4db320_Enabled">
    <vt:lpwstr>true</vt:lpwstr>
  </property>
  <property fmtid="{D5CDD505-2E9C-101B-9397-08002B2CF9AE}" pid="7" name="MSIP_Label_6ff5c69e-9d09-4250-825e-b99a9d4db320_SetDate">
    <vt:lpwstr>2023-04-24T09:04:02Z</vt:lpwstr>
  </property>
  <property fmtid="{D5CDD505-2E9C-101B-9397-08002B2CF9AE}" pid="8" name="MSIP_Label_6ff5c69e-9d09-4250-825e-b99a9d4db320_Method">
    <vt:lpwstr>Standard</vt:lpwstr>
  </property>
  <property fmtid="{D5CDD505-2E9C-101B-9397-08002B2CF9AE}" pid="9" name="MSIP_Label_6ff5c69e-9d09-4250-825e-b99a9d4db320_Name">
    <vt:lpwstr>General</vt:lpwstr>
  </property>
  <property fmtid="{D5CDD505-2E9C-101B-9397-08002B2CF9AE}" pid="10" name="MSIP_Label_6ff5c69e-9d09-4250-825e-b99a9d4db320_SiteId">
    <vt:lpwstr>d79da2e9-d03a-4707-9da7-67a34ac6465c</vt:lpwstr>
  </property>
  <property fmtid="{D5CDD505-2E9C-101B-9397-08002B2CF9AE}" pid="11" name="MSIP_Label_6ff5c69e-9d09-4250-825e-b99a9d4db320_ActionId">
    <vt:lpwstr>64b0c855-3a11-403f-b4f3-95d91a23e194</vt:lpwstr>
  </property>
  <property fmtid="{D5CDD505-2E9C-101B-9397-08002B2CF9AE}" pid="12" name="MSIP_Label_6ff5c69e-9d09-4250-825e-b99a9d4db320_ContentBits">
    <vt:lpwstr>0</vt:lpwstr>
  </property>
</Properties>
</file>